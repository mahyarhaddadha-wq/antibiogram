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E2D29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2E2D29"/>
                </a:solidFill>
                <a:latin typeface="Cambria"/>
              </a:rPr>
              <a:t>[Primary Outcome Metric by Condition]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 Value</c:v>
                </c:pt>
              </c:strCache>
            </c:strRef>
          </c:tx>
          <c:spPr>
            <a:solidFill>
              <a:srgbClr val="8C151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E2D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Condition A</c:v>
                  </c:pt>
                  <c:pt idx="2">
                    <c:v>Condition B</c:v>
                  </c:pt>
                  <c:pt idx="3">
                    <c:v>Proposed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55</c:v>
                </c:pt>
                <c:pt idx="2">
                  <c:v>61</c:v>
                </c:pt>
                <c:pt idx="3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E2D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16E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16E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state your title, department, and advisor clearly and slowly — the committee and any outside guests need this to orient. Keep this slide on screen for ~30 seconds while you welcome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this slide should take under 30 seconds — it's a map, not content. Point at each item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spend the most time here on 'why it matters' — committees judge significance before they judge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read these close to verbatim — this is the contract you're being defended against, so precision matters more than delivery style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this section should build toward your gap, not summarize the whole field — commit to the sources that motivate your specific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this is where committee members probe hardest — be ready to justify each design choice, not just describe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lead with the headline number, then walk the chart left to right. Replace the sample chart/stats with your own data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keep the two columns strictly parallel — same metrics in the same order — so the comparison reads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this is the slide most likely to generate questions — anticipate the two hardest ones and have a one-line answer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naming limitations yourself, clearly and without over-apologizing, is what signals rigor to a committee — don't skip this slide under time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this is your closing argument. Say the 'bottom line' sentence out loud, unhurried — it is the sentence most likely to be quoted back to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keep this brief and concrete — vague 'more research is needed' statements read as filler to a committee.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keep this to under 30 seconds and be specific rather than generic — naming what each person actually contributed lands better than a list of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tip: pause here before taking questions. If a question runs long, it's fine to say 'let's take that offline' and keep the room on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C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6E101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6E101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502920"/>
            <a:ext cx="320040" cy="320040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 / MASTER'S THESIS DEFENSE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Thesis / Dissertation Title Goes Here ]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3703320"/>
            <a:ext cx="2377440" cy="0"/>
          </a:xfrm>
          <a:prstGeom prst="line">
            <a:avLst/>
          </a:prstGeom>
          <a:noFill/>
          <a:ln w="31750">
            <a:solidFill>
              <a:srgbClr val="E983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9319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Full Name]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 [Ph.D. / M.S.] in [Department]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[Advisor's Name]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[University Name]  •  [Month Day, Year]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92640" y="58064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6E1010"/>
          </a:solidFill>
          <a:ln w="12700">
            <a:solidFill>
              <a:srgbClr val="E983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0" y="5806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University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/ Seal 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201168" cy="201168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270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matters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502920" cy="502920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591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697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thesis set out to answer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502920" cy="502920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75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295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679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work sits in the field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502920" cy="502920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45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70001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03834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research was conducted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234440"/>
            <a:ext cx="502920" cy="502920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188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15270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2404872"/>
            <a:ext cx="502920" cy="502920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7220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23591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697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mean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3575304"/>
            <a:ext cx="502920" cy="502920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72200" y="3575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35295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8679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and what's next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201168" cy="201168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[state the real-world or scientific problem in one sentence]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[who is affected, and what the cost of not solving it is]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[what existing approaches fail to address]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thesis: [one-sentence statement of what you did about it]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F7F5F1"/>
          </a:solidFill>
          <a:ln/>
        </p:spPr>
      </p:sp>
      <p:sp>
        <p:nvSpPr>
          <p:cNvPr id="6" name="Shape 4"/>
          <p:cNvSpPr/>
          <p:nvPr/>
        </p:nvSpPr>
        <p:spPr>
          <a:xfrm>
            <a:off x="9006840" y="1828800"/>
            <a:ext cx="1005840" cy="1005840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06840" y="18288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42900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or two sentences on timing — new data, new methods, or a newly urgent need that makes this the right moment for this work.]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201168" cy="201168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7F5F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[Research Question 1 — e.g., can method X improve metric Y under condition Z?]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7F5F1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737360"/>
            <a:ext cx="640080" cy="640080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4688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8346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[Research Question 2 — e.g., how does factor A affect outcome B?]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7F5F1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1737360"/>
            <a:ext cx="640080" cy="640080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4688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8346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[Research Question 3 — e.g., what trade-offs exist between C and D?]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201168" cy="201168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7F5F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545336"/>
            <a:ext cx="201168" cy="201168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47218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Approaches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892808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[Summarize the dominant existing methods and their core assumptions.]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3258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7F5F1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1545336"/>
            <a:ext cx="201168" cy="201168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47218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8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Gaps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92808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prior work has not addressed — the opening for this thesis.]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7F5F1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785616"/>
            <a:ext cx="201168" cy="201168"/>
          </a:xfrm>
          <a:prstGeom prst="ellipse">
            <a:avLst/>
          </a:prstGeom>
          <a:solidFill>
            <a:srgbClr val="007C9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371246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Framework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133088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theory / formalism this work builds on.]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35661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7F5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3785616"/>
            <a:ext cx="201168" cy="201168"/>
          </a:xfrm>
          <a:prstGeom prst="ellipse">
            <a:avLst/>
          </a:prstGeom>
          <a:solidFill>
            <a:srgbClr val="27998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371246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99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&amp; Adjacent Work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133088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[Nearby fields or techniques worth positioning against.]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201168" cy="201168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9536" y="237744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7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728216" y="2057400"/>
            <a:ext cx="640080" cy="640080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28216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/ Materials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33375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 description of this step]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3429000"/>
            <a:ext cx="274320" cy="274320"/>
          </a:xfrm>
          <a:prstGeom prst="rightArrow">
            <a:avLst/>
          </a:prstGeom>
          <a:solidFill>
            <a:srgbClr val="E98300"/>
          </a:solidFill>
          <a:ln/>
        </p:spPr>
      </p:sp>
      <p:sp>
        <p:nvSpPr>
          <p:cNvPr id="10" name="Shape 8"/>
          <p:cNvSpPr/>
          <p:nvPr/>
        </p:nvSpPr>
        <p:spPr>
          <a:xfrm>
            <a:off x="3557016" y="237744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7F5F1"/>
          </a:solidFill>
          <a:ln/>
        </p:spPr>
      </p:sp>
      <p:sp>
        <p:nvSpPr>
          <p:cNvPr id="11" name="Shape 9"/>
          <p:cNvSpPr/>
          <p:nvPr/>
        </p:nvSpPr>
        <p:spPr>
          <a:xfrm>
            <a:off x="4425696" y="2057400"/>
            <a:ext cx="640080" cy="640080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25696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94176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Design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39896" y="33375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 description of this step]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61888" y="3429000"/>
            <a:ext cx="274320" cy="274320"/>
          </a:xfrm>
          <a:prstGeom prst="rightArrow">
            <a:avLst/>
          </a:prstGeom>
          <a:solidFill>
            <a:srgbClr val="E983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254496" y="237744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7F5F1"/>
          </a:solidFill>
          <a:ln/>
        </p:spPr>
      </p:sp>
      <p:sp>
        <p:nvSpPr>
          <p:cNvPr id="17" name="Shape 15"/>
          <p:cNvSpPr/>
          <p:nvPr/>
        </p:nvSpPr>
        <p:spPr>
          <a:xfrm>
            <a:off x="7123176" y="2057400"/>
            <a:ext cx="640080" cy="640080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23176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33375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 description of this step]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59368" y="3429000"/>
            <a:ext cx="274320" cy="274320"/>
          </a:xfrm>
          <a:prstGeom prst="rightArrow">
            <a:avLst/>
          </a:prstGeom>
          <a:solidFill>
            <a:srgbClr val="E983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951976" y="237744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7F5F1"/>
          </a:solidFill>
          <a:ln/>
        </p:spPr>
      </p:sp>
      <p:sp>
        <p:nvSpPr>
          <p:cNvPr id="23" name="Shape 21"/>
          <p:cNvSpPr/>
          <p:nvPr/>
        </p:nvSpPr>
        <p:spPr>
          <a:xfrm>
            <a:off x="9820656" y="2057400"/>
            <a:ext cx="640080" cy="640080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20656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089136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Plan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3375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 description of this step]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201168" cy="201168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43800" y="14173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+36%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543800" y="19842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baseline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2834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8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[XXX]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34015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42519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8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[0.05]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48188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201168" cy="201168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5212080" cy="594360"/>
          </a:xfrm>
          <a:prstGeom prst="rect">
            <a:avLst/>
          </a:prstGeom>
          <a:solidFill>
            <a:srgbClr val="716E6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/ Prior Method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1: value]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2: value]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3: value]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limitation]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32588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7F5F1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1325880"/>
            <a:ext cx="5212080" cy="59436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80760" y="13258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4884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1: value]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2: value]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3: value]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advantage]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FINDINGS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201168" cy="201168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[what the results mean in plain terms]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Implications: [who should care, and what changes as a result]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connects back to the research questions from Slide 4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results agree or disagree with prior literature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43800" y="137160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F7F5F1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828800"/>
            <a:ext cx="1097280" cy="1097280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0" y="1828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35204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one takeaway you most want the committee to remember from this whole project.]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201168" cy="201168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6200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37160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population, setting, or range of conditions this work does not cover]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94360" cy="594360"/>
          </a:xfrm>
          <a:prstGeom prst="ellipse">
            <a:avLst/>
          </a:prstGeom>
          <a:solidFill>
            <a:srgbClr val="62005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88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Methodological constraints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78892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[Assumptions or simplifications made, and why]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594360" cy="594360"/>
          </a:xfrm>
          <a:prstGeom prst="ellipse">
            <a:avLst/>
          </a:prstGeom>
          <a:solidFill>
            <a:srgbClr val="6200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to validity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420624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[Internal / external / construct validity concerns]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201168" cy="201168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5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[Primary contribution — the main new result or artifact]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5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5544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46888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[Secondary contribution — a method, dataset, or framework]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13716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5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03920" y="15544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46888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[Broader contribution — what this enables for the field]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1091672" cy="0"/>
          </a:xfrm>
          <a:prstGeom prst="line">
            <a:avLst/>
          </a:prstGeom>
          <a:noFill/>
          <a:ln w="12700">
            <a:solidFill>
              <a:srgbClr val="E8E5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3949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line: [one sentence — the single claim this thesis defends]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201168" cy="201168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7F5F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E983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8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[Immediate follow-up experiments or fixes]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7F5F1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645920"/>
            <a:ext cx="457200" cy="457200"/>
          </a:xfrm>
          <a:prstGeom prst="ellipse">
            <a:avLst/>
          </a:prstGeom>
          <a:solidFill>
            <a:srgbClr val="007C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286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Mid-term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4320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[Extensions to new datasets, domains, or populations]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7F5F1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1645920"/>
            <a:ext cx="457200" cy="457200"/>
          </a:xfrm>
          <a:prstGeom prst="ellipse">
            <a:avLst/>
          </a:prstGeom>
          <a:solidFill>
            <a:srgbClr val="62005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0" y="2286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200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74320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[Bigger open questions this work opens up]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822960"/>
            <a:ext cx="1463040" cy="1463040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67528" y="8229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522476" y="2514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Acknowledgments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522476" y="324612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advisor, [Advisor Name], for [specific guidance]</a:t>
            </a:r>
            <a:endParaRPr lang="en-US" sz="16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committee: [Committee Member Names]</a:t>
            </a:r>
            <a:endParaRPr lang="en-US" sz="16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[Funding source / grant, if applicable]</a:t>
            </a:r>
            <a:endParaRPr lang="en-US" sz="16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[Lab mates, collaborators, family, or friends]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8C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6E101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6E101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85216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•  [your.email@university.edu]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2026-09-06T06:46:28Z</dcterms:created>
  <dcterms:modified xsi:type="dcterms:W3CDTF">2026-09-06T06:46:28Z</dcterms:modified>
</cp:coreProperties>
</file>