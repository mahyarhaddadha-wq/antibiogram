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Slides/notesSlide17.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24"/>
    <p:sldId id="259" r:id="rId4"/>
    <p:sldId id="260" r:id="rId25"/>
    <p:sldId id="261" r:id="rId5"/>
    <p:sldId id="262" r:id="rId6"/>
    <p:sldId id="263" r:id="rId26"/>
    <p:sldId id="264" r:id="rId7"/>
    <p:sldId id="265" r:id="rId23"/>
    <p:sldId id="266" r:id="rId27"/>
    <p:sldId id="267" r:id="rId21"/>
    <p:sldId id="268" r:id="rId9"/>
    <p:sldId id="269" r:id="rId28"/>
    <p:sldId id="270" r:id="rId8"/>
    <p:sldId id="271" r:id="rId22"/>
    <p:sldId id="272" r:id="rId29"/>
    <p:sldId id="273" r:id="rId10"/>
    <p:sldId id="274" r:id="rId30"/>
    <p:sldId id="275" r:id="rId11"/>
    <p:sldId id="276" r:id="rId12"/>
    <p:sldId id="277" r:id="rId13"/>
    <p:sldId id="278" r:id="rId14"/>
    <p:sldId id="27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  <Relationship Id="rId21" Type="http://schemas.openxmlformats.org/officeDocument/2006/relationships/slide" Target="slides/slide15.xml"/>
  <Relationship Id="rId22" Type="http://schemas.openxmlformats.org/officeDocument/2006/relationships/slide" Target="slides/slide16.xml"/>
  <Relationship Id="rId23" Type="http://schemas.openxmlformats.org/officeDocument/2006/relationships/slide" Target="slides/slide17.xml"/>
  <Relationship Id="rId24" Type="http://schemas.openxmlformats.org/officeDocument/2006/relationships/slide" Target="slides/slide18.xml"/>
  <Relationship Id="rId25" Type="http://schemas.openxmlformats.org/officeDocument/2006/relationships/slide" Target="slides/slide19.xml"/>
  <Relationship Id="rId26" Type="http://schemas.openxmlformats.org/officeDocument/2006/relationships/slide" Target="slides/slide20.xml"/>
  <Relationship Id="rId27" Type="http://schemas.openxmlformats.org/officeDocument/2006/relationships/slide" Target="slides/slide21.xml"/>
  <Relationship Id="rId28" Type="http://schemas.openxmlformats.org/officeDocument/2006/relationships/slide" Target="slides/slide22.xml"/>
  <Relationship Id="rId29" Type="http://schemas.openxmlformats.org/officeDocument/2006/relationships/slide" Target="slides/slide23.xml"/>
  <Relationship Id="rId30" Type="http://schemas.openxmlformats.org/officeDocument/2006/relationships/slide" Target="slides/slide24.xml"/>
</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E2D29"/>
                </a:solidFill>
                <a:latin typeface="Cambria"/>
                <a:cs typeface="IRNazanin"/>
              </a:defRPr>
            </a:pPr>
            <a:r>
              <a:rPr sz="1400" b="0" i="0" u="none" strike="noStrike">
                <a:solidFill>
                  <a:srgbClr val="2E2D29"/>
                </a:solidFill>
                <a:latin typeface="Cambria"/>
                <a:cs typeface="IRNazanin"/>
              </a:rPr>
              <a:t>توافق دسته‌ای در برابر خطای متوسط اندازه‌گیری (میلی‌متر)</a:t>
            </a:r>
          </a:p>
        </c:rich>
      </c:tx>
      <c:layout/>
      <c:overlay val="0"/>
    </c:title>
    <c:autoTitleDeleted val="0"/>
    <c:plotArea>
      <c:layout/>
      <c:barChart>
        <c:barDir val="col"/>
        <c:grouping val="clustered"/>
        <c:varyColors val="0"/>
        <c:ser>
          <c:idx val="0"/>
          <c:order val="0"/>
          <c:tx>
            <c:strRef>
              <c:f>Sheet1!$B$1</c:f>
              <c:strCache>
                <c:ptCount val="1"/>
                <c:pt idx="0">
                  <c:v>توافق دسته‌ای (درصد)</c:v>
                </c:pt>
              </c:strCache>
            </c:strRef>
          </c:tx>
          <c:spPr>
            <a:solidFill>
              <a:srgbClr val="8C1515"/>
            </a:solidFill>
            <a:effectLst/>
          </c:spPr>
          <c:invertIfNegative val="0"/>
          <c:dLbls>
            <c:numFmt formatCode="0.0" sourceLinked="0"/>
            <c:txPr>
              <a:bodyPr/>
              <a:lstStyle/>
              <a:p>
                <a:pPr>
                  <a:defRPr b="0" i="0" strike="noStrike" sz="1100" u="none">
                    <a:solidFill>
                      <a:srgbClr val="2E2D29"/>
                    </a:solidFill>
                    <a:latin typeface="Arial"/>
                    <a:cs typeface="IRNazanin"/>
                  </a:defRPr>
                </a:pPr>
              </a:p>
            </c:txPr>
            <c:showLegendKey val="0"/>
            <c:showVal val="1"/>
            <c:showCatName val="0"/>
            <c:showSerName val="0"/>
            <c:showPercent val="0"/>
            <c:showBubbleSize val="0"/>
            <c:showLeaderLines val="0"/>
          </c:dLbls>
          <c:cat>
            <c:multiLvlStrRef>
              <c:f>Sheet1!$A$2:$A$6</c:f>
              <c:multiLvlStrCache>
                <c:ptCount val="5"/>
                <c:lvl>
                  <c:pt idx="0">
                    <c:v>0.96</c:v>
                  </c:pt>
                  <c:pt idx="1">
                    <c:v>1.35</c:v>
                  </c:pt>
                  <c:pt idx="2">
                    <c:v>1.93</c:v>
                  </c:pt>
                  <c:pt idx="3">
                    <c:v>2.89</c:v>
                  </c:pt>
                  <c:pt idx="4">
                    <c:v>3.85</c:v>
                  </c:pt>
                </c:lvl>
              </c:multiLvlStrCache>
            </c:multiLvlStrRef>
          </c:cat>
          <c:val>
            <c:numRef>
              <c:f>Sheet1!$B$2:$B$6</c:f>
              <c:numCache>
                <c:formatCode>General</c:formatCode>
                <c:ptCount val="5"/>
                <c:pt idx="0">
                  <c:v>96.1</c:v>
                </c:pt>
                <c:pt idx="1">
                  <c:v>94.2</c:v>
                </c:pt>
                <c:pt idx="2">
                  <c:v>91.5</c:v>
                </c:pt>
                <c:pt idx="3">
                  <c:v>86.8</c:v>
                </c:pt>
                <c:pt idx="4">
                  <c:v>83.2</c:v>
                </c:pt>
              </c:numCache>
            </c:numRef>
          </c:val>
        </c:ser>
        <c:dLbls>
          <c:numFmt formatCode="0.0" sourceLinked="0"/>
          <c:txPr>
            <a:bodyPr/>
            <a:lstStyle/>
            <a:p>
              <a:pPr>
                <a:defRPr b="0" i="0" strike="noStrike" sz="1100" u="none">
                  <a:solidFill>
                    <a:srgbClr val="2E2D29"/>
                  </a:solidFill>
                  <a:latin typeface="Arial"/>
                  <a:cs typeface="IRNazanin"/>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16E69"/>
                </a:solidFill>
                <a:latin typeface="Arial"/>
                <a:cs typeface="IRNazanin"/>
              </a:defRPr>
            </a:pPr>
            <a:endParaRPr lang="en-US"/>
          </a:p>
        </c:txPr>
        <c:crossAx val="2094734552"/>
        <c:crosses val="autoZero"/>
        <c:auto val="1"/>
        <c:lblAlgn val="ctr"/>
        <c:noMultiLvlLbl val="1"/>
      </c:catAx>
      <c:valAx>
        <c:axId val="2094734552"/>
        <c:scaling>
          <c:orientation val="minMax"/>
          <c:max val="100"/>
          <c:min val="80"/>
        </c:scaling>
        <c:delete val="0"/>
        <c:axPos val="l"/>
        <c:majorGridlines>
          <c:spPr>
            <a:ln w="12700" cap="flat">
              <a:solidFill>
                <a:srgbClr val="E8E5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16E69"/>
                </a:solidFill>
                <a:latin typeface="Arial"/>
                <a:cs typeface="IRNazani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fa-IR" dirty="0">
                <a:cs typeface="B Nazanin"/>
              </a:rPr>
              <a:t>«۲۰ ثانیه» عرض سلام و خوش‌آمدگویی. عنوان، رشته و نام استاد راهنما با آهنگ شمرده بیان شود.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fa-IR" dirty="0">
                <a:cs typeface="B Nazanin"/>
              </a:rPr>
              <a:t>«۴۰ ثانیه» هفت سرفصل قرائت شود، به همراه اعلام مدت ارائه و زمان پرسش و پاسخ. توضیح افزوده لازم نیست.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fa-IR" dirty="0">
                <a:cs typeface="B Nazanin"/>
              </a:rPr>
              <a:t>«۲ دقیقه» ابتدا شرح مختصر آزمون، سپس بیان سه محدودیت روش دستی. عدد ۱٫۲۷ میلیون با آهنگ آرام بیان و پس از آن مکث کوتاه انجام شود.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fa-IR" dirty="0">
                <a:cs typeface="B Nazanin"/>
              </a:rPr>
              <a:t>«۱ دقیقه» سه هدف به ترتیب قرائت شود، با تأکید بر اینکه پاسخ هدف سوم در این ارائه به صورت کامل و بدون تعدیل بیان خواهد شد.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fa-IR" dirty="0">
                <a:cs typeface="B Nazanin"/>
              </a:rPr>
              <a:t>«۱ دقیقه» برتری دقت عددی دسته یادگیری عمیق صریح بیان شود. سپس سهم پژوهش حاضر معرفی گردد.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fa-IR" dirty="0">
                <a:cs typeface="B Nazanin"/>
              </a:rPr>
              <a:t>«۲ دقیقه» چهار مرحله هر یک در حدود سی ثانیه شرح داده شود. بر جایگاه قطر استاندارد شش میلی‌متری به عنوان تنها مرجع مطلق تصویر تأکید شود. در پایان، نسبی بودن تمام پارامترها بیان گردد.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fa-IR" dirty="0">
                <a:cs typeface="B Nazanin"/>
              </a:rPr>
              <a:t>«۲ دقیقه» ابتدا توضیح داده شود که طبقه‌بندی به قطر و گونه و نام دارو نیاز دارد و مرجع تنها قطر را در اختیار داشت، بنابراین صورت مسئله تغییر داده شد. سپس سه عدد بیان و در ادامه به صراحت اعلام شود که سامانه به آستانه پذیرش بالینی نمی‌رسد. پس از مکث، نمودار معرفی و هدف مهندسی یک میلی‌متر بیان شود.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fa-IR" dirty="0">
                <a:cs typeface="B Nazanin"/>
              </a:rPr>
              <a:t>«۱ دقیقه و ۳۰ ثانیه» مقایسه دو ستون. نکته اصلی: برتری ترکیب بر هر سه معیار و کاهش سی‌درصدی خطا. نزدیک بودن سوگیری به صفر نیز ذکر شود.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fa-IR" dirty="0">
                <a:cs typeface="B Nazanin"/>
              </a:rPr>
              <a:t>«۲ دقیقه و ۳۰ ثانیه» مهم‌ترین بخش ارائه؛ با آهنگ آرام بیان شود. ترتیب: الگوی تکرارشونده، عدد جدایش، دو کنترل، و دو راهکار رد شده. جمله کادر در پایان کلمه به کلمه قرائت گردد.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fa-IR" dirty="0">
                <a:cs typeface="B Nazanin"/>
              </a:rPr>
              <a:t>«۱ دقیقه» بیان محدودیت‌ها با لحن خونسرد و بدون توجیه. این بخش اعتبار ارائه را تقویت می‌کند.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fa-IR" dirty="0">
                <a:cs typeface="B Nazanin"/>
              </a:rPr>
              <a:t>«۱ دقیقه» سه دستاورد شمرده شود، با تأکید بر دستاورد سوم که مبنای چکیده نیز هست. جمله جمع‌بندی کلمه به کلمه قرائت گردد.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fa-IR" dirty="0">
                <a:cs typeface="B Nazanin"/>
              </a:rPr>
              <a:t>«۱ دقیقه» بر سنجیده بودن پیشنهاد کوتاه‌مدت و وجود عدد برای آن تأکید شود. چهار شرط تصویربرداری با ذکر کم‌هزینه بودن آن‌ها بیان گردد.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fa-IR" dirty="0">
                <a:cs typeface="B Nazanin"/>
              </a:rPr>
              <a:t>«۲۰ ثانیه» قرائت کوتاه و شمرده. تلفظ صحیح نام‌ها رعایت شود.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fa-IR" dirty="0">
                <a:cs typeface="B Nazanin"/>
              </a:rPr>
              <a:t>این اسلاید تا پایان جلسه بر پرده باقی می‌ماند. پرسش‌های محتمل و شماره اسلاید پاسخ هر یک: دلیل نبود مدل یادگیرنده (۷ و ۱۸)؛ محدود بودن مجموعه به یازده تصویر (۲۰)؛ بالا بودن نرخ خطای بسیار عمده (۱۵ و ۱۶)؛ اتکای مقیاس به قطر دیسک (۹ و ۲۲)؛ جایگاه مدل سیگموئید در نتایج (۲۲).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fa-IR" dirty="0">
                <a:cs typeface="B Nazanin"/>
              </a:rPr>
              <a:t>«۱ دقیقه» ارائه سریع این بخش. قید مربوط به تهیه تمام تصاویر از یک آزمایشگاه حتماً بیان شود.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fa-IR" dirty="0">
                <a:cs typeface="B Nazanin"/>
              </a:rPr>
              <a:t>«۱ دقیقه و ۳۰ ثانیه» این اسلاید تفسیر اسلاید پیشین را تعدیل می‌کند. عدم برآورده شدن سقف ۱٫۵ درصدی در توافق دو کارشناس انسانی بیان شود. در پایان ذکر گردد که با کسر نویز مرجع، خطای سامانه تنها به ۳٫۷ میلی‌متر کاهش می‌یابد.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fa-IR" dirty="0">
                <a:cs typeface="B Nazanin"/>
              </a:rPr>
              <a:t>«۱ دقیقه و ۳۰ ثانیه» سه عدد پوشش در کنار سه عدد خطا قرار داده شود. جمع‌بندی بخش: مبادله میان پوشش و دقت، مبنای طراحی قاعده ترکیب بوده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fa-IR" dirty="0">
                <a:cs typeface="B Nazanin"/>
              </a:rPr>
              <a:t>«۵ ثانیه» تنها عنوان بخش اعلام و بلافاصله به اسلاید بعد منتقل شوید.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fa-IR" dirty="0">
                <a:cs typeface="B Nazanin"/>
              </a:rPr>
              <a:t>«۵ ثانیه» انتقال سریع.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fa-IR" dirty="0">
                <a:cs typeface="B Nazanin"/>
              </a:rPr>
              <a:t>«۵ ثانیه» انتقال سریع.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fa-IR" dirty="0">
                <a:cs typeface="B Nazanin"/>
              </a:rPr>
              <a:t>«۵ ثانیه» انتقال سریع.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fa-IR" dirty="0">
                <a:cs typeface="B Nazanin"/>
              </a:rPr>
              <a:t>«۵ ثانیه» انتقال سریع.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fa-IR" dirty="0">
                <a:cs typeface="B Nazanin"/>
              </a:rPr>
              <a:t>«۵ ثانیه» انتقال سریع.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fa-IR" dirty="0">
                <a:cs typeface="B Nazanin"/>
              </a:rPr>
              <a:t>«۵ ثانیه» انتقال سریع.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LAIN">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C1515"/>
        </a:solidFill>
      </p:bgPr>
    </p:bg>
    <p:spTree>
      <p:nvGrpSpPr>
        <p:cNvPr id="1" name=""/>
        <p:cNvGrpSpPr/>
        <p:nvPr/>
      </p:nvGrpSpPr>
      <p:grpSpPr>
        <a:xfrm>
          <a:off x="0" y="0"/>
          <a:ext cx="0" cy="0"/>
          <a:chOff x="0" y="0"/>
          <a:chExt cx="0" cy="0"/>
        </a:xfrm>
      </p:grpSpPr>
      <p:sp>
        <p:nvSpPr>
          <p:cNvPr id="2" name="Shape 0"/>
          <p:cNvSpPr/>
          <p:nvPr/>
        </p:nvSpPr>
        <p:spPr>
          <a:xfrm>
            <a:off x="-1615440" y="-1188720"/>
            <a:ext cx="3840480" cy="3840480"/>
          </a:xfrm>
          <a:prstGeom prst="ellipse">
            <a:avLst/>
          </a:prstGeom>
          <a:solidFill>
            <a:srgbClr val="6E1010"/>
          </a:solidFill>
          <a:ln/>
        </p:spPr>
      </p:sp>
      <p:sp>
        <p:nvSpPr>
          <p:cNvPr id="3" name="Shape 1"/>
          <p:cNvSpPr/>
          <p:nvPr/>
        </p:nvSpPr>
        <p:spPr>
          <a:xfrm>
            <a:off x="10363200" y="5120640"/>
            <a:ext cx="3291840" cy="3291840"/>
          </a:xfrm>
          <a:prstGeom prst="ellipse">
            <a:avLst/>
          </a:prstGeom>
          <a:solidFill>
            <a:srgbClr val="6E1010"/>
          </a:solidFill>
          <a:ln/>
        </p:spPr>
      </p:sp>
      <p:sp>
        <p:nvSpPr>
          <p:cNvPr id="4" name="Shape 2"/>
          <p:cNvSpPr/>
          <p:nvPr/>
        </p:nvSpPr>
        <p:spPr>
          <a:xfrm>
            <a:off x="1173480" y="502920"/>
            <a:ext cx="320040" cy="320040"/>
          </a:xfrm>
          <a:prstGeom prst="ellipse">
            <a:avLst/>
          </a:prstGeom>
          <a:solidFill>
            <a:srgbClr val="E98300"/>
          </a:solidFill>
          <a:ln/>
        </p:spPr>
      </p:sp>
      <p:sp>
        <p:nvSpPr>
          <p:cNvPr id="5" name="Text 3"/>
          <p:cNvSpPr txBox="1"/>
          <p:nvPr/>
        </p:nvSpPr>
        <p:spPr>
          <a:xfrm>
            <a:off x="1767840" y="1417320"/>
            <a:ext cx="9601200" cy="365760"/>
          </a:xfrm>
          <a:prstGeom prst="rect">
            <a:avLst/>
          </a:prstGeom>
          <a:noFill/>
          <a:ln/>
        </p:spPr>
        <p:txBody>
          <a:bodyPr wrap="square" rtlCol="0" anchor="ctr"/>
          <a:lstStyle/>
          <a:p>
            <a:pPr indent="0" marL="0" rtl="1" algn="r">
              <a:buNone/>
            </a:pPr>
            <a:r>
              <a:rPr lang="en-US" sz="1300" b="1" spc="300" kern="0" dirty="0">
                <a:solidFill>
                  <a:srgbClr val="E98300"/>
                </a:solidFill>
                <a:latin typeface="Calibri" pitchFamily="34" charset="0"/>
                <a:ea typeface="Calibri" pitchFamily="34" charset="-122"/>
                <a:cs typeface="B Nazanin" pitchFamily="34" charset="-120"/>
              </a:rPr>
              <a:t>دفاع از پروژه‌ی کارشناسی</a:t>
            </a:r>
            <a:endParaRPr lang="en-US" sz="1300" dirty="0"/>
          </a:p>
        </p:txBody>
      </p:sp>
      <p:sp>
        <p:nvSpPr>
          <p:cNvPr id="6" name="Text 4"/>
          <p:cNvSpPr txBox="1"/>
          <p:nvPr/>
        </p:nvSpPr>
        <p:spPr>
          <a:xfrm>
            <a:off x="1676400" y="1874520"/>
            <a:ext cx="9692640" cy="1554480"/>
          </a:xfrm>
          <a:prstGeom prst="rect">
            <a:avLst/>
          </a:prstGeom>
          <a:noFill/>
          <a:ln/>
        </p:spPr>
        <p:txBody>
          <a:bodyPr wrap="square" rtlCol="0" anchor="t"/>
          <a:lstStyle/>
          <a:p>
            <a:pPr indent="0" marL="0" rtl="1" algn="r">
              <a:lnSpc>
                <a:spcPts val="4600"/>
              </a:lnSpc>
              <a:buNone/>
            </a:pPr>
            <a:r>
              <a:rPr lang="en-US" sz="2800" b="1" dirty="0">
                <a:solidFill>
                  <a:srgbClr val="FFFFFF"/>
                </a:solidFill>
                <a:latin typeface="Cambria" pitchFamily="34" charset="0"/>
                <a:ea typeface="Cambria" pitchFamily="34" charset="-122"/>
                <a:cs typeface="B Titr" pitchFamily="34" charset="-120"/>
              </a:rPr>
              <a:t>طراحی و پیاده‌سازی سامانه هوشمند تحلیل خودکار آزمون آنتی‌بیوگرام</a:t>
            </a:r>
            <a:endParaRPr lang="en-US" sz="2800" dirty="0"/>
          </a:p>
          <a:p>
            <a:pPr indent="0" marL="0" rtl="1" algn="r">
              <a:lnSpc>
                <a:spcPts val="4600"/>
              </a:lnSpc>
              <a:buNone/>
            </a:pPr>
            <a:r>
              <a:rPr lang="en-US" sz="1600" b="1" dirty="0">
                <a:solidFill>
                  <a:srgbClr val="FFFFFF"/>
                </a:solidFill>
                <a:latin typeface="Cambria" pitchFamily="34" charset="0"/>
                <a:ea typeface="Cambria" pitchFamily="34" charset="-122"/>
                <a:cs typeface="B Titr" pitchFamily="34" charset="-120"/>
              </a:rPr>
              <a:t>مبتنی بر پردازش تصویر مطابق استاندارد EUCAST</a:t>
            </a:r>
            <a:endParaRPr lang="en-US" sz="1600" dirty="0"/>
          </a:p>
        </p:txBody>
      </p:sp>
      <p:sp>
        <p:nvSpPr>
          <p:cNvPr id="7" name="Shape 5"/>
          <p:cNvSpPr/>
          <p:nvPr/>
        </p:nvSpPr>
        <p:spPr>
          <a:xfrm>
            <a:off x="8945880" y="3703320"/>
            <a:ext cx="2377440" cy="0"/>
          </a:xfrm>
          <a:prstGeom prst="line">
            <a:avLst/>
          </a:prstGeom>
          <a:noFill/>
          <a:ln w="31750">
            <a:solidFill>
              <a:srgbClr val="E98300"/>
            </a:solidFill>
            <a:prstDash val="solid"/>
          </a:ln>
        </p:spPr>
      </p:sp>
      <p:sp>
        <p:nvSpPr>
          <p:cNvPr id="8" name="Text 6"/>
          <p:cNvSpPr txBox="1"/>
          <p:nvPr/>
        </p:nvSpPr>
        <p:spPr>
          <a:xfrm>
            <a:off x="3550920" y="3931920"/>
            <a:ext cx="7772400" cy="1645920"/>
          </a:xfrm>
          <a:prstGeom prst="rect">
            <a:avLst/>
          </a:prstGeom>
          <a:noFill/>
          <a:ln/>
        </p:spPr>
        <p:txBody>
          <a:bodyPr wrap="square" rtlCol="0" anchor="ctr"/>
          <a:lstStyle/>
          <a:p>
            <a:pPr indent="0" marL="0" rtl="1" algn="r">
              <a:lnSpc>
                <a:spcPts val="2600"/>
              </a:lnSpc>
              <a:buNone/>
            </a:pPr>
            <a:r>
              <a:rPr lang="en-US" sz="1600" dirty="0">
                <a:solidFill>
                  <a:srgbClr val="F7F5F1"/>
                </a:solidFill>
                <a:latin typeface="Calibri" pitchFamily="34" charset="0"/>
                <a:ea typeface="Calibri" pitchFamily="34" charset="-122"/>
                <a:cs typeface="B Nazanin" pitchFamily="34" charset="-120"/>
              </a:rPr>
              <a:t>ارائه‌دهنده: مهیار حدادها</a:t>
            </a:r>
            <a:endParaRPr lang="en-US" sz="1600" dirty="0"/>
          </a:p>
          <a:p>
            <a:pPr indent="0" marL="0" rtl="1" algn="r">
              <a:lnSpc>
                <a:spcPts val="2600"/>
              </a:lnSpc>
              <a:buNone/>
            </a:pPr>
            <a:r>
              <a:rPr lang="en-US" sz="1600" dirty="0">
                <a:solidFill>
                  <a:srgbClr val="F7F5F1"/>
                </a:solidFill>
                <a:latin typeface="Calibri" pitchFamily="34" charset="0"/>
                <a:ea typeface="Calibri" pitchFamily="34" charset="-122"/>
                <a:cs typeface="B Nazanin" pitchFamily="34" charset="-120"/>
              </a:rPr>
              <a:t>کارشناسی مهندسی پزشکی — دانشکده فنی و مهندسی</a:t>
            </a:r>
            <a:endParaRPr lang="en-US" sz="1600" dirty="0"/>
          </a:p>
          <a:p>
            <a:pPr indent="0" marL="0" rtl="1" algn="r">
              <a:lnSpc>
                <a:spcPts val="2600"/>
              </a:lnSpc>
              <a:buNone/>
            </a:pPr>
            <a:r>
              <a:rPr lang="en-US" sz="1600" dirty="0">
                <a:solidFill>
                  <a:srgbClr val="F7F5F1"/>
                </a:solidFill>
                <a:latin typeface="Calibri" pitchFamily="34" charset="0"/>
                <a:ea typeface="Calibri" pitchFamily="34" charset="-122"/>
                <a:cs typeface="B Nazanin" pitchFamily="34" charset="-120"/>
              </a:rPr>
              <a:t>استاد راهنما: دکتر محمدرضا یزدچی</a:t>
            </a:r>
            <a:endParaRPr lang="en-US" sz="1600" dirty="0"/>
          </a:p>
          <a:p>
            <a:pPr indent="0" marL="0" rtl="1" algn="r">
              <a:lnSpc>
                <a:spcPts val="2600"/>
              </a:lnSpc>
              <a:buNone/>
            </a:pPr>
            <a:r>
              <a:rPr lang="en-US" sz="1600" dirty="0">
                <a:solidFill>
                  <a:srgbClr val="F7F5F1"/>
                </a:solidFill>
                <a:latin typeface="Calibri" pitchFamily="34" charset="0"/>
                <a:ea typeface="Calibri" pitchFamily="34" charset="-122"/>
                <a:cs typeface="B Nazanin" pitchFamily="34" charset="-120"/>
              </a:rPr>
              <a:t>دانشگاه اصفهان  •  شهریور ۱۴۰۵</a:t>
            </a:r>
            <a:endParaRPr lang="en-US" sz="1600" dirty="0"/>
          </a:p>
        </p:txBody>
      </p:sp>
      <p:sp>
        <p:nvSpPr>
          <p:cNvPr id="9" name="Shape 7"/>
          <p:cNvSpPr/>
          <p:nvPr/>
        </p:nvSpPr>
        <p:spPr>
          <a:xfrm>
            <a:off x="579120" y="5806440"/>
            <a:ext cx="1920240" cy="685800"/>
          </a:xfrm>
          <a:prstGeom prst="roundRect">
            <a:avLst>
              <a:gd name="adj" fmla="val 8000"/>
            </a:avLst>
          </a:prstGeom>
          <a:solidFill>
            <a:srgbClr val="6E1010"/>
          </a:solidFill>
          <a:ln w="12700">
            <a:solidFill>
              <a:srgbClr val="E98300"/>
            </a:solidFill>
            <a:prstDash val="solid"/>
          </a:ln>
        </p:spPr>
      </p:sp>
      <p:sp>
        <p:nvSpPr>
          <p:cNvPr id="10" name="Text 8"/>
          <p:cNvSpPr txBox="1"/>
          <p:nvPr/>
        </p:nvSpPr>
        <p:spPr>
          <a:xfrm>
            <a:off x="579120" y="5806440"/>
            <a:ext cx="1920240" cy="685800"/>
          </a:xfrm>
          <a:prstGeom prst="rect">
            <a:avLst/>
          </a:prstGeom>
          <a:noFill/>
          <a:ln/>
        </p:spPr>
        <p:txBody>
          <a:bodyPr wrap="square" rtlCol="0" anchor="ctr"/>
          <a:lstStyle/>
          <a:p>
            <a:pPr algn="ctr" indent="0" marL="0" rtl="1">
              <a:buNone/>
            </a:pPr>
            <a:r>
              <a:rPr lang="en-US" sz="900" dirty="0">
                <a:solidFill>
                  <a:srgbClr val="F7F5F1"/>
                </a:solidFill>
                <a:latin typeface="Calibri" pitchFamily="34" charset="0"/>
                <a:ea typeface="Calibri" pitchFamily="34" charset="-122"/>
                <a:cs typeface="B Nazanin" pitchFamily="34" charset="-120"/>
              </a:rPr>
              <a:t>دانشگاه</a:t>
            </a:r>
            <a:endParaRPr lang="en-US" sz="900" dirty="0"/>
          </a:p>
          <a:p>
            <a:pPr algn="ctr" indent="0" marL="0" rtl="1">
              <a:buNone/>
            </a:pPr>
            <a:r>
              <a:rPr lang="en-US" sz="900" dirty="0">
                <a:solidFill>
                  <a:srgbClr val="F7F5F1"/>
                </a:solidFill>
                <a:latin typeface="Calibri" pitchFamily="34" charset="0"/>
                <a:ea typeface="Calibri" pitchFamily="34" charset="-122"/>
                <a:cs typeface="B Nazanin" pitchFamily="34" charset="-120"/>
              </a:rPr>
              <a:t>اصفهان</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11442192" y="475488"/>
            <a:ext cx="201168" cy="201168"/>
          </a:xfrm>
          <a:prstGeom prst="ellipse">
            <a:avLst/>
          </a:prstGeom>
          <a:solidFill>
            <a:srgbClr val="E98300"/>
          </a:solidFill>
          <a:ln/>
        </p:spPr>
      </p:sp>
      <p:sp>
        <p:nvSpPr>
          <p:cNvPr id="3" name="Text 1"/>
          <p:cNvSpPr txBox="1"/>
          <p:nvPr/>
        </p:nvSpPr>
        <p:spPr>
          <a:xfrm>
            <a:off x="1694688" y="347472"/>
            <a:ext cx="9601200" cy="502920"/>
          </a:xfrm>
          <a:prstGeom prst="rect">
            <a:avLst/>
          </a:prstGeom>
          <a:noFill/>
          <a:ln/>
        </p:spPr>
        <p:txBody>
          <a:bodyPr wrap="square" rtlCol="0" anchor="ctr"/>
          <a:lstStyle/>
          <a:p>
            <a:pPr indent="0" marL="0" rtl="1" algn="r">
              <a:buNone/>
            </a:pPr>
            <a:r>
              <a:rPr lang="en-US" sz="3000" b="1" dirty="0">
                <a:solidFill>
                  <a:srgbClr val="8C1515"/>
                </a:solidFill>
                <a:latin typeface="Cambria" pitchFamily="34" charset="0"/>
                <a:ea typeface="Cambria" pitchFamily="34" charset="-122"/>
                <a:cs typeface="B Titr" pitchFamily="34" charset="-120"/>
              </a:rPr>
              <a:t>فهرست ارائه</a:t>
            </a:r>
            <a:endParaRPr lang="en-US" sz="3000" dirty="0"/>
          </a:p>
        </p:txBody>
      </p:sp>
      <p:sp>
        <p:nvSpPr>
          <p:cNvPr id="4" name="Shape 2"/>
          <p:cNvSpPr/>
          <p:nvPr/>
        </p:nvSpPr>
        <p:spPr>
          <a:xfrm>
            <a:off x="11140440" y="1234440"/>
            <a:ext cx="502920" cy="502920"/>
          </a:xfrm>
          <a:prstGeom prst="ellipse">
            <a:avLst/>
          </a:prstGeom>
          <a:solidFill>
            <a:srgbClr val="8C1515"/>
          </a:solidFill>
          <a:ln/>
        </p:spPr>
      </p:sp>
      <p:sp>
        <p:nvSpPr>
          <p:cNvPr id="5" name="Text 3"/>
          <p:cNvSpPr txBox="1"/>
          <p:nvPr/>
        </p:nvSpPr>
        <p:spPr>
          <a:xfrm>
            <a:off x="11140440" y="1234440"/>
            <a:ext cx="502920" cy="50292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۱</a:t>
            </a:r>
            <a:endParaRPr lang="en-US" sz="2000" dirty="0"/>
          </a:p>
        </p:txBody>
      </p:sp>
      <p:sp>
        <p:nvSpPr>
          <p:cNvPr id="6" name="Text 4"/>
          <p:cNvSpPr txBox="1"/>
          <p:nvPr/>
        </p:nvSpPr>
        <p:spPr>
          <a:xfrm>
            <a:off x="6568440" y="1188720"/>
            <a:ext cx="4389120" cy="365760"/>
          </a:xfrm>
          <a:prstGeom prst="rect">
            <a:avLst/>
          </a:prstGeom>
          <a:noFill/>
          <a:ln/>
        </p:spPr>
        <p:txBody>
          <a:bodyPr wrap="square" rtlCol="0" anchor="ctr"/>
          <a:lstStyle/>
          <a:p>
            <a:pPr indent="0" marL="0" rtl="1" algn="r">
              <a:buNone/>
            </a:pPr>
            <a:r>
              <a:rPr lang="en-US" sz="1600" b="1" dirty="0">
                <a:solidFill>
                  <a:srgbClr val="2E2D29"/>
                </a:solidFill>
                <a:latin typeface="Cambria" pitchFamily="34" charset="0"/>
                <a:ea typeface="Cambria" pitchFamily="34" charset="-122"/>
                <a:cs typeface="B Titr" pitchFamily="34" charset="-120"/>
              </a:rPr>
              <a:t>مسئله و انگیزه</a:t>
            </a:r>
            <a:endParaRPr lang="en-US" sz="1600" dirty="0"/>
          </a:p>
        </p:txBody>
      </p:sp>
      <p:sp>
        <p:nvSpPr>
          <p:cNvPr id="7" name="Text 5"/>
          <p:cNvSpPr txBox="1"/>
          <p:nvPr/>
        </p:nvSpPr>
        <p:spPr>
          <a:xfrm>
            <a:off x="6568440" y="1527048"/>
            <a:ext cx="4389120" cy="457200"/>
          </a:xfrm>
          <a:prstGeom prst="rect">
            <a:avLst/>
          </a:prstGeom>
          <a:noFill/>
          <a:ln/>
        </p:spPr>
        <p:txBody>
          <a:bodyPr wrap="square" rtlCol="0" anchor="ctr"/>
          <a:lstStyle/>
          <a:p>
            <a:pPr indent="0" marL="0" rtl="1" algn="r">
              <a:buNone/>
            </a:pPr>
            <a:r>
              <a:rPr lang="en-US" sz="1200" dirty="0">
                <a:solidFill>
                  <a:srgbClr val="716E69"/>
                </a:solidFill>
                <a:latin typeface="Calibri" pitchFamily="34" charset="0"/>
                <a:ea typeface="Calibri" pitchFamily="34" charset="-122"/>
                <a:cs typeface="B Nazanin" pitchFamily="34" charset="-120"/>
              </a:rPr>
              <a:t>ضرورت خودکارسازی این اندازه‌گیری — ۲ دقیقه</a:t>
            </a:r>
            <a:endParaRPr lang="en-US" sz="1200" dirty="0"/>
          </a:p>
        </p:txBody>
      </p:sp>
      <p:sp>
        <p:nvSpPr>
          <p:cNvPr id="8" name="Shape 6"/>
          <p:cNvSpPr/>
          <p:nvPr/>
        </p:nvSpPr>
        <p:spPr>
          <a:xfrm>
            <a:off x="11140440" y="2404872"/>
            <a:ext cx="502920" cy="502920"/>
          </a:xfrm>
          <a:prstGeom prst="ellipse">
            <a:avLst/>
          </a:prstGeom>
          <a:solidFill>
            <a:srgbClr val="E98300"/>
          </a:solidFill>
          <a:ln/>
        </p:spPr>
      </p:sp>
      <p:sp>
        <p:nvSpPr>
          <p:cNvPr id="9" name="Text 7"/>
          <p:cNvSpPr txBox="1"/>
          <p:nvPr/>
        </p:nvSpPr>
        <p:spPr>
          <a:xfrm>
            <a:off x="11140440" y="2404872"/>
            <a:ext cx="502920" cy="50292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۲</a:t>
            </a:r>
            <a:endParaRPr lang="en-US" sz="2000" dirty="0"/>
          </a:p>
        </p:txBody>
      </p:sp>
      <p:sp>
        <p:nvSpPr>
          <p:cNvPr id="10" name="Text 8"/>
          <p:cNvSpPr txBox="1"/>
          <p:nvPr/>
        </p:nvSpPr>
        <p:spPr>
          <a:xfrm>
            <a:off x="6568440" y="2359152"/>
            <a:ext cx="4389120" cy="365760"/>
          </a:xfrm>
          <a:prstGeom prst="rect">
            <a:avLst/>
          </a:prstGeom>
          <a:noFill/>
          <a:ln/>
        </p:spPr>
        <p:txBody>
          <a:bodyPr wrap="square" rtlCol="0" anchor="ctr"/>
          <a:lstStyle/>
          <a:p>
            <a:pPr indent="0" marL="0" rtl="1" algn="r">
              <a:buNone/>
            </a:pPr>
            <a:r>
              <a:rPr lang="en-US" sz="1600" b="1" dirty="0">
                <a:solidFill>
                  <a:srgbClr val="2E2D29"/>
                </a:solidFill>
                <a:latin typeface="Cambria" pitchFamily="34" charset="0"/>
                <a:ea typeface="Cambria" pitchFamily="34" charset="-122"/>
                <a:cs typeface="B Titr" pitchFamily="34" charset="-120"/>
              </a:rPr>
              <a:t>هدف و کارهای پیشین</a:t>
            </a:r>
            <a:endParaRPr lang="en-US" sz="1600" dirty="0"/>
          </a:p>
        </p:txBody>
      </p:sp>
      <p:sp>
        <p:nvSpPr>
          <p:cNvPr id="11" name="Text 9"/>
          <p:cNvSpPr txBox="1"/>
          <p:nvPr/>
        </p:nvSpPr>
        <p:spPr>
          <a:xfrm>
            <a:off x="6568440" y="2697480"/>
            <a:ext cx="4389120" cy="457200"/>
          </a:xfrm>
          <a:prstGeom prst="rect">
            <a:avLst/>
          </a:prstGeom>
          <a:noFill/>
          <a:ln/>
        </p:spPr>
        <p:txBody>
          <a:bodyPr wrap="square" rtlCol="0" anchor="ctr"/>
          <a:lstStyle/>
          <a:p>
            <a:pPr indent="0" marL="0" rtl="1" algn="r">
              <a:buNone/>
            </a:pPr>
            <a:r>
              <a:rPr lang="en-US" sz="1200" dirty="0">
                <a:solidFill>
                  <a:srgbClr val="716E69"/>
                </a:solidFill>
                <a:latin typeface="Calibri" pitchFamily="34" charset="0"/>
                <a:ea typeface="Calibri" pitchFamily="34" charset="-122"/>
                <a:cs typeface="B Nazanin" pitchFamily="34" charset="-120"/>
              </a:rPr>
              <a:t>اهداف پژوهش و جایگاه آن در ادبیات — ۲ دقیقه</a:t>
            </a:r>
            <a:endParaRPr lang="en-US" sz="1200" dirty="0"/>
          </a:p>
        </p:txBody>
      </p:sp>
      <p:sp>
        <p:nvSpPr>
          <p:cNvPr id="12" name="Shape 10"/>
          <p:cNvSpPr/>
          <p:nvPr/>
        </p:nvSpPr>
        <p:spPr>
          <a:xfrm>
            <a:off x="11140440" y="3575304"/>
            <a:ext cx="502920" cy="502920"/>
          </a:xfrm>
          <a:prstGeom prst="ellipse">
            <a:avLst/>
          </a:prstGeom>
          <a:solidFill>
            <a:srgbClr val="8C1515"/>
          </a:solidFill>
          <a:ln/>
        </p:spPr>
      </p:sp>
      <p:sp>
        <p:nvSpPr>
          <p:cNvPr id="13" name="Text 11"/>
          <p:cNvSpPr txBox="1"/>
          <p:nvPr/>
        </p:nvSpPr>
        <p:spPr>
          <a:xfrm>
            <a:off x="11140440" y="3575304"/>
            <a:ext cx="502920" cy="50292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۳</a:t>
            </a:r>
            <a:endParaRPr lang="en-US" sz="2000" dirty="0"/>
          </a:p>
        </p:txBody>
      </p:sp>
      <p:sp>
        <p:nvSpPr>
          <p:cNvPr id="14" name="Text 12"/>
          <p:cNvSpPr txBox="1"/>
          <p:nvPr/>
        </p:nvSpPr>
        <p:spPr>
          <a:xfrm>
            <a:off x="6568440" y="3529584"/>
            <a:ext cx="4389120" cy="365760"/>
          </a:xfrm>
          <a:prstGeom prst="rect">
            <a:avLst/>
          </a:prstGeom>
          <a:noFill/>
          <a:ln/>
        </p:spPr>
        <p:txBody>
          <a:bodyPr wrap="square" rtlCol="0" anchor="ctr"/>
          <a:lstStyle/>
          <a:p>
            <a:pPr indent="0" marL="0" rtl="1" algn="r">
              <a:buNone/>
            </a:pPr>
            <a:r>
              <a:rPr lang="en-US" sz="1600" b="1" dirty="0">
                <a:solidFill>
                  <a:srgbClr val="2E2D29"/>
                </a:solidFill>
                <a:latin typeface="Cambria" pitchFamily="34" charset="0"/>
                <a:ea typeface="Cambria" pitchFamily="34" charset="-122"/>
                <a:cs typeface="B Titr" pitchFamily="34" charset="-120"/>
              </a:rPr>
              <a:t>روش پیشنهادی</a:t>
            </a:r>
            <a:endParaRPr lang="en-US" sz="1600" dirty="0"/>
          </a:p>
        </p:txBody>
      </p:sp>
      <p:sp>
        <p:nvSpPr>
          <p:cNvPr id="15" name="Text 13"/>
          <p:cNvSpPr txBox="1"/>
          <p:nvPr/>
        </p:nvSpPr>
        <p:spPr>
          <a:xfrm>
            <a:off x="6568440" y="3867912"/>
            <a:ext cx="4389120" cy="457200"/>
          </a:xfrm>
          <a:prstGeom prst="rect">
            <a:avLst/>
          </a:prstGeom>
          <a:noFill/>
          <a:ln/>
        </p:spPr>
        <p:txBody>
          <a:bodyPr wrap="square" rtlCol="0" anchor="ctr"/>
          <a:lstStyle/>
          <a:p>
            <a:pPr indent="0" marL="0" rtl="1" algn="r">
              <a:buNone/>
            </a:pPr>
            <a:r>
              <a:rPr lang="en-US" sz="1200" dirty="0">
                <a:solidFill>
                  <a:srgbClr val="716E69"/>
                </a:solidFill>
                <a:latin typeface="Calibri" pitchFamily="34" charset="0"/>
                <a:ea typeface="Calibri" pitchFamily="34" charset="-122"/>
                <a:cs typeface="B Nazanin" pitchFamily="34" charset="-120"/>
              </a:rPr>
              <a:t>ساختار و مراحل سامانه — ۳ دقیقه و ۳۰ ثانیه</a:t>
            </a:r>
            <a:endParaRPr lang="en-US" sz="1200" dirty="0"/>
          </a:p>
        </p:txBody>
      </p:sp>
      <p:sp>
        <p:nvSpPr>
          <p:cNvPr id="16" name="Shape 14"/>
          <p:cNvSpPr/>
          <p:nvPr/>
        </p:nvSpPr>
        <p:spPr>
          <a:xfrm>
            <a:off x="11140440" y="4745736"/>
            <a:ext cx="502920" cy="502920"/>
          </a:xfrm>
          <a:prstGeom prst="ellipse">
            <a:avLst/>
          </a:prstGeom>
          <a:solidFill>
            <a:srgbClr val="E98300"/>
          </a:solidFill>
          <a:ln/>
        </p:spPr>
      </p:sp>
      <p:sp>
        <p:nvSpPr>
          <p:cNvPr id="17" name="Text 15"/>
          <p:cNvSpPr txBox="1"/>
          <p:nvPr/>
        </p:nvSpPr>
        <p:spPr>
          <a:xfrm>
            <a:off x="11140440" y="4745736"/>
            <a:ext cx="502920" cy="50292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۴</a:t>
            </a:r>
            <a:endParaRPr lang="en-US" sz="2000" dirty="0"/>
          </a:p>
        </p:txBody>
      </p:sp>
      <p:sp>
        <p:nvSpPr>
          <p:cNvPr id="18" name="Text 16"/>
          <p:cNvSpPr txBox="1"/>
          <p:nvPr/>
        </p:nvSpPr>
        <p:spPr>
          <a:xfrm>
            <a:off x="6568440" y="4700016"/>
            <a:ext cx="4389120" cy="365760"/>
          </a:xfrm>
          <a:prstGeom prst="rect">
            <a:avLst/>
          </a:prstGeom>
          <a:noFill/>
          <a:ln/>
        </p:spPr>
        <p:txBody>
          <a:bodyPr wrap="square" rtlCol="0" anchor="ctr"/>
          <a:lstStyle/>
          <a:p>
            <a:pPr indent="0" marL="0" rtl="1" algn="r">
              <a:buNone/>
            </a:pPr>
            <a:r>
              <a:rPr lang="en-US" sz="1600" b="1" dirty="0">
                <a:solidFill>
                  <a:srgbClr val="2E2D29"/>
                </a:solidFill>
                <a:latin typeface="Cambria" pitchFamily="34" charset="0"/>
                <a:ea typeface="Cambria" pitchFamily="34" charset="-122"/>
                <a:cs typeface="B Titr" pitchFamily="34" charset="-120"/>
              </a:rPr>
              <a:t>نتایج</a:t>
            </a:r>
            <a:endParaRPr lang="en-US" sz="1600" dirty="0"/>
          </a:p>
        </p:txBody>
      </p:sp>
      <p:sp>
        <p:nvSpPr>
          <p:cNvPr id="19" name="Text 17"/>
          <p:cNvSpPr txBox="1"/>
          <p:nvPr/>
        </p:nvSpPr>
        <p:spPr>
          <a:xfrm>
            <a:off x="6568440" y="5038344"/>
            <a:ext cx="4389120" cy="457200"/>
          </a:xfrm>
          <a:prstGeom prst="rect">
            <a:avLst/>
          </a:prstGeom>
          <a:noFill/>
          <a:ln/>
        </p:spPr>
        <p:txBody>
          <a:bodyPr wrap="square" rtlCol="0" anchor="ctr"/>
          <a:lstStyle/>
          <a:p>
            <a:pPr indent="0" marL="0" rtl="1" algn="r">
              <a:buNone/>
            </a:pPr>
            <a:r>
              <a:rPr lang="en-US" sz="1200" dirty="0">
                <a:solidFill>
                  <a:srgbClr val="716E69"/>
                </a:solidFill>
                <a:latin typeface="Calibri" pitchFamily="34" charset="0"/>
                <a:ea typeface="Calibri" pitchFamily="34" charset="-122"/>
                <a:cs typeface="B Nazanin" pitchFamily="34" charset="-120"/>
              </a:rPr>
              <a:t>دقت اندازه‌گیری بر روی مجموعه مرجع — ۲ دقیقه و ۳۰ ثانیه</a:t>
            </a:r>
            <a:endParaRPr lang="en-US" sz="1200" dirty="0"/>
          </a:p>
        </p:txBody>
      </p:sp>
      <p:sp>
        <p:nvSpPr>
          <p:cNvPr id="20" name="Shape 18"/>
          <p:cNvSpPr/>
          <p:nvPr/>
        </p:nvSpPr>
        <p:spPr>
          <a:xfrm>
            <a:off x="5516880" y="1234440"/>
            <a:ext cx="502920" cy="502920"/>
          </a:xfrm>
          <a:prstGeom prst="ellipse">
            <a:avLst/>
          </a:prstGeom>
          <a:solidFill>
            <a:srgbClr val="8C1515"/>
          </a:solidFill>
          <a:ln/>
        </p:spPr>
      </p:sp>
      <p:sp>
        <p:nvSpPr>
          <p:cNvPr id="21" name="Text 19"/>
          <p:cNvSpPr txBox="1"/>
          <p:nvPr/>
        </p:nvSpPr>
        <p:spPr>
          <a:xfrm>
            <a:off x="5516880" y="1234440"/>
            <a:ext cx="502920" cy="50292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۵</a:t>
            </a:r>
            <a:endParaRPr lang="en-US" sz="2000" dirty="0"/>
          </a:p>
        </p:txBody>
      </p:sp>
      <p:sp>
        <p:nvSpPr>
          <p:cNvPr id="22" name="Text 20"/>
          <p:cNvSpPr txBox="1"/>
          <p:nvPr/>
        </p:nvSpPr>
        <p:spPr>
          <a:xfrm>
            <a:off x="944880" y="1188720"/>
            <a:ext cx="4389120" cy="365760"/>
          </a:xfrm>
          <a:prstGeom prst="rect">
            <a:avLst/>
          </a:prstGeom>
          <a:noFill/>
          <a:ln/>
        </p:spPr>
        <p:txBody>
          <a:bodyPr wrap="square" rtlCol="0" anchor="ctr"/>
          <a:lstStyle/>
          <a:p>
            <a:pPr indent="0" marL="0" rtl="1" algn="r">
              <a:buNone/>
            </a:pPr>
            <a:r>
              <a:rPr lang="en-US" sz="1600" b="1" dirty="0">
                <a:solidFill>
                  <a:srgbClr val="2E2D29"/>
                </a:solidFill>
                <a:latin typeface="Cambria" pitchFamily="34" charset="0"/>
                <a:ea typeface="Cambria" pitchFamily="34" charset="-122"/>
                <a:cs typeface="B Titr" pitchFamily="34" charset="-120"/>
              </a:rPr>
              <a:t>تفسیر بالینی</a:t>
            </a:r>
            <a:endParaRPr lang="en-US" sz="1600" dirty="0"/>
          </a:p>
        </p:txBody>
      </p:sp>
      <p:sp>
        <p:nvSpPr>
          <p:cNvPr id="23" name="Text 21"/>
          <p:cNvSpPr txBox="1"/>
          <p:nvPr/>
        </p:nvSpPr>
        <p:spPr>
          <a:xfrm>
            <a:off x="944880" y="1527048"/>
            <a:ext cx="4389120" cy="457200"/>
          </a:xfrm>
          <a:prstGeom prst="rect">
            <a:avLst/>
          </a:prstGeom>
          <a:noFill/>
          <a:ln/>
        </p:spPr>
        <p:txBody>
          <a:bodyPr wrap="square" rtlCol="0" anchor="ctr"/>
          <a:lstStyle/>
          <a:p>
            <a:pPr indent="0" marL="0" rtl="1" algn="r">
              <a:buNone/>
            </a:pPr>
            <a:r>
              <a:rPr lang="en-US" sz="1200" dirty="0">
                <a:solidFill>
                  <a:srgbClr val="716E69"/>
                </a:solidFill>
                <a:latin typeface="Calibri" pitchFamily="34" charset="0"/>
                <a:ea typeface="Calibri" pitchFamily="34" charset="-122"/>
                <a:cs typeface="B Nazanin" pitchFamily="34" charset="-120"/>
              </a:rPr>
              <a:t>معنای دقت به‌دست‌آمده برای تصمیم درمانی — ۳ دقیقه و ۳۰ ثانیه</a:t>
            </a:r>
            <a:endParaRPr lang="en-US" sz="1200" dirty="0"/>
          </a:p>
        </p:txBody>
      </p:sp>
      <p:sp>
        <p:nvSpPr>
          <p:cNvPr id="24" name="Shape 22"/>
          <p:cNvSpPr/>
          <p:nvPr/>
        </p:nvSpPr>
        <p:spPr>
          <a:xfrm>
            <a:off x="5516880" y="2404872"/>
            <a:ext cx="502920" cy="502920"/>
          </a:xfrm>
          <a:prstGeom prst="ellipse">
            <a:avLst/>
          </a:prstGeom>
          <a:solidFill>
            <a:srgbClr val="E98300"/>
          </a:solidFill>
          <a:ln/>
        </p:spPr>
      </p:sp>
      <p:sp>
        <p:nvSpPr>
          <p:cNvPr id="25" name="Text 23"/>
          <p:cNvSpPr txBox="1"/>
          <p:nvPr/>
        </p:nvSpPr>
        <p:spPr>
          <a:xfrm>
            <a:off x="5516880" y="2404872"/>
            <a:ext cx="502920" cy="50292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۶</a:t>
            </a:r>
            <a:endParaRPr lang="en-US" sz="2000" dirty="0"/>
          </a:p>
        </p:txBody>
      </p:sp>
      <p:sp>
        <p:nvSpPr>
          <p:cNvPr id="26" name="Text 24"/>
          <p:cNvSpPr txBox="1"/>
          <p:nvPr/>
        </p:nvSpPr>
        <p:spPr>
          <a:xfrm>
            <a:off x="944880" y="2359152"/>
            <a:ext cx="4389120" cy="365760"/>
          </a:xfrm>
          <a:prstGeom prst="rect">
            <a:avLst/>
          </a:prstGeom>
          <a:noFill/>
          <a:ln/>
        </p:spPr>
        <p:txBody>
          <a:bodyPr wrap="square" rtlCol="0" anchor="ctr"/>
          <a:lstStyle/>
          <a:p>
            <a:pPr indent="0" marL="0" rtl="1" algn="r">
              <a:buNone/>
            </a:pPr>
            <a:r>
              <a:rPr lang="en-US" sz="1600" b="1" dirty="0">
                <a:solidFill>
                  <a:srgbClr val="2E2D29"/>
                </a:solidFill>
                <a:latin typeface="Cambria" pitchFamily="34" charset="0"/>
                <a:ea typeface="Cambria" pitchFamily="34" charset="-122"/>
                <a:cs typeface="B Titr" pitchFamily="34" charset="-120"/>
              </a:rPr>
              <a:t>یافته اصلی</a:t>
            </a:r>
            <a:endParaRPr lang="en-US" sz="1600" dirty="0"/>
          </a:p>
        </p:txBody>
      </p:sp>
      <p:sp>
        <p:nvSpPr>
          <p:cNvPr id="27" name="Text 25"/>
          <p:cNvSpPr txBox="1"/>
          <p:nvPr/>
        </p:nvSpPr>
        <p:spPr>
          <a:xfrm>
            <a:off x="944880" y="2697480"/>
            <a:ext cx="4389120" cy="457200"/>
          </a:xfrm>
          <a:prstGeom prst="rect">
            <a:avLst/>
          </a:prstGeom>
          <a:noFill/>
          <a:ln/>
        </p:spPr>
        <p:txBody>
          <a:bodyPr wrap="square" rtlCol="0" anchor="ctr"/>
          <a:lstStyle/>
          <a:p>
            <a:pPr indent="0" marL="0" rtl="1" algn="r">
              <a:buNone/>
            </a:pPr>
            <a:r>
              <a:rPr lang="en-US" sz="1200" dirty="0">
                <a:solidFill>
                  <a:srgbClr val="716E69"/>
                </a:solidFill>
                <a:latin typeface="Calibri" pitchFamily="34" charset="0"/>
                <a:ea typeface="Calibri" pitchFamily="34" charset="-122"/>
                <a:cs typeface="B Nazanin" pitchFamily="34" charset="-120"/>
              </a:rPr>
              <a:t>علت خطای باقی‌مانده — ۲ دقیقه و ۳۰ ثانیه</a:t>
            </a:r>
            <a:endParaRPr lang="en-US" sz="1200" dirty="0"/>
          </a:p>
        </p:txBody>
      </p:sp>
      <p:sp>
        <p:nvSpPr>
          <p:cNvPr id="28" name="Shape 26"/>
          <p:cNvSpPr/>
          <p:nvPr/>
        </p:nvSpPr>
        <p:spPr>
          <a:xfrm>
            <a:off x="5516880" y="3575304"/>
            <a:ext cx="502920" cy="502920"/>
          </a:xfrm>
          <a:prstGeom prst="ellipse">
            <a:avLst/>
          </a:prstGeom>
          <a:solidFill>
            <a:srgbClr val="8C1515"/>
          </a:solidFill>
          <a:ln/>
        </p:spPr>
      </p:sp>
      <p:sp>
        <p:nvSpPr>
          <p:cNvPr id="29" name="Text 27"/>
          <p:cNvSpPr txBox="1"/>
          <p:nvPr/>
        </p:nvSpPr>
        <p:spPr>
          <a:xfrm>
            <a:off x="5516880" y="3575304"/>
            <a:ext cx="502920" cy="50292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۷</a:t>
            </a:r>
            <a:endParaRPr lang="en-US" sz="2000" dirty="0"/>
          </a:p>
        </p:txBody>
      </p:sp>
      <p:sp>
        <p:nvSpPr>
          <p:cNvPr id="30" name="Text 28"/>
          <p:cNvSpPr txBox="1"/>
          <p:nvPr/>
        </p:nvSpPr>
        <p:spPr>
          <a:xfrm>
            <a:off x="944880" y="3529584"/>
            <a:ext cx="4389120" cy="365760"/>
          </a:xfrm>
          <a:prstGeom prst="rect">
            <a:avLst/>
          </a:prstGeom>
          <a:noFill/>
          <a:ln/>
        </p:spPr>
        <p:txBody>
          <a:bodyPr wrap="square" rtlCol="0" anchor="ctr"/>
          <a:lstStyle/>
          <a:p>
            <a:pPr indent="0" marL="0" rtl="1" algn="r">
              <a:buNone/>
            </a:pPr>
            <a:r>
              <a:rPr lang="en-US" sz="1600" b="1" dirty="0">
                <a:solidFill>
                  <a:srgbClr val="2E2D29"/>
                </a:solidFill>
                <a:latin typeface="Cambria" pitchFamily="34" charset="0"/>
                <a:ea typeface="Cambria" pitchFamily="34" charset="-122"/>
                <a:cs typeface="B Titr" pitchFamily="34" charset="-120"/>
              </a:rPr>
              <a:t>محدودیت‌ها و جمع‌بندی</a:t>
            </a:r>
            <a:endParaRPr lang="en-US" sz="1600" dirty="0"/>
          </a:p>
        </p:txBody>
      </p:sp>
      <p:sp>
        <p:nvSpPr>
          <p:cNvPr id="31" name="Text 29"/>
          <p:cNvSpPr txBox="1"/>
          <p:nvPr/>
        </p:nvSpPr>
        <p:spPr>
          <a:xfrm>
            <a:off x="944880" y="3867912"/>
            <a:ext cx="4389120" cy="457200"/>
          </a:xfrm>
          <a:prstGeom prst="rect">
            <a:avLst/>
          </a:prstGeom>
          <a:noFill/>
          <a:ln/>
        </p:spPr>
        <p:txBody>
          <a:bodyPr wrap="square" rtlCol="0" anchor="ctr"/>
          <a:lstStyle/>
          <a:p>
            <a:pPr indent="0" marL="0" rtl="1" algn="r">
              <a:buNone/>
            </a:pPr>
            <a:r>
              <a:rPr lang="en-US" sz="1200" dirty="0">
                <a:solidFill>
                  <a:srgbClr val="716E69"/>
                </a:solidFill>
                <a:latin typeface="Calibri" pitchFamily="34" charset="0"/>
                <a:ea typeface="Calibri" pitchFamily="34" charset="-122"/>
                <a:cs typeface="B Nazanin" pitchFamily="34" charset="-120"/>
              </a:rPr>
              <a:t>محدودیت‌ها، دستاوردها و کار آینده — ۳ دقیقه</a:t>
            </a:r>
            <a:endParaRPr lang="en-US" sz="1200" dirty="0"/>
          </a:p>
        </p:txBody>
      </p:sp>
      <p:sp>
        <p:nvSpPr>
          <p:cNvPr id="32" name="Text 30"/>
          <p:cNvSpPr txBox="1"/>
          <p:nvPr/>
        </p:nvSpPr>
        <p:spPr>
          <a:xfrm>
            <a:off x="4328160" y="6473952"/>
            <a:ext cx="7315200" cy="274320"/>
          </a:xfrm>
          <a:prstGeom prst="rect">
            <a:avLst/>
          </a:prstGeom>
          <a:noFill/>
          <a:ln/>
        </p:spPr>
        <p:txBody>
          <a:bodyPr wrap="square" rtlCol="0" anchor="ctr"/>
          <a:lstStyle/>
          <a:p>
            <a:pPr indent="0" marL="0" rtl="1" algn="r">
              <a:buNone/>
            </a:pPr>
            <a:r>
              <a:rPr lang="en-US" sz="900" spc="200" kern="0" dirty="0">
                <a:solidFill>
                  <a:srgbClr val="716E69"/>
                </a:solidFill>
                <a:latin typeface="Calibri" pitchFamily="34" charset="0"/>
                <a:ea typeface="Calibri" pitchFamily="34" charset="-122"/>
                <a:cs typeface="B Nazanin" pitchFamily="34" charset="-120"/>
              </a:rPr>
              <a:t>فهرست ارائه</a:t>
            </a:r>
            <a:endParaRPr lang="en-US" sz="900" dirty="0"/>
          </a:p>
        </p:txBody>
      </p:sp>
      <p:sp>
        <p:nvSpPr>
          <p:cNvPr id="33" name="Text 31"/>
          <p:cNvSpPr txBox="1"/>
          <p:nvPr/>
        </p:nvSpPr>
        <p:spPr>
          <a:xfrm>
            <a:off x="185928" y="6473952"/>
            <a:ext cx="457200" cy="274320"/>
          </a:xfrm>
          <a:prstGeom prst="rect">
            <a:avLst/>
          </a:prstGeom>
          <a:noFill/>
          <a:ln/>
        </p:spPr>
        <p:txBody>
          <a:bodyPr wrap="square" rtlCol="0" anchor="ctr"/>
          <a:lstStyle/>
          <a:p>
            <a:pPr algn="r" indent="0" marL="0" rtl="1">
              <a:buNone/>
            </a:pPr>
            <a:r>
              <a:rPr lang="en-US" sz="900" dirty="0">
                <a:solidFill>
                  <a:srgbClr val="716E69"/>
                </a:solidFill>
                <a:latin typeface="Calibri" pitchFamily="34" charset="0"/>
                <a:ea typeface="Calibri" pitchFamily="34" charset="-122"/>
                <a:cs typeface="B Nazanin" pitchFamily="34" charset="-120"/>
              </a:rPr>
              <a:t>۲ / ۲۴</a:t>
            </a:r>
            <a:endParaRPr lang="en-US" sz="900" dirty="0"/>
          </a:p>
        </p:txBody>
      </p:sp>
      <p:sp>
        <p:nvSpPr>
          <p:cNvPr id="9001" name="progress track"/>
          <p:cNvSpPr/>
          <p:nvPr/>
        </p:nvSpPr>
        <p:spPr>
          <a:xfrm>
            <a:off x="0" y="6803000"/>
            <a:ext cx="12192000" cy="55000"/>
          </a:xfrm>
          <a:prstGeom prst="rect">
            <a:avLst/>
          </a:prstGeom>
          <a:solidFill>
            <a:srgbClr val="EDE9E5"/>
          </a:solidFill>
          <a:ln>
            <a:noFill/>
          </a:ln>
        </p:spPr>
        <p:txBody>
          <a:bodyPr/>
          <a:lstStyle/>
          <a:p/>
        </p:txBody>
      </p:sp>
      <p:sp>
        <p:nvSpPr>
          <p:cNvPr id="9002" name="progress fill"/>
          <p:cNvSpPr/>
          <p:nvPr/>
        </p:nvSpPr>
        <p:spPr>
          <a:xfrm>
            <a:off x="11176000" y="6803000"/>
            <a:ext cx="1016000" cy="55000"/>
          </a:xfrm>
          <a:prstGeom prst="rect">
            <a:avLst/>
          </a:prstGeom>
          <a:solidFill>
            <a:srgbClr val="8C1515"/>
          </a:solidFill>
          <a:ln>
            <a:noFill/>
          </a:ln>
        </p:spPr>
        <p:txBody>
          <a:bodyPr/>
          <a:lstStyle/>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11442192" y="475488"/>
            <a:ext cx="201168" cy="201168"/>
          </a:xfrm>
          <a:prstGeom prst="ellipse">
            <a:avLst/>
          </a:prstGeom>
          <a:solidFill>
            <a:srgbClr val="E98300"/>
          </a:solidFill>
          <a:ln/>
        </p:spPr>
      </p:sp>
      <p:sp>
        <p:nvSpPr>
          <p:cNvPr id="3" name="Text 1"/>
          <p:cNvSpPr txBox="1"/>
          <p:nvPr/>
        </p:nvSpPr>
        <p:spPr>
          <a:xfrm>
            <a:off x="1694688" y="347472"/>
            <a:ext cx="9601200" cy="502920"/>
          </a:xfrm>
          <a:prstGeom prst="rect">
            <a:avLst/>
          </a:prstGeom>
          <a:noFill/>
          <a:ln/>
        </p:spPr>
        <p:txBody>
          <a:bodyPr wrap="square" rtlCol="0" anchor="ctr"/>
          <a:lstStyle/>
          <a:p>
            <a:pPr indent="0" marL="0" rtl="1" algn="r">
              <a:buNone/>
            </a:pPr>
            <a:r>
              <a:rPr lang="en-US" sz="3000" b="1" dirty="0">
                <a:solidFill>
                  <a:srgbClr val="8C1515"/>
                </a:solidFill>
                <a:latin typeface="Cambria" pitchFamily="34" charset="0"/>
                <a:ea typeface="Cambria" pitchFamily="34" charset="-122"/>
                <a:cs typeface="B Titr" pitchFamily="34" charset="-120"/>
              </a:rPr>
              <a:t>مسئله و انگیزه</a:t>
            </a:r>
            <a:endParaRPr lang="en-US" sz="3000" dirty="0"/>
          </a:p>
        </p:txBody>
      </p:sp>
      <p:sp>
        <p:nvSpPr>
          <p:cNvPr id="4" name="Text 2"/>
          <p:cNvSpPr txBox="1"/>
          <p:nvPr/>
        </p:nvSpPr>
        <p:spPr>
          <a:xfrm>
            <a:off x="5151120" y="1371600"/>
            <a:ext cx="6492240" cy="4206240"/>
          </a:xfrm>
          <a:prstGeom prst="rect">
            <a:avLst/>
          </a:prstGeom>
          <a:noFill/>
          <a:ln/>
        </p:spPr>
        <p:txBody>
          <a:bodyPr wrap="square" rtlCol="0" anchor="ctr"/>
          <a:lstStyle/>
          <a:p>
            <a:pPr marL="342900" indent="-342900" rtl="1" algn="r">
              <a:lnSpc>
                <a:spcPct val="135000"/>
              </a:lnSpc>
              <a:spcAft>
                <a:spcPts val="1600"/>
              </a:spcAft>
              <a:buSzPct val="100000"/>
              <a:buChar char="•"/>
            </a:pPr>
            <a:r>
              <a:rPr lang="en-US" sz="1600" dirty="0">
                <a:solidFill>
                  <a:srgbClr val="2E2D29"/>
                </a:solidFill>
                <a:latin typeface="Calibri" pitchFamily="34" charset="0"/>
                <a:ea typeface="Calibri" pitchFamily="34" charset="-122"/>
                <a:cs typeface="B Nazanin" pitchFamily="34" charset="-120"/>
              </a:rPr>
              <a:t>اندازه‌گیری قطر ناحیه بدون رشد در حال حاضر به صورت دستی و با خط‌کش انجام می‌شود.</a:t>
            </a:r>
            <a:endParaRPr lang="en-US" sz="1600" dirty="0"/>
          </a:p>
          <a:p>
            <a:pPr marL="342900" indent="-342900" rtl="1" algn="r">
              <a:lnSpc>
                <a:spcPct val="135000"/>
              </a:lnSpc>
              <a:spcAft>
                <a:spcPts val="1600"/>
              </a:spcAft>
              <a:buSzPct val="100000"/>
              <a:buChar char="•"/>
            </a:pPr>
            <a:r>
              <a:rPr lang="en-US" sz="1600" dirty="0">
                <a:solidFill>
                  <a:srgbClr val="2E2D29"/>
                </a:solidFill>
                <a:latin typeface="Calibri" pitchFamily="34" charset="0"/>
                <a:ea typeface="Calibri" pitchFamily="34" charset="-122"/>
                <a:cs typeface="B Nazanin" pitchFamily="34" charset="-120"/>
              </a:rPr>
              <a:t>نتیجه این اندازه‌گیری، مبنای انتخاب آنتی‌بیوتیک برای بیمار است.</a:t>
            </a:r>
            <a:endParaRPr lang="en-US" sz="1600" dirty="0"/>
          </a:p>
          <a:p>
            <a:pPr marL="342900" indent="-342900" rtl="1" algn="r">
              <a:lnSpc>
                <a:spcPct val="135000"/>
              </a:lnSpc>
              <a:spcAft>
                <a:spcPts val="1600"/>
              </a:spcAft>
              <a:buSzPct val="100000"/>
              <a:buChar char="•"/>
            </a:pPr>
            <a:r>
              <a:rPr lang="en-US" sz="1600" dirty="0">
                <a:solidFill>
                  <a:srgbClr val="2E2D29"/>
                </a:solidFill>
                <a:latin typeface="Calibri" pitchFamily="34" charset="0"/>
                <a:ea typeface="Calibri" pitchFamily="34" charset="-122"/>
                <a:cs typeface="B Nazanin" pitchFamily="34" charset="-120"/>
              </a:rPr>
              <a:t>روش دستی سه محدودیت دارد: زمان‌بر بودن، وابستگی به تجربه فرد، و نبود ثبت دیجیتال.</a:t>
            </a:r>
            <a:endParaRPr lang="en-US" sz="1600" dirty="0"/>
          </a:p>
          <a:p>
            <a:pPr marL="342900" indent="-342900" rtl="1" algn="r">
              <a:lnSpc>
                <a:spcPct val="135000"/>
              </a:lnSpc>
              <a:spcAft>
                <a:spcPts val="1600"/>
              </a:spcAft>
              <a:buSzPct val="100000"/>
              <a:buChar char="•"/>
            </a:pPr>
            <a:r>
              <a:rPr lang="en-US" sz="1600" dirty="0">
                <a:solidFill>
                  <a:srgbClr val="2E2D29"/>
                </a:solidFill>
                <a:latin typeface="Calibri" pitchFamily="34" charset="0"/>
                <a:ea typeface="Calibri" pitchFamily="34" charset="-122"/>
                <a:cs typeface="B Nazanin" pitchFamily="34" charset="-120"/>
              </a:rPr>
              <a:t>در پژوهش حاضر، این اندازه‌گیری از روی تصویر معمولی و به صورت خودکار انجام می‌شود.</a:t>
            </a:r>
            <a:endParaRPr lang="en-US" sz="1600" dirty="0"/>
          </a:p>
        </p:txBody>
      </p:sp>
      <p:sp>
        <p:nvSpPr>
          <p:cNvPr id="5" name="Shape 3"/>
          <p:cNvSpPr/>
          <p:nvPr/>
        </p:nvSpPr>
        <p:spPr>
          <a:xfrm>
            <a:off x="579120" y="1371600"/>
            <a:ext cx="4206240" cy="4206240"/>
          </a:xfrm>
          <a:prstGeom prst="roundRect">
            <a:avLst>
              <a:gd name="adj" fmla="val 1739"/>
            </a:avLst>
          </a:prstGeom>
          <a:solidFill>
            <a:srgbClr val="F7F5F1"/>
          </a:solidFill>
          <a:ln/>
        </p:spPr>
      </p:sp>
      <p:sp>
        <p:nvSpPr>
          <p:cNvPr id="6" name="Shape 4"/>
          <p:cNvSpPr/>
          <p:nvPr/>
        </p:nvSpPr>
        <p:spPr>
          <a:xfrm>
            <a:off x="2179320" y="1828800"/>
            <a:ext cx="1005840" cy="1005840"/>
          </a:xfrm>
          <a:prstGeom prst="ellipse">
            <a:avLst/>
          </a:prstGeom>
          <a:solidFill>
            <a:srgbClr val="8C1515"/>
          </a:solidFill>
          <a:ln/>
        </p:spPr>
      </p:sp>
      <p:sp>
        <p:nvSpPr>
          <p:cNvPr id="7" name="Text 5"/>
          <p:cNvSpPr txBox="1"/>
          <p:nvPr/>
        </p:nvSpPr>
        <p:spPr>
          <a:xfrm>
            <a:off x="2179320" y="1828800"/>
            <a:ext cx="1005840" cy="1005840"/>
          </a:xfrm>
          <a:prstGeom prst="rect">
            <a:avLst/>
          </a:prstGeom>
          <a:noFill/>
          <a:ln/>
        </p:spPr>
        <p:txBody>
          <a:bodyPr wrap="square" rtlCol="0" anchor="ctr"/>
          <a:lstStyle/>
          <a:p>
            <a:pPr algn="ctr" indent="0" marL="0" rtl="1">
              <a:buNone/>
            </a:pPr>
            <a:r>
              <a:rPr lang="en-US" sz="3600" b="1" dirty="0">
                <a:solidFill>
                  <a:srgbClr val="FFFFFF"/>
                </a:solidFill>
                <a:latin typeface="Cambria" pitchFamily="34" charset="0"/>
                <a:ea typeface="Cambria" pitchFamily="34" charset="-122"/>
                <a:cs typeface="B Titr" pitchFamily="34" charset="-120"/>
              </a:rPr>
              <a:t>•</a:t>
            </a:r>
            <a:endParaRPr lang="en-US" sz="3600" dirty="0"/>
          </a:p>
        </p:txBody>
      </p:sp>
      <p:sp>
        <p:nvSpPr>
          <p:cNvPr id="8" name="Text 6"/>
          <p:cNvSpPr txBox="1"/>
          <p:nvPr/>
        </p:nvSpPr>
        <p:spPr>
          <a:xfrm>
            <a:off x="853440" y="3017520"/>
            <a:ext cx="3657600" cy="365760"/>
          </a:xfrm>
          <a:prstGeom prst="rect">
            <a:avLst/>
          </a:prstGeom>
          <a:noFill/>
          <a:ln/>
        </p:spPr>
        <p:txBody>
          <a:bodyPr wrap="square" rtlCol="0" anchor="ctr"/>
          <a:lstStyle/>
          <a:p>
            <a:pPr algn="ctr" indent="0" marL="0" rtl="1">
              <a:buNone/>
            </a:pPr>
            <a:r>
              <a:rPr lang="en-US" sz="1800" b="1" dirty="0">
                <a:solidFill>
                  <a:srgbClr val="8C1515"/>
                </a:solidFill>
                <a:latin typeface="Cambria" pitchFamily="34" charset="0"/>
                <a:ea typeface="Cambria" pitchFamily="34" charset="-122"/>
                <a:cs typeface="B Titr" pitchFamily="34" charset="-120"/>
              </a:rPr>
              <a:t>۱٫۲۷ میلیون مرگ</a:t>
            </a:r>
            <a:endParaRPr lang="en-US" sz="1800" dirty="0"/>
          </a:p>
        </p:txBody>
      </p:sp>
      <p:sp>
        <p:nvSpPr>
          <p:cNvPr id="9" name="Text 7"/>
          <p:cNvSpPr txBox="1"/>
          <p:nvPr/>
        </p:nvSpPr>
        <p:spPr>
          <a:xfrm>
            <a:off x="853440" y="3429000"/>
            <a:ext cx="3657600" cy="1920240"/>
          </a:xfrm>
          <a:prstGeom prst="rect">
            <a:avLst/>
          </a:prstGeom>
          <a:noFill/>
          <a:ln/>
        </p:spPr>
        <p:txBody>
          <a:bodyPr wrap="square" rtlCol="0" anchor="ctr"/>
          <a:lstStyle/>
          <a:p>
            <a:pPr algn="ctr" indent="0" marL="0" rtl="1">
              <a:lnSpc>
                <a:spcPct val="130000"/>
              </a:lnSpc>
              <a:buNone/>
            </a:pPr>
            <a:r>
              <a:rPr lang="en-US" sz="1300" dirty="0">
                <a:solidFill>
                  <a:srgbClr val="716E69"/>
                </a:solidFill>
                <a:latin typeface="Calibri" pitchFamily="34" charset="0"/>
                <a:ea typeface="Calibri" pitchFamily="34" charset="-122"/>
                <a:cs typeface="B Nazanin" pitchFamily="34" charset="-120"/>
              </a:rPr>
              <a:t>مرگ منتسب به مقاومت آنتی‌بیوتیکی در سال ۲۰۱۹</a:t>
            </a:r>
            <a:endParaRPr lang="en-US" sz="1300" dirty="0"/>
          </a:p>
        </p:txBody>
      </p:sp>
      <p:sp>
        <p:nvSpPr>
          <p:cNvPr id="10" name="Text 8"/>
          <p:cNvSpPr txBox="1"/>
          <p:nvPr/>
        </p:nvSpPr>
        <p:spPr>
          <a:xfrm>
            <a:off x="4328160" y="6473952"/>
            <a:ext cx="7315200" cy="274320"/>
          </a:xfrm>
          <a:prstGeom prst="rect">
            <a:avLst/>
          </a:prstGeom>
          <a:noFill/>
          <a:ln/>
        </p:spPr>
        <p:txBody>
          <a:bodyPr wrap="square" rtlCol="0" anchor="ctr"/>
          <a:lstStyle/>
          <a:p>
            <a:pPr indent="0" marL="0" rtl="1" algn="r">
              <a:buNone/>
            </a:pPr>
            <a:r>
              <a:rPr lang="en-US" sz="900" spc="200" kern="0" dirty="0">
                <a:solidFill>
                  <a:srgbClr val="716E69"/>
                </a:solidFill>
                <a:latin typeface="Calibri" pitchFamily="34" charset="0"/>
                <a:ea typeface="Calibri" pitchFamily="34" charset="-122"/>
                <a:cs typeface="B Nazanin" pitchFamily="34" charset="-120"/>
              </a:rPr>
              <a:t>مسئله و انگیزه</a:t>
            </a:r>
            <a:endParaRPr lang="en-US" sz="900" dirty="0"/>
          </a:p>
        </p:txBody>
      </p:sp>
      <p:sp>
        <p:nvSpPr>
          <p:cNvPr id="11" name="Text 9"/>
          <p:cNvSpPr txBox="1"/>
          <p:nvPr/>
        </p:nvSpPr>
        <p:spPr>
          <a:xfrm>
            <a:off x="185928" y="6473952"/>
            <a:ext cx="457200" cy="274320"/>
          </a:xfrm>
          <a:prstGeom prst="rect">
            <a:avLst/>
          </a:prstGeom>
          <a:noFill/>
          <a:ln/>
        </p:spPr>
        <p:txBody>
          <a:bodyPr wrap="square" rtlCol="0" anchor="ctr"/>
          <a:lstStyle/>
          <a:p>
            <a:pPr algn="r" indent="0" marL="0" rtl="1">
              <a:buNone/>
            </a:pPr>
            <a:r>
              <a:rPr lang="en-US" sz="900" dirty="0">
                <a:solidFill>
                  <a:srgbClr val="716E69"/>
                </a:solidFill>
                <a:latin typeface="Calibri" pitchFamily="34" charset="0"/>
                <a:ea typeface="Calibri" pitchFamily="34" charset="-122"/>
                <a:cs typeface="B Nazanin" pitchFamily="34" charset="-120"/>
              </a:rPr>
              <a:t>۴ / ۲۴</a:t>
            </a:r>
            <a:endParaRPr lang="en-US" sz="900" dirty="0"/>
          </a:p>
        </p:txBody>
      </p:sp>
      <p:sp>
        <p:nvSpPr>
          <p:cNvPr id="9001" name="progress track"/>
          <p:cNvSpPr/>
          <p:nvPr/>
        </p:nvSpPr>
        <p:spPr>
          <a:xfrm>
            <a:off x="0" y="6803000"/>
            <a:ext cx="12192000" cy="55000"/>
          </a:xfrm>
          <a:prstGeom prst="rect">
            <a:avLst/>
          </a:prstGeom>
          <a:solidFill>
            <a:srgbClr val="EDE9E5"/>
          </a:solidFill>
          <a:ln>
            <a:noFill/>
          </a:ln>
        </p:spPr>
        <p:txBody>
          <a:bodyPr/>
          <a:lstStyle/>
          <a:p/>
        </p:txBody>
      </p:sp>
      <p:sp>
        <p:nvSpPr>
          <p:cNvPr id="9002" name="progress fill"/>
          <p:cNvSpPr/>
          <p:nvPr/>
        </p:nvSpPr>
        <p:spPr>
          <a:xfrm>
            <a:off x="10160000" y="6803000"/>
            <a:ext cx="2032000" cy="55000"/>
          </a:xfrm>
          <a:prstGeom prst="rect">
            <a:avLst/>
          </a:prstGeom>
          <a:solidFill>
            <a:srgbClr val="8C1515"/>
          </a:solidFill>
          <a:ln>
            <a:noFill/>
          </a:ln>
        </p:spPr>
        <p:txBody>
          <a:bodyPr/>
          <a:lstStyle/>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11442192" y="475488"/>
            <a:ext cx="201168" cy="201168"/>
          </a:xfrm>
          <a:prstGeom prst="ellipse">
            <a:avLst/>
          </a:prstGeom>
          <a:solidFill>
            <a:srgbClr val="E98300"/>
          </a:solidFill>
          <a:ln/>
        </p:spPr>
      </p:sp>
      <p:sp>
        <p:nvSpPr>
          <p:cNvPr id="3" name="Text 1"/>
          <p:cNvSpPr txBox="1"/>
          <p:nvPr/>
        </p:nvSpPr>
        <p:spPr>
          <a:xfrm>
            <a:off x="1694688" y="347472"/>
            <a:ext cx="9601200" cy="502920"/>
          </a:xfrm>
          <a:prstGeom prst="rect">
            <a:avLst/>
          </a:prstGeom>
          <a:noFill/>
          <a:ln/>
        </p:spPr>
        <p:txBody>
          <a:bodyPr wrap="square" rtlCol="0" anchor="ctr"/>
          <a:lstStyle/>
          <a:p>
            <a:pPr indent="0" marL="0" rtl="1" algn="r">
              <a:buNone/>
            </a:pPr>
            <a:r>
              <a:rPr lang="en-US" sz="3000" b="1" dirty="0">
                <a:solidFill>
                  <a:srgbClr val="8C1515"/>
                </a:solidFill>
                <a:latin typeface="Cambria" pitchFamily="34" charset="0"/>
                <a:ea typeface="Cambria" pitchFamily="34" charset="-122"/>
                <a:cs typeface="B Titr" pitchFamily="34" charset="-120"/>
              </a:rPr>
              <a:t>اهداف پژوهش</a:t>
            </a:r>
            <a:endParaRPr lang="en-US" sz="3000" dirty="0"/>
          </a:p>
        </p:txBody>
      </p:sp>
      <p:sp>
        <p:nvSpPr>
          <p:cNvPr id="4" name="Shape 2"/>
          <p:cNvSpPr/>
          <p:nvPr/>
        </p:nvSpPr>
        <p:spPr>
          <a:xfrm>
            <a:off x="8122920" y="1371600"/>
            <a:ext cx="3520440" cy="4206240"/>
          </a:xfrm>
          <a:prstGeom prst="roundRect">
            <a:avLst>
              <a:gd name="adj" fmla="val 2078"/>
            </a:avLst>
          </a:prstGeom>
          <a:solidFill>
            <a:srgbClr val="F7F5F1"/>
          </a:solidFill>
          <a:ln/>
        </p:spPr>
      </p:sp>
      <p:sp>
        <p:nvSpPr>
          <p:cNvPr id="5" name="Shape 3"/>
          <p:cNvSpPr/>
          <p:nvPr/>
        </p:nvSpPr>
        <p:spPr>
          <a:xfrm>
            <a:off x="10683240" y="1737360"/>
            <a:ext cx="640080" cy="640080"/>
          </a:xfrm>
          <a:prstGeom prst="ellipse">
            <a:avLst/>
          </a:prstGeom>
          <a:solidFill>
            <a:srgbClr val="8C1515"/>
          </a:solidFill>
          <a:ln/>
        </p:spPr>
      </p:sp>
      <p:sp>
        <p:nvSpPr>
          <p:cNvPr id="6" name="Text 4"/>
          <p:cNvSpPr txBox="1"/>
          <p:nvPr/>
        </p:nvSpPr>
        <p:spPr>
          <a:xfrm>
            <a:off x="10683240" y="1737360"/>
            <a:ext cx="640080" cy="64008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۱</a:t>
            </a:r>
            <a:endParaRPr lang="en-US" sz="2000" dirty="0"/>
          </a:p>
        </p:txBody>
      </p:sp>
      <p:sp>
        <p:nvSpPr>
          <p:cNvPr id="7" name="Text 5"/>
          <p:cNvSpPr txBox="1"/>
          <p:nvPr/>
        </p:nvSpPr>
        <p:spPr>
          <a:xfrm>
            <a:off x="8397240" y="2468880"/>
            <a:ext cx="2971800" cy="320040"/>
          </a:xfrm>
          <a:prstGeom prst="rect">
            <a:avLst/>
          </a:prstGeom>
          <a:noFill/>
          <a:ln/>
        </p:spPr>
        <p:txBody>
          <a:bodyPr wrap="square" rtlCol="0" anchor="ctr"/>
          <a:lstStyle/>
          <a:p>
            <a:pPr indent="0" marL="0" rtl="1" algn="r">
              <a:buNone/>
            </a:pPr>
            <a:r>
              <a:rPr lang="en-US" sz="1200" b="1" spc="200" kern="0" dirty="0">
                <a:solidFill>
                  <a:srgbClr val="E98300"/>
                </a:solidFill>
                <a:latin typeface="Calibri" pitchFamily="34" charset="0"/>
                <a:ea typeface="Calibri" pitchFamily="34" charset="-122"/>
                <a:cs typeface="B Nazanin" pitchFamily="34" charset="-120"/>
              </a:rPr>
              <a:t>هدف یکم</a:t>
            </a:r>
            <a:endParaRPr lang="en-US" sz="1200" dirty="0"/>
          </a:p>
        </p:txBody>
      </p:sp>
      <p:sp>
        <p:nvSpPr>
          <p:cNvPr id="8" name="Text 6"/>
          <p:cNvSpPr txBox="1"/>
          <p:nvPr/>
        </p:nvSpPr>
        <p:spPr>
          <a:xfrm>
            <a:off x="8397240" y="2834640"/>
            <a:ext cx="2971800" cy="2468880"/>
          </a:xfrm>
          <a:prstGeom prst="rect">
            <a:avLst/>
          </a:prstGeom>
          <a:noFill/>
          <a:ln/>
        </p:spPr>
        <p:txBody>
          <a:bodyPr wrap="square" rtlCol="0" anchor="ctr"/>
          <a:lstStyle/>
          <a:p>
            <a:pPr indent="0" marL="0" rtl="1" algn="r">
              <a:lnSpc>
                <a:spcPct val="130000"/>
              </a:lnSpc>
              <a:buNone/>
            </a:pPr>
            <a:r>
              <a:rPr lang="en-US" sz="1400" dirty="0">
                <a:solidFill>
                  <a:srgbClr val="2E2D29"/>
                </a:solidFill>
                <a:latin typeface="Calibri" pitchFamily="34" charset="0"/>
                <a:ea typeface="Calibri" pitchFamily="34" charset="-122"/>
                <a:cs typeface="B Nazanin" pitchFamily="34" charset="-120"/>
              </a:rPr>
              <a:t>سنجش امکان اندازه‌گیری خودکار قطر هاله از تصویر معمولی و بدون تجهیزات ویژه.</a:t>
            </a:r>
            <a:endParaRPr lang="en-US" sz="1400" dirty="0"/>
          </a:p>
        </p:txBody>
      </p:sp>
      <p:sp>
        <p:nvSpPr>
          <p:cNvPr id="9" name="Shape 7"/>
          <p:cNvSpPr/>
          <p:nvPr/>
        </p:nvSpPr>
        <p:spPr>
          <a:xfrm>
            <a:off x="4282440" y="1371600"/>
            <a:ext cx="3520440" cy="4206240"/>
          </a:xfrm>
          <a:prstGeom prst="roundRect">
            <a:avLst>
              <a:gd name="adj" fmla="val 2078"/>
            </a:avLst>
          </a:prstGeom>
          <a:solidFill>
            <a:srgbClr val="F7F5F1"/>
          </a:solidFill>
          <a:ln/>
        </p:spPr>
      </p:sp>
      <p:sp>
        <p:nvSpPr>
          <p:cNvPr id="10" name="Shape 8"/>
          <p:cNvSpPr/>
          <p:nvPr/>
        </p:nvSpPr>
        <p:spPr>
          <a:xfrm>
            <a:off x="6842760" y="1737360"/>
            <a:ext cx="640080" cy="640080"/>
          </a:xfrm>
          <a:prstGeom prst="ellipse">
            <a:avLst/>
          </a:prstGeom>
          <a:solidFill>
            <a:srgbClr val="8C1515"/>
          </a:solidFill>
          <a:ln/>
        </p:spPr>
      </p:sp>
      <p:sp>
        <p:nvSpPr>
          <p:cNvPr id="11" name="Text 9"/>
          <p:cNvSpPr txBox="1"/>
          <p:nvPr/>
        </p:nvSpPr>
        <p:spPr>
          <a:xfrm>
            <a:off x="6842760" y="1737360"/>
            <a:ext cx="640080" cy="64008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۲</a:t>
            </a:r>
            <a:endParaRPr lang="en-US" sz="2000" dirty="0"/>
          </a:p>
        </p:txBody>
      </p:sp>
      <p:sp>
        <p:nvSpPr>
          <p:cNvPr id="12" name="Text 10"/>
          <p:cNvSpPr txBox="1"/>
          <p:nvPr/>
        </p:nvSpPr>
        <p:spPr>
          <a:xfrm>
            <a:off x="4556760" y="2468880"/>
            <a:ext cx="2971800" cy="320040"/>
          </a:xfrm>
          <a:prstGeom prst="rect">
            <a:avLst/>
          </a:prstGeom>
          <a:noFill/>
          <a:ln/>
        </p:spPr>
        <p:txBody>
          <a:bodyPr wrap="square" rtlCol="0" anchor="ctr"/>
          <a:lstStyle/>
          <a:p>
            <a:pPr indent="0" marL="0" rtl="1" algn="r">
              <a:buNone/>
            </a:pPr>
            <a:r>
              <a:rPr lang="en-US" sz="1200" b="1" spc="200" kern="0" dirty="0">
                <a:solidFill>
                  <a:srgbClr val="E98300"/>
                </a:solidFill>
                <a:latin typeface="Calibri" pitchFamily="34" charset="0"/>
                <a:ea typeface="Calibri" pitchFamily="34" charset="-122"/>
                <a:cs typeface="B Nazanin" pitchFamily="34" charset="-120"/>
              </a:rPr>
              <a:t>هدف دوم</a:t>
            </a:r>
            <a:endParaRPr lang="en-US" sz="1200" dirty="0"/>
          </a:p>
        </p:txBody>
      </p:sp>
      <p:sp>
        <p:nvSpPr>
          <p:cNvPr id="13" name="Text 11"/>
          <p:cNvSpPr txBox="1"/>
          <p:nvPr/>
        </p:nvSpPr>
        <p:spPr>
          <a:xfrm>
            <a:off x="4556760" y="2834640"/>
            <a:ext cx="2971800" cy="2468880"/>
          </a:xfrm>
          <a:prstGeom prst="rect">
            <a:avLst/>
          </a:prstGeom>
          <a:noFill/>
          <a:ln/>
        </p:spPr>
        <p:txBody>
          <a:bodyPr wrap="square" rtlCol="0" anchor="ctr"/>
          <a:lstStyle/>
          <a:p>
            <a:pPr indent="0" marL="0" rtl="1" algn="r">
              <a:lnSpc>
                <a:spcPct val="130000"/>
              </a:lnSpc>
              <a:buNone/>
            </a:pPr>
            <a:r>
              <a:rPr lang="en-US" sz="1400" dirty="0">
                <a:solidFill>
                  <a:srgbClr val="2E2D29"/>
                </a:solidFill>
                <a:latin typeface="Calibri" pitchFamily="34" charset="0"/>
                <a:ea typeface="Calibri" pitchFamily="34" charset="-122"/>
                <a:cs typeface="B Nazanin" pitchFamily="34" charset="-120"/>
              </a:rPr>
              <a:t>تعیین دقت این اندازه‌گیری در مقایسه با خوانش کارشناس.</a:t>
            </a:r>
            <a:endParaRPr lang="en-US" sz="1400" dirty="0"/>
          </a:p>
        </p:txBody>
      </p:sp>
      <p:sp>
        <p:nvSpPr>
          <p:cNvPr id="14" name="Shape 12"/>
          <p:cNvSpPr/>
          <p:nvPr/>
        </p:nvSpPr>
        <p:spPr>
          <a:xfrm>
            <a:off x="441960" y="1371600"/>
            <a:ext cx="3520440" cy="4206240"/>
          </a:xfrm>
          <a:prstGeom prst="roundRect">
            <a:avLst>
              <a:gd name="adj" fmla="val 2078"/>
            </a:avLst>
          </a:prstGeom>
          <a:solidFill>
            <a:srgbClr val="F7F5F1"/>
          </a:solidFill>
          <a:ln/>
        </p:spPr>
      </p:sp>
      <p:sp>
        <p:nvSpPr>
          <p:cNvPr id="15" name="Shape 13"/>
          <p:cNvSpPr/>
          <p:nvPr/>
        </p:nvSpPr>
        <p:spPr>
          <a:xfrm>
            <a:off x="3002280" y="1737360"/>
            <a:ext cx="640080" cy="640080"/>
          </a:xfrm>
          <a:prstGeom prst="ellipse">
            <a:avLst/>
          </a:prstGeom>
          <a:solidFill>
            <a:srgbClr val="8C1515"/>
          </a:solidFill>
          <a:ln/>
        </p:spPr>
      </p:sp>
      <p:sp>
        <p:nvSpPr>
          <p:cNvPr id="16" name="Text 14"/>
          <p:cNvSpPr txBox="1"/>
          <p:nvPr/>
        </p:nvSpPr>
        <p:spPr>
          <a:xfrm>
            <a:off x="3002280" y="1737360"/>
            <a:ext cx="640080" cy="64008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۳</a:t>
            </a:r>
            <a:endParaRPr lang="en-US" sz="2000" dirty="0"/>
          </a:p>
        </p:txBody>
      </p:sp>
      <p:sp>
        <p:nvSpPr>
          <p:cNvPr id="17" name="Text 15"/>
          <p:cNvSpPr txBox="1"/>
          <p:nvPr/>
        </p:nvSpPr>
        <p:spPr>
          <a:xfrm>
            <a:off x="716280" y="2468880"/>
            <a:ext cx="2971800" cy="320040"/>
          </a:xfrm>
          <a:prstGeom prst="rect">
            <a:avLst/>
          </a:prstGeom>
          <a:noFill/>
          <a:ln/>
        </p:spPr>
        <p:txBody>
          <a:bodyPr wrap="square" rtlCol="0" anchor="ctr"/>
          <a:lstStyle/>
          <a:p>
            <a:pPr indent="0" marL="0" rtl="1" algn="r">
              <a:buNone/>
            </a:pPr>
            <a:r>
              <a:rPr lang="en-US" sz="1200" b="1" spc="200" kern="0" dirty="0">
                <a:solidFill>
                  <a:srgbClr val="E98300"/>
                </a:solidFill>
                <a:latin typeface="Calibri" pitchFamily="34" charset="0"/>
                <a:ea typeface="Calibri" pitchFamily="34" charset="-122"/>
                <a:cs typeface="B Nazanin" pitchFamily="34" charset="-120"/>
              </a:rPr>
              <a:t>هدف سوم</a:t>
            </a:r>
            <a:endParaRPr lang="en-US" sz="1200" dirty="0"/>
          </a:p>
        </p:txBody>
      </p:sp>
      <p:sp>
        <p:nvSpPr>
          <p:cNvPr id="18" name="Text 16"/>
          <p:cNvSpPr txBox="1"/>
          <p:nvPr/>
        </p:nvSpPr>
        <p:spPr>
          <a:xfrm>
            <a:off x="716280" y="2834640"/>
            <a:ext cx="2971800" cy="2468880"/>
          </a:xfrm>
          <a:prstGeom prst="rect">
            <a:avLst/>
          </a:prstGeom>
          <a:noFill/>
          <a:ln/>
        </p:spPr>
        <p:txBody>
          <a:bodyPr wrap="square" rtlCol="0" anchor="ctr"/>
          <a:lstStyle/>
          <a:p>
            <a:pPr indent="0" marL="0" rtl="1" algn="r">
              <a:lnSpc>
                <a:spcPct val="130000"/>
              </a:lnSpc>
              <a:buNone/>
            </a:pPr>
            <a:r>
              <a:rPr lang="en-US" sz="1400" dirty="0">
                <a:solidFill>
                  <a:srgbClr val="2E2D29"/>
                </a:solidFill>
                <a:latin typeface="Calibri" pitchFamily="34" charset="0"/>
                <a:ea typeface="Calibri" pitchFamily="34" charset="-122"/>
                <a:cs typeface="B Nazanin" pitchFamily="34" charset="-120"/>
              </a:rPr>
              <a:t>ارزیابی کفایت این دقت برای تصمیم بالینی و شناسایی عامل محدودکننده آن.</a:t>
            </a:r>
            <a:endParaRPr lang="en-US" sz="1400" dirty="0"/>
          </a:p>
        </p:txBody>
      </p:sp>
      <p:sp>
        <p:nvSpPr>
          <p:cNvPr id="19" name="Text 17"/>
          <p:cNvSpPr txBox="1"/>
          <p:nvPr/>
        </p:nvSpPr>
        <p:spPr>
          <a:xfrm>
            <a:off x="4328160" y="6473952"/>
            <a:ext cx="7315200" cy="274320"/>
          </a:xfrm>
          <a:prstGeom prst="rect">
            <a:avLst/>
          </a:prstGeom>
          <a:noFill/>
          <a:ln/>
        </p:spPr>
        <p:txBody>
          <a:bodyPr wrap="square" rtlCol="0" anchor="ctr"/>
          <a:lstStyle/>
          <a:p>
            <a:pPr indent="0" marL="0" rtl="1" algn="r">
              <a:buNone/>
            </a:pPr>
            <a:r>
              <a:rPr lang="en-US" sz="900" spc="200" kern="0" dirty="0">
                <a:solidFill>
                  <a:srgbClr val="716E69"/>
                </a:solidFill>
                <a:latin typeface="Calibri" pitchFamily="34" charset="0"/>
                <a:ea typeface="Calibri" pitchFamily="34" charset="-122"/>
                <a:cs typeface="B Nazanin" pitchFamily="34" charset="-120"/>
              </a:rPr>
              <a:t>هدف و کارهای پیشین</a:t>
            </a:r>
            <a:endParaRPr lang="en-US" sz="900" dirty="0"/>
          </a:p>
        </p:txBody>
      </p:sp>
      <p:sp>
        <p:nvSpPr>
          <p:cNvPr id="20" name="Text 18"/>
          <p:cNvSpPr txBox="1"/>
          <p:nvPr/>
        </p:nvSpPr>
        <p:spPr>
          <a:xfrm>
            <a:off x="185928" y="6473952"/>
            <a:ext cx="457200" cy="274320"/>
          </a:xfrm>
          <a:prstGeom prst="rect">
            <a:avLst/>
          </a:prstGeom>
          <a:noFill/>
          <a:ln/>
        </p:spPr>
        <p:txBody>
          <a:bodyPr wrap="square" rtlCol="0" anchor="ctr"/>
          <a:lstStyle/>
          <a:p>
            <a:pPr algn="r" indent="0" marL="0" rtl="1">
              <a:buNone/>
            </a:pPr>
            <a:r>
              <a:rPr lang="en-US" sz="900" dirty="0">
                <a:solidFill>
                  <a:srgbClr val="716E69"/>
                </a:solidFill>
                <a:latin typeface="Calibri" pitchFamily="34" charset="0"/>
                <a:ea typeface="Calibri" pitchFamily="34" charset="-122"/>
                <a:cs typeface="B Nazanin" pitchFamily="34" charset="-120"/>
              </a:rPr>
              <a:t>۶ / ۲۴</a:t>
            </a:r>
            <a:endParaRPr lang="en-US" sz="900" dirty="0"/>
          </a:p>
        </p:txBody>
      </p:sp>
      <p:sp>
        <p:nvSpPr>
          <p:cNvPr id="9001" name="progress track"/>
          <p:cNvSpPr/>
          <p:nvPr/>
        </p:nvSpPr>
        <p:spPr>
          <a:xfrm>
            <a:off x="0" y="6803000"/>
            <a:ext cx="12192000" cy="55000"/>
          </a:xfrm>
          <a:prstGeom prst="rect">
            <a:avLst/>
          </a:prstGeom>
          <a:solidFill>
            <a:srgbClr val="EDE9E5"/>
          </a:solidFill>
          <a:ln>
            <a:noFill/>
          </a:ln>
        </p:spPr>
        <p:txBody>
          <a:bodyPr/>
          <a:lstStyle/>
          <a:p/>
        </p:txBody>
      </p:sp>
      <p:sp>
        <p:nvSpPr>
          <p:cNvPr id="9002" name="progress fill"/>
          <p:cNvSpPr/>
          <p:nvPr/>
        </p:nvSpPr>
        <p:spPr>
          <a:xfrm>
            <a:off x="9144000" y="6803000"/>
            <a:ext cx="3048000" cy="55000"/>
          </a:xfrm>
          <a:prstGeom prst="rect">
            <a:avLst/>
          </a:prstGeom>
          <a:solidFill>
            <a:srgbClr val="8C1515"/>
          </a:solidFill>
          <a:ln>
            <a:noFill/>
          </a:ln>
        </p:spPr>
        <p:txBody>
          <a:bodyPr/>
          <a:lstStyle/>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11442192" y="475488"/>
            <a:ext cx="201168" cy="201168"/>
          </a:xfrm>
          <a:prstGeom prst="ellipse">
            <a:avLst/>
          </a:prstGeom>
          <a:solidFill>
            <a:srgbClr val="E98300"/>
          </a:solidFill>
          <a:ln/>
        </p:spPr>
      </p:sp>
      <p:sp>
        <p:nvSpPr>
          <p:cNvPr id="3" name="Text 1"/>
          <p:cNvSpPr txBox="1"/>
          <p:nvPr/>
        </p:nvSpPr>
        <p:spPr>
          <a:xfrm>
            <a:off x="1694688" y="347472"/>
            <a:ext cx="9601200" cy="502920"/>
          </a:xfrm>
          <a:prstGeom prst="rect">
            <a:avLst/>
          </a:prstGeom>
          <a:noFill/>
          <a:ln/>
        </p:spPr>
        <p:txBody>
          <a:bodyPr wrap="square" rtlCol="0" anchor="ctr"/>
          <a:lstStyle/>
          <a:p>
            <a:pPr indent="0" marL="0" rtl="1" algn="r">
              <a:buNone/>
            </a:pPr>
            <a:r>
              <a:rPr lang="en-US" sz="3000" b="1" dirty="0">
                <a:solidFill>
                  <a:srgbClr val="8C1515"/>
                </a:solidFill>
                <a:latin typeface="Cambria" pitchFamily="34" charset="0"/>
                <a:ea typeface="Cambria" pitchFamily="34" charset="-122"/>
                <a:cs typeface="B Titr" pitchFamily="34" charset="-120"/>
              </a:rPr>
              <a:t>کارهای پیشین و جای این پژوهش</a:t>
            </a:r>
            <a:endParaRPr lang="en-US" sz="3000" dirty="0"/>
          </a:p>
        </p:txBody>
      </p:sp>
      <p:sp>
        <p:nvSpPr>
          <p:cNvPr id="4" name="Shape 2"/>
          <p:cNvSpPr/>
          <p:nvPr/>
        </p:nvSpPr>
        <p:spPr>
          <a:xfrm>
            <a:off x="6431280" y="1325880"/>
            <a:ext cx="5212080" cy="1965960"/>
          </a:xfrm>
          <a:prstGeom prst="roundRect">
            <a:avLst>
              <a:gd name="adj" fmla="val 3721"/>
            </a:avLst>
          </a:prstGeom>
          <a:solidFill>
            <a:srgbClr val="F7F5F1"/>
          </a:solidFill>
          <a:ln/>
        </p:spPr>
      </p:sp>
      <p:sp>
        <p:nvSpPr>
          <p:cNvPr id="5" name="Shape 3"/>
          <p:cNvSpPr/>
          <p:nvPr/>
        </p:nvSpPr>
        <p:spPr>
          <a:xfrm>
            <a:off x="11167872" y="1545336"/>
            <a:ext cx="201168" cy="201168"/>
          </a:xfrm>
          <a:prstGeom prst="ellipse">
            <a:avLst/>
          </a:prstGeom>
          <a:solidFill>
            <a:srgbClr val="8C1515"/>
          </a:solidFill>
          <a:ln/>
        </p:spPr>
      </p:sp>
      <p:sp>
        <p:nvSpPr>
          <p:cNvPr id="6" name="Text 4"/>
          <p:cNvSpPr txBox="1"/>
          <p:nvPr/>
        </p:nvSpPr>
        <p:spPr>
          <a:xfrm>
            <a:off x="6705600" y="1472184"/>
            <a:ext cx="4343400" cy="365760"/>
          </a:xfrm>
          <a:prstGeom prst="rect">
            <a:avLst/>
          </a:prstGeom>
          <a:noFill/>
          <a:ln/>
        </p:spPr>
        <p:txBody>
          <a:bodyPr wrap="square" rtlCol="0" anchor="ctr"/>
          <a:lstStyle/>
          <a:p>
            <a:pPr indent="0" marL="0" rtl="1" algn="r">
              <a:buNone/>
            </a:pPr>
            <a:r>
              <a:rPr lang="en-US" sz="1600" b="1" dirty="0">
                <a:solidFill>
                  <a:srgbClr val="8C1515"/>
                </a:solidFill>
                <a:latin typeface="Cambria" pitchFamily="34" charset="0"/>
                <a:ea typeface="Cambria" pitchFamily="34" charset="-122"/>
                <a:cs typeface="B Titr" pitchFamily="34" charset="-120"/>
              </a:rPr>
              <a:t>ابزارهای متن‌باز</a:t>
            </a:r>
            <a:endParaRPr lang="en-US" sz="1600" dirty="0"/>
          </a:p>
        </p:txBody>
      </p:sp>
      <p:sp>
        <p:nvSpPr>
          <p:cNvPr id="7" name="Text 5"/>
          <p:cNvSpPr txBox="1"/>
          <p:nvPr/>
        </p:nvSpPr>
        <p:spPr>
          <a:xfrm>
            <a:off x="6659880" y="1892808"/>
            <a:ext cx="4663440" cy="1280160"/>
          </a:xfrm>
          <a:prstGeom prst="rect">
            <a:avLst/>
          </a:prstGeom>
          <a:noFill/>
          <a:ln/>
        </p:spPr>
        <p:txBody>
          <a:bodyPr wrap="square" rtlCol="0" anchor="ctr"/>
          <a:lstStyle/>
          <a:p>
            <a:pPr indent="0" marL="0" rtl="1" algn="r">
              <a:lnSpc>
                <a:spcPct val="125000"/>
              </a:lnSpc>
              <a:buNone/>
            </a:pPr>
            <a:r>
              <a:rPr lang="en-US" sz="1250" dirty="0">
                <a:solidFill>
                  <a:srgbClr val="2E2D29"/>
                </a:solidFill>
                <a:latin typeface="Calibri" pitchFamily="34" charset="0"/>
                <a:ea typeface="Calibri" pitchFamily="34" charset="-122"/>
                <a:cs typeface="B Nazanin" pitchFamily="34" charset="-120"/>
              </a:rPr>
              <a:t>ابزار AntibiogramJ بر پایه آستانه‌گذاری کلاسیک، با توافق گزارش‌شده حدود ۸۷ درصد. از نظر فناوری نزدیک‌ترین کار به پژوهش حاضر است.</a:t>
            </a:r>
            <a:endParaRPr lang="en-US" sz="1250" dirty="0"/>
          </a:p>
        </p:txBody>
      </p:sp>
      <p:sp>
        <p:nvSpPr>
          <p:cNvPr id="8" name="Shape 6"/>
          <p:cNvSpPr/>
          <p:nvPr/>
        </p:nvSpPr>
        <p:spPr>
          <a:xfrm>
            <a:off x="899160" y="1325880"/>
            <a:ext cx="5212080" cy="1965960"/>
          </a:xfrm>
          <a:prstGeom prst="roundRect">
            <a:avLst>
              <a:gd name="adj" fmla="val 3721"/>
            </a:avLst>
          </a:prstGeom>
          <a:solidFill>
            <a:srgbClr val="F7F5F1"/>
          </a:solidFill>
          <a:ln/>
        </p:spPr>
      </p:sp>
      <p:sp>
        <p:nvSpPr>
          <p:cNvPr id="9" name="Shape 7"/>
          <p:cNvSpPr/>
          <p:nvPr/>
        </p:nvSpPr>
        <p:spPr>
          <a:xfrm>
            <a:off x="5635752" y="1545336"/>
            <a:ext cx="201168" cy="201168"/>
          </a:xfrm>
          <a:prstGeom prst="ellipse">
            <a:avLst/>
          </a:prstGeom>
          <a:solidFill>
            <a:srgbClr val="E98300"/>
          </a:solidFill>
          <a:ln/>
        </p:spPr>
      </p:sp>
      <p:sp>
        <p:nvSpPr>
          <p:cNvPr id="10" name="Text 8"/>
          <p:cNvSpPr txBox="1"/>
          <p:nvPr/>
        </p:nvSpPr>
        <p:spPr>
          <a:xfrm>
            <a:off x="1173480" y="1472184"/>
            <a:ext cx="4343400" cy="365760"/>
          </a:xfrm>
          <a:prstGeom prst="rect">
            <a:avLst/>
          </a:prstGeom>
          <a:noFill/>
          <a:ln/>
        </p:spPr>
        <p:txBody>
          <a:bodyPr wrap="square" rtlCol="0" anchor="ctr"/>
          <a:lstStyle/>
          <a:p>
            <a:pPr indent="0" marL="0" rtl="1" algn="r">
              <a:buNone/>
            </a:pPr>
            <a:r>
              <a:rPr lang="en-US" sz="1600" b="1" dirty="0">
                <a:solidFill>
                  <a:srgbClr val="E98300"/>
                </a:solidFill>
                <a:latin typeface="Cambria" pitchFamily="34" charset="0"/>
                <a:ea typeface="Cambria" pitchFamily="34" charset="-122"/>
                <a:cs typeface="B Titr" pitchFamily="34" charset="-120"/>
              </a:rPr>
              <a:t>روش‌های یادگیری عمیق</a:t>
            </a:r>
            <a:endParaRPr lang="en-US" sz="1600" dirty="0"/>
          </a:p>
        </p:txBody>
      </p:sp>
      <p:sp>
        <p:nvSpPr>
          <p:cNvPr id="11" name="Text 9"/>
          <p:cNvSpPr txBox="1"/>
          <p:nvPr/>
        </p:nvSpPr>
        <p:spPr>
          <a:xfrm>
            <a:off x="1127760" y="1892808"/>
            <a:ext cx="4663440" cy="1280160"/>
          </a:xfrm>
          <a:prstGeom prst="rect">
            <a:avLst/>
          </a:prstGeom>
          <a:noFill/>
          <a:ln/>
        </p:spPr>
        <p:txBody>
          <a:bodyPr wrap="square" rtlCol="0" anchor="ctr"/>
          <a:lstStyle/>
          <a:p>
            <a:pPr indent="0" marL="0" rtl="1" algn="r">
              <a:lnSpc>
                <a:spcPct val="125000"/>
              </a:lnSpc>
              <a:buNone/>
            </a:pPr>
            <a:r>
              <a:rPr lang="en-US" sz="1250" dirty="0">
                <a:solidFill>
                  <a:srgbClr val="2E2D29"/>
                </a:solidFill>
                <a:latin typeface="Calibri" pitchFamily="34" charset="0"/>
                <a:ea typeface="Calibri" pitchFamily="34" charset="-122"/>
                <a:cs typeface="B Nazanin" pitchFamily="34" charset="-120"/>
              </a:rPr>
              <a:t>یک برنامه تلفن همراه با توافق گزارش‌شده ۹۸ درصد. دقت عددی این دسته از سامانه حاضر بالاتر است.</a:t>
            </a:r>
            <a:endParaRPr lang="en-US" sz="1250" dirty="0"/>
          </a:p>
        </p:txBody>
      </p:sp>
      <p:sp>
        <p:nvSpPr>
          <p:cNvPr id="12" name="Shape 10"/>
          <p:cNvSpPr/>
          <p:nvPr/>
        </p:nvSpPr>
        <p:spPr>
          <a:xfrm>
            <a:off x="6431280" y="3566160"/>
            <a:ext cx="5212080" cy="1965960"/>
          </a:xfrm>
          <a:prstGeom prst="roundRect">
            <a:avLst>
              <a:gd name="adj" fmla="val 3721"/>
            </a:avLst>
          </a:prstGeom>
          <a:solidFill>
            <a:srgbClr val="F7F5F1"/>
          </a:solidFill>
          <a:ln/>
        </p:spPr>
      </p:sp>
      <p:sp>
        <p:nvSpPr>
          <p:cNvPr id="13" name="Shape 11"/>
          <p:cNvSpPr/>
          <p:nvPr/>
        </p:nvSpPr>
        <p:spPr>
          <a:xfrm>
            <a:off x="11167872" y="3785616"/>
            <a:ext cx="201168" cy="201168"/>
          </a:xfrm>
          <a:prstGeom prst="ellipse">
            <a:avLst/>
          </a:prstGeom>
          <a:solidFill>
            <a:srgbClr val="007C92"/>
          </a:solidFill>
          <a:ln/>
        </p:spPr>
      </p:sp>
      <p:sp>
        <p:nvSpPr>
          <p:cNvPr id="14" name="Text 12"/>
          <p:cNvSpPr txBox="1"/>
          <p:nvPr/>
        </p:nvSpPr>
        <p:spPr>
          <a:xfrm>
            <a:off x="6705600" y="3712464"/>
            <a:ext cx="4343400" cy="365760"/>
          </a:xfrm>
          <a:prstGeom prst="rect">
            <a:avLst/>
          </a:prstGeom>
          <a:noFill/>
          <a:ln/>
        </p:spPr>
        <p:txBody>
          <a:bodyPr wrap="square" rtlCol="0" anchor="ctr"/>
          <a:lstStyle/>
          <a:p>
            <a:pPr indent="0" marL="0" rtl="1" algn="r">
              <a:buNone/>
            </a:pPr>
            <a:r>
              <a:rPr lang="en-US" sz="1600" b="1" dirty="0">
                <a:solidFill>
                  <a:srgbClr val="007C92"/>
                </a:solidFill>
                <a:latin typeface="Cambria" pitchFamily="34" charset="0"/>
                <a:ea typeface="Cambria" pitchFamily="34" charset="-122"/>
                <a:cs typeface="B Titr" pitchFamily="34" charset="-120"/>
              </a:rPr>
              <a:t>روش‌های نوری جایگزین</a:t>
            </a:r>
            <a:endParaRPr lang="en-US" sz="1600" dirty="0"/>
          </a:p>
        </p:txBody>
      </p:sp>
      <p:sp>
        <p:nvSpPr>
          <p:cNvPr id="15" name="Text 13"/>
          <p:cNvSpPr txBox="1"/>
          <p:nvPr/>
        </p:nvSpPr>
        <p:spPr>
          <a:xfrm>
            <a:off x="6659880" y="4133088"/>
            <a:ext cx="4663440" cy="1280160"/>
          </a:xfrm>
          <a:prstGeom prst="rect">
            <a:avLst/>
          </a:prstGeom>
          <a:noFill/>
          <a:ln/>
        </p:spPr>
        <p:txBody>
          <a:bodyPr wrap="square" rtlCol="0" anchor="ctr"/>
          <a:lstStyle/>
          <a:p>
            <a:pPr indent="0" marL="0" rtl="1" algn="r">
              <a:lnSpc>
                <a:spcPct val="125000"/>
              </a:lnSpc>
              <a:buNone/>
            </a:pPr>
            <a:r>
              <a:rPr lang="en-US" sz="1250" dirty="0">
                <a:solidFill>
                  <a:srgbClr val="2E2D29"/>
                </a:solidFill>
                <a:latin typeface="Calibri" pitchFamily="34" charset="0"/>
                <a:ea typeface="Calibri" pitchFamily="34" charset="-122"/>
                <a:cs typeface="B Nazanin" pitchFamily="34" charset="-120"/>
              </a:rPr>
              <a:t>تصویربرداری لکه لیزری، با تعیین داروی موثر در کمتر از سه ساعت. تمرکز این دسته بر تغییر سازوکار تصویربرداری است.</a:t>
            </a:r>
            <a:endParaRPr lang="en-US" sz="1250" dirty="0"/>
          </a:p>
        </p:txBody>
      </p:sp>
      <p:sp>
        <p:nvSpPr>
          <p:cNvPr id="16" name="Shape 14"/>
          <p:cNvSpPr/>
          <p:nvPr/>
        </p:nvSpPr>
        <p:spPr>
          <a:xfrm>
            <a:off x="899160" y="3566160"/>
            <a:ext cx="5212080" cy="1965960"/>
          </a:xfrm>
          <a:prstGeom prst="roundRect">
            <a:avLst>
              <a:gd name="adj" fmla="val 3721"/>
            </a:avLst>
          </a:prstGeom>
          <a:solidFill>
            <a:srgbClr val="F7F5F1"/>
          </a:solidFill>
          <a:ln/>
        </p:spPr>
      </p:sp>
      <p:sp>
        <p:nvSpPr>
          <p:cNvPr id="17" name="Shape 15"/>
          <p:cNvSpPr/>
          <p:nvPr/>
        </p:nvSpPr>
        <p:spPr>
          <a:xfrm>
            <a:off x="5635752" y="3785616"/>
            <a:ext cx="201168" cy="201168"/>
          </a:xfrm>
          <a:prstGeom prst="ellipse">
            <a:avLst/>
          </a:prstGeom>
          <a:solidFill>
            <a:srgbClr val="279989"/>
          </a:solidFill>
          <a:ln/>
        </p:spPr>
      </p:sp>
      <p:sp>
        <p:nvSpPr>
          <p:cNvPr id="18" name="Text 16"/>
          <p:cNvSpPr txBox="1"/>
          <p:nvPr/>
        </p:nvSpPr>
        <p:spPr>
          <a:xfrm>
            <a:off x="1173480" y="3712464"/>
            <a:ext cx="4343400" cy="365760"/>
          </a:xfrm>
          <a:prstGeom prst="rect">
            <a:avLst/>
          </a:prstGeom>
          <a:noFill/>
          <a:ln/>
        </p:spPr>
        <p:txBody>
          <a:bodyPr wrap="square" rtlCol="0" anchor="ctr"/>
          <a:lstStyle/>
          <a:p>
            <a:pPr indent="0" marL="0" rtl="1" algn="r">
              <a:buNone/>
            </a:pPr>
            <a:r>
              <a:rPr lang="en-US" sz="1600" b="1" dirty="0">
                <a:solidFill>
                  <a:srgbClr val="279989"/>
                </a:solidFill>
                <a:latin typeface="Cambria" pitchFamily="34" charset="0"/>
                <a:ea typeface="Cambria" pitchFamily="34" charset="-122"/>
                <a:cs typeface="B Titr" pitchFamily="34" charset="-120"/>
              </a:rPr>
              <a:t>جای این پژوهش</a:t>
            </a:r>
            <a:endParaRPr lang="en-US" sz="1600" dirty="0"/>
          </a:p>
        </p:txBody>
      </p:sp>
      <p:sp>
        <p:nvSpPr>
          <p:cNvPr id="19" name="Text 17"/>
          <p:cNvSpPr txBox="1"/>
          <p:nvPr/>
        </p:nvSpPr>
        <p:spPr>
          <a:xfrm>
            <a:off x="1127760" y="4133088"/>
            <a:ext cx="4663440" cy="1280160"/>
          </a:xfrm>
          <a:prstGeom prst="rect">
            <a:avLst/>
          </a:prstGeom>
          <a:noFill/>
          <a:ln/>
        </p:spPr>
        <p:txBody>
          <a:bodyPr wrap="square" rtlCol="0" anchor="ctr"/>
          <a:lstStyle/>
          <a:p>
            <a:pPr indent="0" marL="0" rtl="1" algn="r">
              <a:lnSpc>
                <a:spcPct val="125000"/>
              </a:lnSpc>
              <a:buNone/>
            </a:pPr>
            <a:r>
              <a:rPr lang="en-US" sz="1250" dirty="0">
                <a:solidFill>
                  <a:srgbClr val="2E2D29"/>
                </a:solidFill>
                <a:latin typeface="Calibri" pitchFamily="34" charset="0"/>
                <a:ea typeface="Calibri" pitchFamily="34" charset="-122"/>
                <a:cs typeface="B Nazanin" pitchFamily="34" charset="-120"/>
              </a:rPr>
              <a:t>یک زنجیره پردازش کاملاً قطعی، و اندازه‌گیری کمی عامل خطای باقی‌مانده.</a:t>
            </a:r>
            <a:endParaRPr lang="en-US" sz="1250" dirty="0"/>
          </a:p>
        </p:txBody>
      </p:sp>
      <p:sp>
        <p:nvSpPr>
          <p:cNvPr id="20" name="Text 18"/>
          <p:cNvSpPr txBox="1"/>
          <p:nvPr/>
        </p:nvSpPr>
        <p:spPr>
          <a:xfrm>
            <a:off x="4328160" y="6473952"/>
            <a:ext cx="7315200" cy="274320"/>
          </a:xfrm>
          <a:prstGeom prst="rect">
            <a:avLst/>
          </a:prstGeom>
          <a:noFill/>
          <a:ln/>
        </p:spPr>
        <p:txBody>
          <a:bodyPr wrap="square" rtlCol="0" anchor="ctr"/>
          <a:lstStyle/>
          <a:p>
            <a:pPr indent="0" marL="0" rtl="1" algn="r">
              <a:buNone/>
            </a:pPr>
            <a:r>
              <a:rPr lang="en-US" sz="900" spc="200" kern="0" dirty="0">
                <a:solidFill>
                  <a:srgbClr val="716E69"/>
                </a:solidFill>
                <a:latin typeface="Calibri" pitchFamily="34" charset="0"/>
                <a:ea typeface="Calibri" pitchFamily="34" charset="-122"/>
                <a:cs typeface="B Nazanin" pitchFamily="34" charset="-120"/>
              </a:rPr>
              <a:t>هدف و کارهای پیشین</a:t>
            </a:r>
            <a:endParaRPr lang="en-US" sz="900" dirty="0"/>
          </a:p>
        </p:txBody>
      </p:sp>
      <p:sp>
        <p:nvSpPr>
          <p:cNvPr id="21" name="Text 19"/>
          <p:cNvSpPr txBox="1"/>
          <p:nvPr/>
        </p:nvSpPr>
        <p:spPr>
          <a:xfrm>
            <a:off x="185928" y="6473952"/>
            <a:ext cx="457200" cy="274320"/>
          </a:xfrm>
          <a:prstGeom prst="rect">
            <a:avLst/>
          </a:prstGeom>
          <a:noFill/>
          <a:ln/>
        </p:spPr>
        <p:txBody>
          <a:bodyPr wrap="square" rtlCol="0" anchor="ctr"/>
          <a:lstStyle/>
          <a:p>
            <a:pPr algn="r" indent="0" marL="0" rtl="1">
              <a:buNone/>
            </a:pPr>
            <a:r>
              <a:rPr lang="en-US" sz="900" dirty="0">
                <a:solidFill>
                  <a:srgbClr val="716E69"/>
                </a:solidFill>
                <a:latin typeface="Calibri" pitchFamily="34" charset="0"/>
                <a:ea typeface="Calibri" pitchFamily="34" charset="-122"/>
                <a:cs typeface="B Nazanin" pitchFamily="34" charset="-120"/>
              </a:rPr>
              <a:t>۷ / ۲۴</a:t>
            </a:r>
            <a:endParaRPr lang="en-US" sz="900" dirty="0"/>
          </a:p>
        </p:txBody>
      </p:sp>
      <p:sp>
        <p:nvSpPr>
          <p:cNvPr id="9001" name="progress track"/>
          <p:cNvSpPr/>
          <p:nvPr/>
        </p:nvSpPr>
        <p:spPr>
          <a:xfrm>
            <a:off x="0" y="6803000"/>
            <a:ext cx="12192000" cy="55000"/>
          </a:xfrm>
          <a:prstGeom prst="rect">
            <a:avLst/>
          </a:prstGeom>
          <a:solidFill>
            <a:srgbClr val="EDE9E5"/>
          </a:solidFill>
          <a:ln>
            <a:noFill/>
          </a:ln>
        </p:spPr>
        <p:txBody>
          <a:bodyPr/>
          <a:lstStyle/>
          <a:p/>
        </p:txBody>
      </p:sp>
      <p:sp>
        <p:nvSpPr>
          <p:cNvPr id="9002" name="progress fill"/>
          <p:cNvSpPr/>
          <p:nvPr/>
        </p:nvSpPr>
        <p:spPr>
          <a:xfrm>
            <a:off x="8636000" y="6803000"/>
            <a:ext cx="3556000" cy="55000"/>
          </a:xfrm>
          <a:prstGeom prst="rect">
            <a:avLst/>
          </a:prstGeom>
          <a:solidFill>
            <a:srgbClr val="8C1515"/>
          </a:solidFill>
          <a:ln>
            <a:noFill/>
          </a:ln>
        </p:spPr>
        <p:txBody>
          <a:bodyPr/>
          <a:lstStyle/>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11442192" y="475488"/>
            <a:ext cx="201168" cy="201168"/>
          </a:xfrm>
          <a:prstGeom prst="ellipse">
            <a:avLst/>
          </a:prstGeom>
          <a:solidFill>
            <a:srgbClr val="E98300"/>
          </a:solidFill>
          <a:ln/>
        </p:spPr>
      </p:sp>
      <p:sp>
        <p:nvSpPr>
          <p:cNvPr id="3" name="Text 1"/>
          <p:cNvSpPr txBox="1"/>
          <p:nvPr/>
        </p:nvSpPr>
        <p:spPr>
          <a:xfrm>
            <a:off x="1694688" y="347472"/>
            <a:ext cx="9601200" cy="502920"/>
          </a:xfrm>
          <a:prstGeom prst="rect">
            <a:avLst/>
          </a:prstGeom>
          <a:noFill/>
          <a:ln/>
        </p:spPr>
        <p:txBody>
          <a:bodyPr wrap="square" rtlCol="0" anchor="ctr"/>
          <a:lstStyle/>
          <a:p>
            <a:pPr indent="0" marL="0" rtl="1" algn="r">
              <a:buNone/>
            </a:pPr>
            <a:r>
              <a:rPr lang="en-US" sz="3000" b="1" dirty="0">
                <a:solidFill>
                  <a:srgbClr val="8C1515"/>
                </a:solidFill>
                <a:latin typeface="Cambria" pitchFamily="34" charset="0"/>
                <a:ea typeface="Cambria" pitchFamily="34" charset="-122"/>
                <a:cs typeface="B Titr" pitchFamily="34" charset="-120"/>
              </a:rPr>
              <a:t>روش پیشنهادی: چهار مرحله</a:t>
            </a:r>
            <a:endParaRPr lang="en-US" sz="3000" dirty="0"/>
          </a:p>
        </p:txBody>
      </p:sp>
      <p:sp>
        <p:nvSpPr>
          <p:cNvPr id="4" name="Shape 2"/>
          <p:cNvSpPr/>
          <p:nvPr/>
        </p:nvSpPr>
        <p:spPr>
          <a:xfrm>
            <a:off x="8955024" y="2377440"/>
            <a:ext cx="2377440" cy="2377440"/>
          </a:xfrm>
          <a:prstGeom prst="roundRect">
            <a:avLst>
              <a:gd name="adj" fmla="val 3077"/>
            </a:avLst>
          </a:prstGeom>
          <a:solidFill>
            <a:srgbClr val="F7F5F1"/>
          </a:solidFill>
          <a:ln/>
        </p:spPr>
      </p:sp>
      <p:sp>
        <p:nvSpPr>
          <p:cNvPr id="5" name="Shape 3"/>
          <p:cNvSpPr/>
          <p:nvPr/>
        </p:nvSpPr>
        <p:spPr>
          <a:xfrm>
            <a:off x="9823704" y="2057400"/>
            <a:ext cx="640080" cy="640080"/>
          </a:xfrm>
          <a:prstGeom prst="ellipse">
            <a:avLst/>
          </a:prstGeom>
          <a:solidFill>
            <a:srgbClr val="8C1515"/>
          </a:solidFill>
          <a:ln/>
        </p:spPr>
      </p:sp>
      <p:sp>
        <p:nvSpPr>
          <p:cNvPr id="6" name="Text 4"/>
          <p:cNvSpPr txBox="1"/>
          <p:nvPr/>
        </p:nvSpPr>
        <p:spPr>
          <a:xfrm>
            <a:off x="9823704" y="2057400"/>
            <a:ext cx="640080" cy="64008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۱</a:t>
            </a:r>
            <a:endParaRPr lang="en-US" sz="2000" dirty="0"/>
          </a:p>
        </p:txBody>
      </p:sp>
      <p:sp>
        <p:nvSpPr>
          <p:cNvPr id="7" name="Text 5"/>
          <p:cNvSpPr txBox="1"/>
          <p:nvPr/>
        </p:nvSpPr>
        <p:spPr>
          <a:xfrm>
            <a:off x="9092184" y="2834640"/>
            <a:ext cx="2103120" cy="457200"/>
          </a:xfrm>
          <a:prstGeom prst="rect">
            <a:avLst/>
          </a:prstGeom>
          <a:noFill/>
          <a:ln/>
        </p:spPr>
        <p:txBody>
          <a:bodyPr wrap="square" rtlCol="0" anchor="ctr"/>
          <a:lstStyle/>
          <a:p>
            <a:pPr algn="ctr" indent="0" marL="0" rtl="1">
              <a:buNone/>
            </a:pPr>
            <a:r>
              <a:rPr lang="en-US" sz="1400" b="1" dirty="0">
                <a:solidFill>
                  <a:srgbClr val="2E2D29"/>
                </a:solidFill>
                <a:latin typeface="Cambria" pitchFamily="34" charset="0"/>
                <a:ea typeface="Cambria" pitchFamily="34" charset="-122"/>
                <a:cs typeface="B Titr" pitchFamily="34" charset="-120"/>
              </a:rPr>
              <a:t>یافتن ظرف</a:t>
            </a:r>
            <a:endParaRPr lang="en-US" sz="1400" dirty="0"/>
          </a:p>
        </p:txBody>
      </p:sp>
      <p:sp>
        <p:nvSpPr>
          <p:cNvPr id="8" name="Text 6"/>
          <p:cNvSpPr txBox="1"/>
          <p:nvPr/>
        </p:nvSpPr>
        <p:spPr>
          <a:xfrm>
            <a:off x="9137904" y="3337560"/>
            <a:ext cx="2011680" cy="1280160"/>
          </a:xfrm>
          <a:prstGeom prst="rect">
            <a:avLst/>
          </a:prstGeom>
          <a:noFill/>
          <a:ln/>
        </p:spPr>
        <p:txBody>
          <a:bodyPr wrap="square" rtlCol="0" anchor="ctr"/>
          <a:lstStyle/>
          <a:p>
            <a:pPr algn="ctr" indent="0" marL="0" rtl="1">
              <a:lnSpc>
                <a:spcPct val="125000"/>
              </a:lnSpc>
              <a:buNone/>
            </a:pPr>
            <a:r>
              <a:rPr lang="en-US" sz="1150" dirty="0">
                <a:solidFill>
                  <a:srgbClr val="716E69"/>
                </a:solidFill>
                <a:latin typeface="Calibri" pitchFamily="34" charset="0"/>
                <a:ea typeface="Calibri" pitchFamily="34" charset="-122"/>
                <a:cs typeface="B Nazanin" pitchFamily="34" charset="-120"/>
              </a:rPr>
              <a:t>تعیین مکان و قطر ظرف پتری و استخراج مقیاس تصویر</a:t>
            </a:r>
            <a:endParaRPr lang="en-US" sz="1150" dirty="0"/>
          </a:p>
        </p:txBody>
      </p:sp>
      <p:sp>
        <p:nvSpPr>
          <p:cNvPr id="9" name="Shape 7"/>
          <p:cNvSpPr/>
          <p:nvPr/>
        </p:nvSpPr>
        <p:spPr>
          <a:xfrm flipH="1">
            <a:off x="8653272" y="3429000"/>
            <a:ext cx="274320" cy="274320"/>
          </a:xfrm>
          <a:prstGeom prst="rightArrow">
            <a:avLst/>
          </a:prstGeom>
          <a:solidFill>
            <a:srgbClr val="E98300"/>
          </a:solidFill>
          <a:ln/>
        </p:spPr>
      </p:sp>
      <p:sp>
        <p:nvSpPr>
          <p:cNvPr id="10" name="Shape 8"/>
          <p:cNvSpPr/>
          <p:nvPr/>
        </p:nvSpPr>
        <p:spPr>
          <a:xfrm>
            <a:off x="6257544" y="2377440"/>
            <a:ext cx="2377440" cy="2377440"/>
          </a:xfrm>
          <a:prstGeom prst="roundRect">
            <a:avLst>
              <a:gd name="adj" fmla="val 3077"/>
            </a:avLst>
          </a:prstGeom>
          <a:solidFill>
            <a:srgbClr val="F7F5F1"/>
          </a:solidFill>
          <a:ln/>
        </p:spPr>
      </p:sp>
      <p:sp>
        <p:nvSpPr>
          <p:cNvPr id="11" name="Shape 9"/>
          <p:cNvSpPr/>
          <p:nvPr/>
        </p:nvSpPr>
        <p:spPr>
          <a:xfrm>
            <a:off x="7126224" y="2057400"/>
            <a:ext cx="640080" cy="640080"/>
          </a:xfrm>
          <a:prstGeom prst="ellipse">
            <a:avLst/>
          </a:prstGeom>
          <a:solidFill>
            <a:srgbClr val="8C1515"/>
          </a:solidFill>
          <a:ln/>
        </p:spPr>
      </p:sp>
      <p:sp>
        <p:nvSpPr>
          <p:cNvPr id="12" name="Text 10"/>
          <p:cNvSpPr txBox="1"/>
          <p:nvPr/>
        </p:nvSpPr>
        <p:spPr>
          <a:xfrm>
            <a:off x="7126224" y="2057400"/>
            <a:ext cx="640080" cy="64008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۲</a:t>
            </a:r>
            <a:endParaRPr lang="en-US" sz="2000" dirty="0"/>
          </a:p>
        </p:txBody>
      </p:sp>
      <p:sp>
        <p:nvSpPr>
          <p:cNvPr id="13" name="Text 11"/>
          <p:cNvSpPr txBox="1"/>
          <p:nvPr/>
        </p:nvSpPr>
        <p:spPr>
          <a:xfrm>
            <a:off x="6394704" y="2834640"/>
            <a:ext cx="2103120" cy="457200"/>
          </a:xfrm>
          <a:prstGeom prst="rect">
            <a:avLst/>
          </a:prstGeom>
          <a:noFill/>
          <a:ln/>
        </p:spPr>
        <p:txBody>
          <a:bodyPr wrap="square" rtlCol="0" anchor="ctr"/>
          <a:lstStyle/>
          <a:p>
            <a:pPr algn="ctr" indent="0" marL="0" rtl="1">
              <a:buNone/>
            </a:pPr>
            <a:r>
              <a:rPr lang="en-US" sz="1400" b="1" dirty="0">
                <a:solidFill>
                  <a:srgbClr val="2E2D29"/>
                </a:solidFill>
                <a:latin typeface="Cambria" pitchFamily="34" charset="0"/>
                <a:ea typeface="Cambria" pitchFamily="34" charset="-122"/>
                <a:cs typeface="B Titr" pitchFamily="34" charset="-120"/>
              </a:rPr>
              <a:t>یافتن دیسک‌ها</a:t>
            </a:r>
            <a:endParaRPr lang="en-US" sz="1400" dirty="0"/>
          </a:p>
        </p:txBody>
      </p:sp>
      <p:sp>
        <p:nvSpPr>
          <p:cNvPr id="14" name="Text 12"/>
          <p:cNvSpPr txBox="1"/>
          <p:nvPr/>
        </p:nvSpPr>
        <p:spPr>
          <a:xfrm>
            <a:off x="6440424" y="3337560"/>
            <a:ext cx="2011680" cy="1280160"/>
          </a:xfrm>
          <a:prstGeom prst="rect">
            <a:avLst/>
          </a:prstGeom>
          <a:noFill/>
          <a:ln/>
        </p:spPr>
        <p:txBody>
          <a:bodyPr wrap="square" rtlCol="0" anchor="ctr"/>
          <a:lstStyle/>
          <a:p>
            <a:pPr algn="ctr" indent="0" marL="0" rtl="1">
              <a:lnSpc>
                <a:spcPct val="125000"/>
              </a:lnSpc>
              <a:buNone/>
            </a:pPr>
            <a:r>
              <a:rPr lang="en-US" sz="1150" dirty="0">
                <a:solidFill>
                  <a:srgbClr val="716E69"/>
                </a:solidFill>
                <a:latin typeface="Calibri" pitchFamily="34" charset="0"/>
                <a:ea typeface="Calibri" pitchFamily="34" charset="-122"/>
                <a:cs typeface="B Nazanin" pitchFamily="34" charset="-120"/>
              </a:rPr>
              <a:t>ترکیب دو شاخه مستقل. قطر استاندارد شش میلی‌متری دیسک، مبنای تبدیل پیکسل به میلی‌متر است</a:t>
            </a:r>
            <a:endParaRPr lang="en-US" sz="1150" dirty="0"/>
          </a:p>
        </p:txBody>
      </p:sp>
      <p:sp>
        <p:nvSpPr>
          <p:cNvPr id="15" name="Shape 13"/>
          <p:cNvSpPr/>
          <p:nvPr/>
        </p:nvSpPr>
        <p:spPr>
          <a:xfrm flipH="1">
            <a:off x="5955792" y="3429000"/>
            <a:ext cx="274320" cy="274320"/>
          </a:xfrm>
          <a:prstGeom prst="rightArrow">
            <a:avLst/>
          </a:prstGeom>
          <a:solidFill>
            <a:srgbClr val="E98300"/>
          </a:solidFill>
          <a:ln/>
        </p:spPr>
      </p:sp>
      <p:sp>
        <p:nvSpPr>
          <p:cNvPr id="16" name="Shape 14"/>
          <p:cNvSpPr/>
          <p:nvPr/>
        </p:nvSpPr>
        <p:spPr>
          <a:xfrm>
            <a:off x="3560064" y="2377440"/>
            <a:ext cx="2377440" cy="2377440"/>
          </a:xfrm>
          <a:prstGeom prst="roundRect">
            <a:avLst>
              <a:gd name="adj" fmla="val 3077"/>
            </a:avLst>
          </a:prstGeom>
          <a:solidFill>
            <a:srgbClr val="F7F5F1"/>
          </a:solidFill>
          <a:ln/>
        </p:spPr>
      </p:sp>
      <p:sp>
        <p:nvSpPr>
          <p:cNvPr id="17" name="Shape 15"/>
          <p:cNvSpPr/>
          <p:nvPr/>
        </p:nvSpPr>
        <p:spPr>
          <a:xfrm>
            <a:off x="4428744" y="2057400"/>
            <a:ext cx="640080" cy="640080"/>
          </a:xfrm>
          <a:prstGeom prst="ellipse">
            <a:avLst/>
          </a:prstGeom>
          <a:solidFill>
            <a:srgbClr val="8C1515"/>
          </a:solidFill>
          <a:ln/>
        </p:spPr>
      </p:sp>
      <p:sp>
        <p:nvSpPr>
          <p:cNvPr id="18" name="Text 16"/>
          <p:cNvSpPr txBox="1"/>
          <p:nvPr/>
        </p:nvSpPr>
        <p:spPr>
          <a:xfrm>
            <a:off x="4428744" y="2057400"/>
            <a:ext cx="640080" cy="64008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۳</a:t>
            </a:r>
            <a:endParaRPr lang="en-US" sz="2000" dirty="0"/>
          </a:p>
        </p:txBody>
      </p:sp>
      <p:sp>
        <p:nvSpPr>
          <p:cNvPr id="19" name="Text 17"/>
          <p:cNvSpPr txBox="1"/>
          <p:nvPr/>
        </p:nvSpPr>
        <p:spPr>
          <a:xfrm>
            <a:off x="3697224" y="2834640"/>
            <a:ext cx="2103120" cy="457200"/>
          </a:xfrm>
          <a:prstGeom prst="rect">
            <a:avLst/>
          </a:prstGeom>
          <a:noFill/>
          <a:ln/>
        </p:spPr>
        <p:txBody>
          <a:bodyPr wrap="square" rtlCol="0" anchor="ctr"/>
          <a:lstStyle/>
          <a:p>
            <a:pPr algn="ctr" indent="0" marL="0" rtl="1">
              <a:buNone/>
            </a:pPr>
            <a:r>
              <a:rPr lang="en-US" sz="1400" b="1" dirty="0">
                <a:solidFill>
                  <a:srgbClr val="2E2D29"/>
                </a:solidFill>
                <a:latin typeface="Cambria" pitchFamily="34" charset="0"/>
                <a:ea typeface="Cambria" pitchFamily="34" charset="-122"/>
                <a:cs typeface="B Titr" pitchFamily="34" charset="-120"/>
              </a:rPr>
              <a:t>تعیین مرز هاله</a:t>
            </a:r>
            <a:endParaRPr lang="en-US" sz="1400" dirty="0"/>
          </a:p>
        </p:txBody>
      </p:sp>
      <p:sp>
        <p:nvSpPr>
          <p:cNvPr id="20" name="Text 18"/>
          <p:cNvSpPr txBox="1"/>
          <p:nvPr/>
        </p:nvSpPr>
        <p:spPr>
          <a:xfrm>
            <a:off x="3742944" y="3337560"/>
            <a:ext cx="2011680" cy="1280160"/>
          </a:xfrm>
          <a:prstGeom prst="rect">
            <a:avLst/>
          </a:prstGeom>
          <a:noFill/>
          <a:ln/>
        </p:spPr>
        <p:txBody>
          <a:bodyPr wrap="square" rtlCol="0" anchor="ctr"/>
          <a:lstStyle/>
          <a:p>
            <a:pPr algn="ctr" indent="0" marL="0" rtl="1">
              <a:lnSpc>
                <a:spcPct val="125000"/>
              </a:lnSpc>
              <a:buNone/>
            </a:pPr>
            <a:r>
              <a:rPr lang="en-US" sz="1150" dirty="0">
                <a:solidFill>
                  <a:srgbClr val="716E69"/>
                </a:solidFill>
                <a:latin typeface="Calibri" pitchFamily="34" charset="0"/>
                <a:ea typeface="Calibri" pitchFamily="34" charset="-122"/>
                <a:cs typeface="B Nazanin" pitchFamily="34" charset="-120"/>
              </a:rPr>
              <a:t>برآورد مرز با سه روش موازی و ترکیب نتایج آن‌ها</a:t>
            </a:r>
            <a:endParaRPr lang="en-US" sz="1150" dirty="0"/>
          </a:p>
        </p:txBody>
      </p:sp>
      <p:sp>
        <p:nvSpPr>
          <p:cNvPr id="21" name="Shape 19"/>
          <p:cNvSpPr/>
          <p:nvPr/>
        </p:nvSpPr>
        <p:spPr>
          <a:xfrm flipH="1">
            <a:off x="3258312" y="3429000"/>
            <a:ext cx="274320" cy="274320"/>
          </a:xfrm>
          <a:prstGeom prst="rightArrow">
            <a:avLst/>
          </a:prstGeom>
          <a:solidFill>
            <a:srgbClr val="E98300"/>
          </a:solidFill>
          <a:ln/>
        </p:spPr>
      </p:sp>
      <p:sp>
        <p:nvSpPr>
          <p:cNvPr id="22" name="Shape 20"/>
          <p:cNvSpPr/>
          <p:nvPr/>
        </p:nvSpPr>
        <p:spPr>
          <a:xfrm>
            <a:off x="862584" y="2377440"/>
            <a:ext cx="2377440" cy="2377440"/>
          </a:xfrm>
          <a:prstGeom prst="roundRect">
            <a:avLst>
              <a:gd name="adj" fmla="val 3077"/>
            </a:avLst>
          </a:prstGeom>
          <a:solidFill>
            <a:srgbClr val="F7F5F1"/>
          </a:solidFill>
          <a:ln/>
        </p:spPr>
      </p:sp>
      <p:sp>
        <p:nvSpPr>
          <p:cNvPr id="23" name="Shape 21"/>
          <p:cNvSpPr/>
          <p:nvPr/>
        </p:nvSpPr>
        <p:spPr>
          <a:xfrm>
            <a:off x="1731264" y="2057400"/>
            <a:ext cx="640080" cy="640080"/>
          </a:xfrm>
          <a:prstGeom prst="ellipse">
            <a:avLst/>
          </a:prstGeom>
          <a:solidFill>
            <a:srgbClr val="8C1515"/>
          </a:solidFill>
          <a:ln/>
        </p:spPr>
      </p:sp>
      <p:sp>
        <p:nvSpPr>
          <p:cNvPr id="24" name="Text 22"/>
          <p:cNvSpPr txBox="1"/>
          <p:nvPr/>
        </p:nvSpPr>
        <p:spPr>
          <a:xfrm>
            <a:off x="1731264" y="2057400"/>
            <a:ext cx="640080" cy="64008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۴</a:t>
            </a:r>
            <a:endParaRPr lang="en-US" sz="2000" dirty="0"/>
          </a:p>
        </p:txBody>
      </p:sp>
      <p:sp>
        <p:nvSpPr>
          <p:cNvPr id="25" name="Text 23"/>
          <p:cNvSpPr txBox="1"/>
          <p:nvPr/>
        </p:nvSpPr>
        <p:spPr>
          <a:xfrm>
            <a:off x="999744" y="2834640"/>
            <a:ext cx="2103120" cy="457200"/>
          </a:xfrm>
          <a:prstGeom prst="rect">
            <a:avLst/>
          </a:prstGeom>
          <a:noFill/>
          <a:ln/>
        </p:spPr>
        <p:txBody>
          <a:bodyPr wrap="square" rtlCol="0" anchor="ctr"/>
          <a:lstStyle/>
          <a:p>
            <a:pPr algn="ctr" indent="0" marL="0" rtl="1">
              <a:buNone/>
            </a:pPr>
            <a:r>
              <a:rPr lang="en-US" sz="1400" b="1" dirty="0">
                <a:solidFill>
                  <a:srgbClr val="2E2D29"/>
                </a:solidFill>
                <a:latin typeface="Cambria" pitchFamily="34" charset="0"/>
                <a:ea typeface="Cambria" pitchFamily="34" charset="-122"/>
                <a:cs typeface="B Titr" pitchFamily="34" charset="-120"/>
              </a:rPr>
              <a:t>تفسیر بالینی</a:t>
            </a:r>
            <a:endParaRPr lang="en-US" sz="1400" dirty="0"/>
          </a:p>
        </p:txBody>
      </p:sp>
      <p:sp>
        <p:nvSpPr>
          <p:cNvPr id="26" name="Text 24"/>
          <p:cNvSpPr txBox="1"/>
          <p:nvPr/>
        </p:nvSpPr>
        <p:spPr>
          <a:xfrm>
            <a:off x="1045464" y="3337560"/>
            <a:ext cx="2011680" cy="1280160"/>
          </a:xfrm>
          <a:prstGeom prst="rect">
            <a:avLst/>
          </a:prstGeom>
          <a:noFill/>
          <a:ln/>
        </p:spPr>
        <p:txBody>
          <a:bodyPr wrap="square" rtlCol="0" anchor="ctr"/>
          <a:lstStyle/>
          <a:p>
            <a:pPr algn="ctr" indent="0" marL="0" rtl="1">
              <a:lnSpc>
                <a:spcPct val="125000"/>
              </a:lnSpc>
              <a:buNone/>
            </a:pPr>
            <a:r>
              <a:rPr lang="en-US" sz="1150" dirty="0">
                <a:solidFill>
                  <a:srgbClr val="716E69"/>
                </a:solidFill>
                <a:latin typeface="Calibri" pitchFamily="34" charset="0"/>
                <a:ea typeface="Calibri" pitchFamily="34" charset="-122"/>
                <a:cs typeface="B Nazanin" pitchFamily="34" charset="-120"/>
              </a:rPr>
              <a:t>تطبیق قطر با جدول‌های نقطه شکست EUCAST نسخه ۱۶٫۰</a:t>
            </a:r>
            <a:endParaRPr lang="en-US" sz="1150" dirty="0"/>
          </a:p>
        </p:txBody>
      </p:sp>
      <p:sp>
        <p:nvSpPr>
          <p:cNvPr id="27" name="Text 25"/>
          <p:cNvSpPr txBox="1"/>
          <p:nvPr/>
        </p:nvSpPr>
        <p:spPr>
          <a:xfrm>
            <a:off x="4328160" y="6473952"/>
            <a:ext cx="7315200" cy="274320"/>
          </a:xfrm>
          <a:prstGeom prst="rect">
            <a:avLst/>
          </a:prstGeom>
          <a:noFill/>
          <a:ln/>
        </p:spPr>
        <p:txBody>
          <a:bodyPr wrap="square" rtlCol="0" anchor="ctr"/>
          <a:lstStyle/>
          <a:p>
            <a:pPr indent="0" marL="0" rtl="1" algn="r">
              <a:buNone/>
            </a:pPr>
            <a:r>
              <a:rPr lang="en-US" sz="900" spc="200" kern="0" dirty="0">
                <a:solidFill>
                  <a:srgbClr val="716E69"/>
                </a:solidFill>
                <a:latin typeface="Calibri" pitchFamily="34" charset="0"/>
                <a:ea typeface="Calibri" pitchFamily="34" charset="-122"/>
                <a:cs typeface="B Nazanin" pitchFamily="34" charset="-120"/>
              </a:rPr>
              <a:t>روش پیشنهادی</a:t>
            </a:r>
            <a:endParaRPr lang="en-US" sz="900" dirty="0"/>
          </a:p>
        </p:txBody>
      </p:sp>
      <p:sp>
        <p:nvSpPr>
          <p:cNvPr id="28" name="Text 26"/>
          <p:cNvSpPr txBox="1"/>
          <p:nvPr/>
        </p:nvSpPr>
        <p:spPr>
          <a:xfrm>
            <a:off x="185928" y="6473952"/>
            <a:ext cx="457200" cy="274320"/>
          </a:xfrm>
          <a:prstGeom prst="rect">
            <a:avLst/>
          </a:prstGeom>
          <a:noFill/>
          <a:ln/>
        </p:spPr>
        <p:txBody>
          <a:bodyPr wrap="square" rtlCol="0" anchor="ctr"/>
          <a:lstStyle/>
          <a:p>
            <a:pPr algn="r" indent="0" marL="0" rtl="1">
              <a:buNone/>
            </a:pPr>
            <a:r>
              <a:rPr lang="en-US" sz="900" dirty="0">
                <a:solidFill>
                  <a:srgbClr val="716E69"/>
                </a:solidFill>
                <a:latin typeface="Calibri" pitchFamily="34" charset="0"/>
                <a:ea typeface="Calibri" pitchFamily="34" charset="-122"/>
                <a:cs typeface="B Nazanin" pitchFamily="34" charset="-120"/>
              </a:rPr>
              <a:t>۹ / ۲۴</a:t>
            </a:r>
            <a:endParaRPr lang="en-US" sz="900" dirty="0"/>
          </a:p>
        </p:txBody>
      </p:sp>
      <p:sp>
        <p:nvSpPr>
          <p:cNvPr id="9001" name="progress track"/>
          <p:cNvSpPr/>
          <p:nvPr/>
        </p:nvSpPr>
        <p:spPr>
          <a:xfrm>
            <a:off x="0" y="6803000"/>
            <a:ext cx="12192000" cy="55000"/>
          </a:xfrm>
          <a:prstGeom prst="rect">
            <a:avLst/>
          </a:prstGeom>
          <a:solidFill>
            <a:srgbClr val="EDE9E5"/>
          </a:solidFill>
          <a:ln>
            <a:noFill/>
          </a:ln>
        </p:spPr>
        <p:txBody>
          <a:bodyPr/>
          <a:lstStyle/>
          <a:p/>
        </p:txBody>
      </p:sp>
      <p:sp>
        <p:nvSpPr>
          <p:cNvPr id="9002" name="progress fill"/>
          <p:cNvSpPr/>
          <p:nvPr/>
        </p:nvSpPr>
        <p:spPr>
          <a:xfrm>
            <a:off x="7620000" y="6803000"/>
            <a:ext cx="4572000" cy="55000"/>
          </a:xfrm>
          <a:prstGeom prst="rect">
            <a:avLst/>
          </a:prstGeom>
          <a:solidFill>
            <a:srgbClr val="8C1515"/>
          </a:solidFill>
          <a:ln>
            <a:noFill/>
          </a:ln>
        </p:spPr>
        <p:txBody>
          <a:bodyPr/>
          <a:lstStyle/>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11442192" y="475488"/>
            <a:ext cx="201168" cy="201168"/>
          </a:xfrm>
          <a:prstGeom prst="ellipse">
            <a:avLst/>
          </a:prstGeom>
          <a:solidFill>
            <a:srgbClr val="E98300"/>
          </a:solidFill>
          <a:ln/>
        </p:spPr>
      </p:sp>
      <p:sp>
        <p:nvSpPr>
          <p:cNvPr id="3" name="Text 1"/>
          <p:cNvSpPr txBox="1"/>
          <p:nvPr/>
        </p:nvSpPr>
        <p:spPr>
          <a:xfrm>
            <a:off x="1694688" y="347472"/>
            <a:ext cx="9601200" cy="502920"/>
          </a:xfrm>
          <a:prstGeom prst="rect">
            <a:avLst/>
          </a:prstGeom>
          <a:noFill/>
          <a:ln/>
        </p:spPr>
        <p:txBody>
          <a:bodyPr wrap="square" rtlCol="0" anchor="ctr"/>
          <a:lstStyle/>
          <a:p>
            <a:pPr indent="0" marL="0" rtl="1" algn="r">
              <a:buNone/>
            </a:pPr>
            <a:r>
              <a:rPr lang="en-US" sz="3000" b="1" dirty="0">
                <a:solidFill>
                  <a:srgbClr val="8C1515"/>
                </a:solidFill>
                <a:latin typeface="Cambria" pitchFamily="34" charset="0"/>
                <a:ea typeface="Cambria" pitchFamily="34" charset="-122"/>
                <a:cs typeface="B Titr" pitchFamily="34" charset="-120"/>
              </a:rPr>
              <a:t>ترجمه خطا به زبان بالینی</a:t>
            </a:r>
            <a:endParaRPr lang="en-US" sz="3000" dirty="0"/>
          </a:p>
        </p:txBody>
      </p:sp>
      <p:graphicFrame>
        <p:nvGraphicFramePr>
          <p:cNvPr id="4" name="Chart 0" descr=""/>
          <p:cNvGraphicFramePr/>
          <p:nvPr/>
        </p:nvGraphicFramePr>
        <p:xfrm>
          <a:off x="4968240" y="1371600"/>
          <a:ext cx="6675120" cy="42062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16280" y="1417320"/>
            <a:ext cx="3931920" cy="594360"/>
          </a:xfrm>
          <a:prstGeom prst="rect">
            <a:avLst/>
          </a:prstGeom>
          <a:noFill/>
          <a:ln/>
        </p:spPr>
        <p:txBody>
          <a:bodyPr wrap="square" rtlCol="0" anchor="ctr"/>
          <a:lstStyle/>
          <a:p>
            <a:pPr indent="0" marL="0" rtl="1" algn="r">
              <a:buNone/>
            </a:pPr>
            <a:r>
              <a:rPr lang="en-US" sz="3200" b="1" dirty="0">
                <a:solidFill>
                  <a:srgbClr val="8C1515"/>
                </a:solidFill>
                <a:latin typeface="Cambria" pitchFamily="34" charset="0"/>
                <a:ea typeface="Cambria" pitchFamily="34" charset="-122"/>
                <a:cs typeface="B Titr" pitchFamily="34" charset="-120"/>
              </a:rPr>
              <a:t>۸۳٫۲٪</a:t>
            </a:r>
            <a:endParaRPr lang="en-US" sz="3200" dirty="0"/>
          </a:p>
        </p:txBody>
      </p:sp>
      <p:sp>
        <p:nvSpPr>
          <p:cNvPr id="6" name="Text 3"/>
          <p:cNvSpPr txBox="1"/>
          <p:nvPr/>
        </p:nvSpPr>
        <p:spPr>
          <a:xfrm>
            <a:off x="716280" y="1984248"/>
            <a:ext cx="3931920" cy="411480"/>
          </a:xfrm>
          <a:prstGeom prst="rect">
            <a:avLst/>
          </a:prstGeom>
          <a:noFill/>
          <a:ln/>
        </p:spPr>
        <p:txBody>
          <a:bodyPr wrap="square" rtlCol="0" anchor="ctr"/>
          <a:lstStyle/>
          <a:p>
            <a:pPr indent="0" marL="0" rtl="1" algn="r">
              <a:buNone/>
            </a:pPr>
            <a:r>
              <a:rPr lang="en-US" sz="1300" dirty="0">
                <a:solidFill>
                  <a:srgbClr val="716E69"/>
                </a:solidFill>
                <a:latin typeface="Calibri" pitchFamily="34" charset="0"/>
                <a:ea typeface="Calibri" pitchFamily="34" charset="-122"/>
                <a:cs typeface="B Nazanin" pitchFamily="34" charset="-120"/>
              </a:rPr>
              <a:t>توافق دسته‌ای، حاصل ۳۱٬۷۵۹ تصمیم شبیه‌سازی‌شده</a:t>
            </a:r>
            <a:endParaRPr lang="en-US" sz="1300" dirty="0"/>
          </a:p>
        </p:txBody>
      </p:sp>
      <p:sp>
        <p:nvSpPr>
          <p:cNvPr id="7" name="Text 4"/>
          <p:cNvSpPr txBox="1"/>
          <p:nvPr/>
        </p:nvSpPr>
        <p:spPr>
          <a:xfrm>
            <a:off x="716280" y="2834640"/>
            <a:ext cx="3931920" cy="594360"/>
          </a:xfrm>
          <a:prstGeom prst="rect">
            <a:avLst/>
          </a:prstGeom>
          <a:noFill/>
          <a:ln/>
        </p:spPr>
        <p:txBody>
          <a:bodyPr wrap="square" rtlCol="0" anchor="ctr"/>
          <a:lstStyle/>
          <a:p>
            <a:pPr indent="0" marL="0" rtl="1" algn="r">
              <a:buNone/>
            </a:pPr>
            <a:r>
              <a:rPr lang="en-US" sz="3200" b="1" dirty="0">
                <a:solidFill>
                  <a:srgbClr val="E98300"/>
                </a:solidFill>
                <a:latin typeface="Cambria" pitchFamily="34" charset="0"/>
                <a:ea typeface="Cambria" pitchFamily="34" charset="-122"/>
                <a:cs typeface="B Titr" pitchFamily="34" charset="-120"/>
              </a:rPr>
              <a:t>۶٫۱۹٪</a:t>
            </a:r>
            <a:endParaRPr lang="en-US" sz="3200" dirty="0"/>
          </a:p>
        </p:txBody>
      </p:sp>
      <p:sp>
        <p:nvSpPr>
          <p:cNvPr id="8" name="Text 5"/>
          <p:cNvSpPr txBox="1"/>
          <p:nvPr/>
        </p:nvSpPr>
        <p:spPr>
          <a:xfrm>
            <a:off x="716280" y="3401568"/>
            <a:ext cx="3931920" cy="411480"/>
          </a:xfrm>
          <a:prstGeom prst="rect">
            <a:avLst/>
          </a:prstGeom>
          <a:noFill/>
          <a:ln/>
        </p:spPr>
        <p:txBody>
          <a:bodyPr wrap="square" rtlCol="0" anchor="ctr"/>
          <a:lstStyle/>
          <a:p>
            <a:pPr indent="0" marL="0" rtl="1" algn="r">
              <a:buNone/>
            </a:pPr>
            <a:r>
              <a:rPr lang="en-US" sz="1300" dirty="0">
                <a:solidFill>
                  <a:srgbClr val="716E69"/>
                </a:solidFill>
                <a:latin typeface="Calibri" pitchFamily="34" charset="0"/>
                <a:ea typeface="Calibri" pitchFamily="34" charset="-122"/>
                <a:cs typeface="B Nazanin" pitchFamily="34" charset="-120"/>
              </a:rPr>
              <a:t>خطای بسیار عمده — سقف مرسوم ۱٫۵٪</a:t>
            </a:r>
            <a:endParaRPr lang="en-US" sz="1300" dirty="0"/>
          </a:p>
        </p:txBody>
      </p:sp>
      <p:sp>
        <p:nvSpPr>
          <p:cNvPr id="9" name="Text 6"/>
          <p:cNvSpPr txBox="1"/>
          <p:nvPr/>
        </p:nvSpPr>
        <p:spPr>
          <a:xfrm>
            <a:off x="716280" y="4251960"/>
            <a:ext cx="3931920" cy="594360"/>
          </a:xfrm>
          <a:prstGeom prst="rect">
            <a:avLst/>
          </a:prstGeom>
          <a:noFill/>
          <a:ln/>
        </p:spPr>
        <p:txBody>
          <a:bodyPr wrap="square" rtlCol="0" anchor="ctr"/>
          <a:lstStyle/>
          <a:p>
            <a:pPr indent="0" marL="0" rtl="1" algn="r">
              <a:buNone/>
            </a:pPr>
            <a:r>
              <a:rPr lang="en-US" sz="3200" b="1" dirty="0">
                <a:solidFill>
                  <a:srgbClr val="E98300"/>
                </a:solidFill>
                <a:latin typeface="Cambria" pitchFamily="34" charset="0"/>
                <a:ea typeface="Cambria" pitchFamily="34" charset="-122"/>
                <a:cs typeface="B Titr" pitchFamily="34" charset="-120"/>
              </a:rPr>
              <a:t>۹٫۲۴٪</a:t>
            </a:r>
            <a:endParaRPr lang="en-US" sz="3200" dirty="0"/>
          </a:p>
        </p:txBody>
      </p:sp>
      <p:sp>
        <p:nvSpPr>
          <p:cNvPr id="10" name="Text 7"/>
          <p:cNvSpPr txBox="1"/>
          <p:nvPr/>
        </p:nvSpPr>
        <p:spPr>
          <a:xfrm>
            <a:off x="716280" y="4818888"/>
            <a:ext cx="3931920" cy="411480"/>
          </a:xfrm>
          <a:prstGeom prst="rect">
            <a:avLst/>
          </a:prstGeom>
          <a:noFill/>
          <a:ln/>
        </p:spPr>
        <p:txBody>
          <a:bodyPr wrap="square" rtlCol="0" anchor="ctr"/>
          <a:lstStyle/>
          <a:p>
            <a:pPr indent="0" marL="0" rtl="1" algn="r">
              <a:buNone/>
            </a:pPr>
            <a:r>
              <a:rPr lang="en-US" sz="1300" dirty="0">
                <a:solidFill>
                  <a:srgbClr val="716E69"/>
                </a:solidFill>
                <a:latin typeface="Calibri" pitchFamily="34" charset="0"/>
                <a:ea typeface="Calibri" pitchFamily="34" charset="-122"/>
                <a:cs typeface="B Nazanin" pitchFamily="34" charset="-120"/>
              </a:rPr>
              <a:t>خطای عمده — سقف مرسوم ۳٫۰٪</a:t>
            </a:r>
            <a:endParaRPr lang="en-US" sz="1300" dirty="0"/>
          </a:p>
        </p:txBody>
      </p:sp>
      <p:sp>
        <p:nvSpPr>
          <p:cNvPr id="11" name="Text 8"/>
          <p:cNvSpPr txBox="1"/>
          <p:nvPr/>
        </p:nvSpPr>
        <p:spPr>
          <a:xfrm>
            <a:off x="4328160" y="6473952"/>
            <a:ext cx="7315200" cy="274320"/>
          </a:xfrm>
          <a:prstGeom prst="rect">
            <a:avLst/>
          </a:prstGeom>
          <a:noFill/>
          <a:ln/>
        </p:spPr>
        <p:txBody>
          <a:bodyPr wrap="square" rtlCol="0" anchor="ctr"/>
          <a:lstStyle/>
          <a:p>
            <a:pPr indent="0" marL="0" rtl="1" algn="r">
              <a:buNone/>
            </a:pPr>
            <a:r>
              <a:rPr lang="en-US" sz="900" spc="200" kern="0" dirty="0">
                <a:solidFill>
                  <a:srgbClr val="716E69"/>
                </a:solidFill>
                <a:latin typeface="Calibri" pitchFamily="34" charset="0"/>
                <a:ea typeface="Calibri" pitchFamily="34" charset="-122"/>
                <a:cs typeface="B Nazanin" pitchFamily="34" charset="-120"/>
              </a:rPr>
              <a:t>تفسیر بالینی</a:t>
            </a:r>
            <a:endParaRPr lang="en-US" sz="900" dirty="0"/>
          </a:p>
        </p:txBody>
      </p:sp>
      <p:sp>
        <p:nvSpPr>
          <p:cNvPr id="12" name="Text 9"/>
          <p:cNvSpPr txBox="1"/>
          <p:nvPr/>
        </p:nvSpPr>
        <p:spPr>
          <a:xfrm>
            <a:off x="185928" y="6473952"/>
            <a:ext cx="457200" cy="274320"/>
          </a:xfrm>
          <a:prstGeom prst="rect">
            <a:avLst/>
          </a:prstGeom>
          <a:noFill/>
          <a:ln/>
        </p:spPr>
        <p:txBody>
          <a:bodyPr wrap="square" rtlCol="0" anchor="ctr"/>
          <a:lstStyle/>
          <a:p>
            <a:pPr algn="r" indent="0" marL="0" rtl="1">
              <a:buNone/>
            </a:pPr>
            <a:r>
              <a:rPr lang="en-US" sz="900" dirty="0">
                <a:solidFill>
                  <a:srgbClr val="716E69"/>
                </a:solidFill>
                <a:latin typeface="Calibri" pitchFamily="34" charset="0"/>
                <a:ea typeface="Calibri" pitchFamily="34" charset="-122"/>
                <a:cs typeface="B Nazanin" pitchFamily="34" charset="-120"/>
              </a:rPr>
              <a:t>۱۵ / ۲۴</a:t>
            </a:r>
            <a:endParaRPr lang="en-US" sz="900" dirty="0"/>
          </a:p>
        </p:txBody>
      </p:sp>
      <p:sp>
        <p:nvSpPr>
          <p:cNvPr id="9001" name="progress track"/>
          <p:cNvSpPr/>
          <p:nvPr/>
        </p:nvSpPr>
        <p:spPr>
          <a:xfrm>
            <a:off x="0" y="6803000"/>
            <a:ext cx="12192000" cy="55000"/>
          </a:xfrm>
          <a:prstGeom prst="rect">
            <a:avLst/>
          </a:prstGeom>
          <a:solidFill>
            <a:srgbClr val="EDE9E5"/>
          </a:solidFill>
          <a:ln>
            <a:noFill/>
          </a:ln>
        </p:spPr>
        <p:txBody>
          <a:bodyPr/>
          <a:lstStyle/>
          <a:p/>
        </p:txBody>
      </p:sp>
      <p:sp>
        <p:nvSpPr>
          <p:cNvPr id="9002" name="progress fill"/>
          <p:cNvSpPr/>
          <p:nvPr/>
        </p:nvSpPr>
        <p:spPr>
          <a:xfrm>
            <a:off x="4572000" y="6803000"/>
            <a:ext cx="7620000" cy="55000"/>
          </a:xfrm>
          <a:prstGeom prst="rect">
            <a:avLst/>
          </a:prstGeom>
          <a:solidFill>
            <a:srgbClr val="8C1515"/>
          </a:solidFill>
          <a:ln>
            <a:noFill/>
          </a:ln>
        </p:spPr>
        <p:txBody>
          <a:bodyPr/>
          <a:lstStyle/>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11442192" y="475488"/>
            <a:ext cx="201168" cy="201168"/>
          </a:xfrm>
          <a:prstGeom prst="ellipse">
            <a:avLst/>
          </a:prstGeom>
          <a:solidFill>
            <a:srgbClr val="E98300"/>
          </a:solidFill>
          <a:ln/>
        </p:spPr>
      </p:sp>
      <p:sp>
        <p:nvSpPr>
          <p:cNvPr id="3" name="Text 1"/>
          <p:cNvSpPr txBox="1"/>
          <p:nvPr/>
        </p:nvSpPr>
        <p:spPr>
          <a:xfrm>
            <a:off x="1694688" y="347472"/>
            <a:ext cx="9601200" cy="502920"/>
          </a:xfrm>
          <a:prstGeom prst="rect">
            <a:avLst/>
          </a:prstGeom>
          <a:noFill/>
          <a:ln/>
        </p:spPr>
        <p:txBody>
          <a:bodyPr wrap="square" rtlCol="0" anchor="ctr"/>
          <a:lstStyle/>
          <a:p>
            <a:pPr indent="0" marL="0" rtl="1" algn="r">
              <a:buNone/>
            </a:pPr>
            <a:r>
              <a:rPr lang="en-US" sz="3000" b="1" dirty="0">
                <a:solidFill>
                  <a:srgbClr val="8C1515"/>
                </a:solidFill>
                <a:latin typeface="Cambria" pitchFamily="34" charset="0"/>
                <a:ea typeface="Cambria" pitchFamily="34" charset="-122"/>
                <a:cs typeface="B Titr" pitchFamily="34" charset="-120"/>
              </a:rPr>
              <a:t>نتایج: دقت قطر هاله و اثر ترکیب</a:t>
            </a:r>
            <a:endParaRPr lang="en-US" sz="3000" dirty="0"/>
          </a:p>
        </p:txBody>
      </p:sp>
      <p:sp>
        <p:nvSpPr>
          <p:cNvPr id="4" name="Shape 2"/>
          <p:cNvSpPr/>
          <p:nvPr/>
        </p:nvSpPr>
        <p:spPr>
          <a:xfrm>
            <a:off x="6431280" y="1325880"/>
            <a:ext cx="5212080" cy="4297680"/>
          </a:xfrm>
          <a:prstGeom prst="roundRect">
            <a:avLst>
              <a:gd name="adj" fmla="val 1702"/>
            </a:avLst>
          </a:prstGeom>
          <a:solidFill>
            <a:srgbClr val="FFFFFF"/>
          </a:solidFill>
          <a:ln w="12700">
            <a:solidFill>
              <a:srgbClr val="E8E5E0"/>
            </a:solidFill>
            <a:prstDash val="solid"/>
          </a:ln>
        </p:spPr>
      </p:sp>
      <p:sp>
        <p:nvSpPr>
          <p:cNvPr id="5" name="Shape 3"/>
          <p:cNvSpPr/>
          <p:nvPr/>
        </p:nvSpPr>
        <p:spPr>
          <a:xfrm>
            <a:off x="6431280" y="1325880"/>
            <a:ext cx="5212080" cy="594360"/>
          </a:xfrm>
          <a:prstGeom prst="rect">
            <a:avLst/>
          </a:prstGeom>
          <a:solidFill>
            <a:srgbClr val="716E69"/>
          </a:solidFill>
          <a:ln/>
        </p:spPr>
      </p:sp>
      <p:sp>
        <p:nvSpPr>
          <p:cNvPr id="6" name="Text 4"/>
          <p:cNvSpPr txBox="1"/>
          <p:nvPr/>
        </p:nvSpPr>
        <p:spPr>
          <a:xfrm>
            <a:off x="6431280" y="1325880"/>
            <a:ext cx="5212080" cy="594360"/>
          </a:xfrm>
          <a:prstGeom prst="rect">
            <a:avLst/>
          </a:prstGeom>
          <a:noFill/>
          <a:ln/>
        </p:spPr>
        <p:txBody>
          <a:bodyPr wrap="square" rtlCol="0" anchor="ctr"/>
          <a:lstStyle/>
          <a:p>
            <a:pPr algn="ctr" indent="0" marL="0" rtl="1">
              <a:buNone/>
            </a:pPr>
            <a:r>
              <a:rPr lang="en-US" sz="1600" b="1" dirty="0">
                <a:solidFill>
                  <a:srgbClr val="FFFFFF"/>
                </a:solidFill>
                <a:latin typeface="Cambria" pitchFamily="34" charset="0"/>
                <a:ea typeface="Cambria" pitchFamily="34" charset="-122"/>
                <a:cs typeface="B Titr" pitchFamily="34" charset="-120"/>
              </a:rPr>
              <a:t>فقط روش پروفایل شعاعی</a:t>
            </a:r>
            <a:endParaRPr lang="en-US" sz="1600" dirty="0"/>
          </a:p>
        </p:txBody>
      </p:sp>
      <p:sp>
        <p:nvSpPr>
          <p:cNvPr id="7" name="Text 5"/>
          <p:cNvSpPr txBox="1"/>
          <p:nvPr/>
        </p:nvSpPr>
        <p:spPr>
          <a:xfrm>
            <a:off x="6797040" y="2148840"/>
            <a:ext cx="4480560" cy="3291840"/>
          </a:xfrm>
          <a:prstGeom prst="rect">
            <a:avLst/>
          </a:prstGeom>
          <a:noFill/>
          <a:ln/>
        </p:spPr>
        <p:txBody>
          <a:bodyPr wrap="square" rtlCol="0" anchor="ctr"/>
          <a:lstStyle/>
          <a:p>
            <a:pPr marL="342900" indent="-342900" rtl="1" algn="r">
              <a:lnSpc>
                <a:spcPct val="140000"/>
              </a:lnSpc>
              <a:spcAft>
                <a:spcPts val="1000"/>
              </a:spcAft>
              <a:buSzPct val="100000"/>
              <a:buChar char="•"/>
            </a:pPr>
            <a:r>
              <a:rPr lang="en-US" sz="1400" dirty="0">
                <a:solidFill>
                  <a:srgbClr val="2E2D29"/>
                </a:solidFill>
                <a:latin typeface="Calibri" pitchFamily="34" charset="0"/>
                <a:ea typeface="Calibri" pitchFamily="34" charset="-122"/>
                <a:cs typeface="B Nazanin" pitchFamily="34" charset="-120"/>
              </a:rPr>
              <a:t>خطای متوسط: ۵٫۵۰ میلی‌متر</a:t>
            </a:r>
            <a:endParaRPr lang="en-US" sz="1400" dirty="0"/>
          </a:p>
          <a:p>
            <a:pPr marL="342900" indent="-342900" rtl="1" algn="r">
              <a:lnSpc>
                <a:spcPct val="140000"/>
              </a:lnSpc>
              <a:spcAft>
                <a:spcPts val="1000"/>
              </a:spcAft>
              <a:buSzPct val="100000"/>
              <a:buChar char="•"/>
            </a:pPr>
            <a:r>
              <a:rPr lang="en-US" sz="1400" dirty="0">
                <a:solidFill>
                  <a:srgbClr val="2E2D29"/>
                </a:solidFill>
                <a:latin typeface="Calibri" pitchFamily="34" charset="0"/>
                <a:ea typeface="Calibri" pitchFamily="34" charset="-122"/>
                <a:cs typeface="B Nazanin" pitchFamily="34" charset="-120"/>
              </a:rPr>
              <a:t>دقت: ۰٫۷۸۰</a:t>
            </a:r>
            <a:endParaRPr lang="en-US" sz="1400" dirty="0"/>
          </a:p>
          <a:p>
            <a:pPr marL="342900" indent="-342900" rtl="1" algn="r">
              <a:lnSpc>
                <a:spcPct val="140000"/>
              </a:lnSpc>
              <a:spcAft>
                <a:spcPts val="1000"/>
              </a:spcAft>
              <a:buSzPct val="100000"/>
              <a:buChar char="•"/>
            </a:pPr>
            <a:r>
              <a:rPr lang="en-US" sz="1400" dirty="0">
                <a:solidFill>
                  <a:srgbClr val="2E2D29"/>
                </a:solidFill>
                <a:latin typeface="Calibri" pitchFamily="34" charset="0"/>
                <a:ea typeface="Calibri" pitchFamily="34" charset="-122"/>
                <a:cs typeface="B Nazanin" pitchFamily="34" charset="-120"/>
              </a:rPr>
              <a:t>هاله‌های یافته‌شده: ۵۷ از ۶۳</a:t>
            </a:r>
            <a:endParaRPr lang="en-US" sz="1400" dirty="0"/>
          </a:p>
          <a:p>
            <a:pPr marL="342900" indent="-342900" rtl="1" algn="r">
              <a:lnSpc>
                <a:spcPct val="140000"/>
              </a:lnSpc>
              <a:spcAft>
                <a:spcPts val="1000"/>
              </a:spcAft>
              <a:buSzPct val="100000"/>
              <a:buChar char="•"/>
            </a:pPr>
            <a:r>
              <a:rPr lang="en-US" sz="1400" dirty="0">
                <a:solidFill>
                  <a:srgbClr val="2E2D29"/>
                </a:solidFill>
                <a:latin typeface="Calibri" pitchFamily="34" charset="0"/>
                <a:ea typeface="Calibri" pitchFamily="34" charset="-122"/>
                <a:cs typeface="B Nazanin" pitchFamily="34" charset="-120"/>
              </a:rPr>
              <a:t>حدود توافق: ۱۶٫۱− تا ۱۵٫۱+ میلی‌متر</a:t>
            </a:r>
            <a:endParaRPr lang="en-US" sz="1400" dirty="0"/>
          </a:p>
        </p:txBody>
      </p:sp>
      <p:sp>
        <p:nvSpPr>
          <p:cNvPr id="8" name="Shape 6"/>
          <p:cNvSpPr/>
          <p:nvPr/>
        </p:nvSpPr>
        <p:spPr>
          <a:xfrm>
            <a:off x="899160" y="1325880"/>
            <a:ext cx="5212080" cy="4297680"/>
          </a:xfrm>
          <a:prstGeom prst="roundRect">
            <a:avLst>
              <a:gd name="adj" fmla="val 1702"/>
            </a:avLst>
          </a:prstGeom>
          <a:solidFill>
            <a:srgbClr val="F7F5F1"/>
          </a:solidFill>
          <a:ln w="12700">
            <a:solidFill>
              <a:srgbClr val="E8E5E0"/>
            </a:solidFill>
            <a:prstDash val="solid"/>
          </a:ln>
        </p:spPr>
      </p:sp>
      <p:sp>
        <p:nvSpPr>
          <p:cNvPr id="9" name="Shape 7"/>
          <p:cNvSpPr/>
          <p:nvPr/>
        </p:nvSpPr>
        <p:spPr>
          <a:xfrm>
            <a:off x="899160" y="1325880"/>
            <a:ext cx="5212080" cy="594360"/>
          </a:xfrm>
          <a:prstGeom prst="rect">
            <a:avLst/>
          </a:prstGeom>
          <a:solidFill>
            <a:srgbClr val="8C1515"/>
          </a:solidFill>
          <a:ln/>
        </p:spPr>
      </p:sp>
      <p:sp>
        <p:nvSpPr>
          <p:cNvPr id="10" name="Text 8"/>
          <p:cNvSpPr txBox="1"/>
          <p:nvPr/>
        </p:nvSpPr>
        <p:spPr>
          <a:xfrm>
            <a:off x="899160" y="1325880"/>
            <a:ext cx="5212080" cy="594360"/>
          </a:xfrm>
          <a:prstGeom prst="rect">
            <a:avLst/>
          </a:prstGeom>
          <a:noFill/>
          <a:ln/>
        </p:spPr>
        <p:txBody>
          <a:bodyPr wrap="square" rtlCol="0" anchor="ctr"/>
          <a:lstStyle/>
          <a:p>
            <a:pPr algn="ctr" indent="0" marL="0" rtl="1">
              <a:buNone/>
            </a:pPr>
            <a:r>
              <a:rPr lang="en-US" sz="1600" b="1" dirty="0">
                <a:solidFill>
                  <a:srgbClr val="FFFFFF"/>
                </a:solidFill>
                <a:latin typeface="Cambria" pitchFamily="34" charset="0"/>
                <a:ea typeface="Cambria" pitchFamily="34" charset="-122"/>
                <a:cs typeface="B Titr" pitchFamily="34" charset="-120"/>
              </a:rPr>
              <a:t>ترکیب سه روش</a:t>
            </a:r>
            <a:endParaRPr lang="en-US" sz="1600" dirty="0"/>
          </a:p>
        </p:txBody>
      </p:sp>
      <p:sp>
        <p:nvSpPr>
          <p:cNvPr id="11" name="Text 9"/>
          <p:cNvSpPr txBox="1"/>
          <p:nvPr/>
        </p:nvSpPr>
        <p:spPr>
          <a:xfrm>
            <a:off x="1264920" y="2148840"/>
            <a:ext cx="4480560" cy="3291840"/>
          </a:xfrm>
          <a:prstGeom prst="rect">
            <a:avLst/>
          </a:prstGeom>
          <a:noFill/>
          <a:ln/>
        </p:spPr>
        <p:txBody>
          <a:bodyPr wrap="square" rtlCol="0" anchor="ctr"/>
          <a:lstStyle/>
          <a:p>
            <a:pPr marL="342900" indent="-342900" rtl="1" algn="r">
              <a:lnSpc>
                <a:spcPct val="140000"/>
              </a:lnSpc>
              <a:spcAft>
                <a:spcPts val="1000"/>
              </a:spcAft>
              <a:buSzPct val="100000"/>
              <a:buChar char="•"/>
            </a:pPr>
            <a:r>
              <a:rPr lang="en-US" sz="1400" dirty="0">
                <a:solidFill>
                  <a:srgbClr val="2E2D29"/>
                </a:solidFill>
                <a:latin typeface="Calibri" pitchFamily="34" charset="0"/>
                <a:ea typeface="Calibri" pitchFamily="34" charset="-122"/>
                <a:cs typeface="B Nazanin" pitchFamily="34" charset="-120"/>
              </a:rPr>
              <a:t>خطای متوسط: ۳٫۸۵ میلی‌متر</a:t>
            </a:r>
            <a:endParaRPr lang="en-US" sz="1400" dirty="0"/>
          </a:p>
          <a:p>
            <a:pPr marL="342900" indent="-342900" rtl="1" algn="r">
              <a:lnSpc>
                <a:spcPct val="140000"/>
              </a:lnSpc>
              <a:spcAft>
                <a:spcPts val="1000"/>
              </a:spcAft>
              <a:buSzPct val="100000"/>
              <a:buChar char="•"/>
            </a:pPr>
            <a:r>
              <a:rPr lang="en-US" sz="1400" dirty="0">
                <a:solidFill>
                  <a:srgbClr val="2E2D29"/>
                </a:solidFill>
                <a:latin typeface="Calibri" pitchFamily="34" charset="0"/>
                <a:ea typeface="Calibri" pitchFamily="34" charset="-122"/>
                <a:cs typeface="B Nazanin" pitchFamily="34" charset="-120"/>
              </a:rPr>
              <a:t>دقت: ۰٫۸۲۴</a:t>
            </a:r>
            <a:endParaRPr lang="en-US" sz="1400" dirty="0"/>
          </a:p>
          <a:p>
            <a:pPr marL="342900" indent="-342900" rtl="1" algn="r">
              <a:lnSpc>
                <a:spcPct val="140000"/>
              </a:lnSpc>
              <a:spcAft>
                <a:spcPts val="1000"/>
              </a:spcAft>
              <a:buSzPct val="100000"/>
              <a:buChar char="•"/>
            </a:pPr>
            <a:r>
              <a:rPr lang="en-US" sz="1400" dirty="0">
                <a:solidFill>
                  <a:srgbClr val="2E2D29"/>
                </a:solidFill>
                <a:latin typeface="Calibri" pitchFamily="34" charset="0"/>
                <a:ea typeface="Calibri" pitchFamily="34" charset="-122"/>
                <a:cs typeface="B Nazanin" pitchFamily="34" charset="-120"/>
              </a:rPr>
              <a:t>هاله‌های یافته‌شده: ۶۰ از ۶۳</a:t>
            </a:r>
            <a:endParaRPr lang="en-US" sz="1400" dirty="0"/>
          </a:p>
          <a:p>
            <a:pPr marL="342900" indent="-342900" rtl="1" algn="r">
              <a:lnSpc>
                <a:spcPct val="140000"/>
              </a:lnSpc>
              <a:spcAft>
                <a:spcPts val="1000"/>
              </a:spcAft>
              <a:buSzPct val="100000"/>
              <a:buChar char="•"/>
            </a:pPr>
            <a:r>
              <a:rPr lang="en-US" sz="1400" dirty="0">
                <a:solidFill>
                  <a:srgbClr val="2E2D29"/>
                </a:solidFill>
                <a:latin typeface="Calibri" pitchFamily="34" charset="0"/>
                <a:ea typeface="Calibri" pitchFamily="34" charset="-122"/>
                <a:cs typeface="B Nazanin" pitchFamily="34" charset="-120"/>
              </a:rPr>
              <a:t>حدود توافق: ۱۲٫۳− تا ۱۱٫۱+ میلی‌متر · میانه خطا ۲٫۱۰ میلی‌متر · کاهش سی‌درصدی خطا</a:t>
            </a:r>
            <a:endParaRPr lang="en-US" sz="1400" dirty="0"/>
          </a:p>
        </p:txBody>
      </p:sp>
      <p:sp>
        <p:nvSpPr>
          <p:cNvPr id="12" name="Text 10"/>
          <p:cNvSpPr txBox="1"/>
          <p:nvPr/>
        </p:nvSpPr>
        <p:spPr>
          <a:xfrm>
            <a:off x="4328160" y="6473952"/>
            <a:ext cx="7315200" cy="274320"/>
          </a:xfrm>
          <a:prstGeom prst="rect">
            <a:avLst/>
          </a:prstGeom>
          <a:noFill/>
          <a:ln/>
        </p:spPr>
        <p:txBody>
          <a:bodyPr wrap="square" rtlCol="0" anchor="ctr"/>
          <a:lstStyle/>
          <a:p>
            <a:pPr indent="0" marL="0" rtl="1" algn="r">
              <a:buNone/>
            </a:pPr>
            <a:r>
              <a:rPr lang="en-US" sz="900" spc="200" kern="0" dirty="0">
                <a:solidFill>
                  <a:srgbClr val="716E69"/>
                </a:solidFill>
                <a:latin typeface="Calibri" pitchFamily="34" charset="0"/>
                <a:ea typeface="Calibri" pitchFamily="34" charset="-122"/>
                <a:cs typeface="B Nazanin" pitchFamily="34" charset="-120"/>
              </a:rPr>
              <a:t>نتایج</a:t>
            </a:r>
            <a:endParaRPr lang="en-US" sz="900" dirty="0"/>
          </a:p>
        </p:txBody>
      </p:sp>
      <p:sp>
        <p:nvSpPr>
          <p:cNvPr id="13" name="Text 11"/>
          <p:cNvSpPr txBox="1"/>
          <p:nvPr/>
        </p:nvSpPr>
        <p:spPr>
          <a:xfrm>
            <a:off x="185928" y="6473952"/>
            <a:ext cx="457200" cy="274320"/>
          </a:xfrm>
          <a:prstGeom prst="rect">
            <a:avLst/>
          </a:prstGeom>
          <a:noFill/>
          <a:ln/>
        </p:spPr>
        <p:txBody>
          <a:bodyPr wrap="square" rtlCol="0" anchor="ctr"/>
          <a:lstStyle/>
          <a:p>
            <a:pPr algn="r" indent="0" marL="0" rtl="1">
              <a:buNone/>
            </a:pPr>
            <a:r>
              <a:rPr lang="en-US" sz="900" dirty="0">
                <a:solidFill>
                  <a:srgbClr val="716E69"/>
                </a:solidFill>
                <a:latin typeface="Calibri" pitchFamily="34" charset="0"/>
                <a:ea typeface="Calibri" pitchFamily="34" charset="-122"/>
                <a:cs typeface="B Nazanin" pitchFamily="34" charset="-120"/>
              </a:rPr>
              <a:t>۱۳ / ۲۴</a:t>
            </a:r>
            <a:endParaRPr lang="en-US" sz="900" dirty="0"/>
          </a:p>
        </p:txBody>
      </p:sp>
      <p:sp>
        <p:nvSpPr>
          <p:cNvPr id="9001" name="progress track"/>
          <p:cNvSpPr/>
          <p:nvPr/>
        </p:nvSpPr>
        <p:spPr>
          <a:xfrm>
            <a:off x="0" y="6803000"/>
            <a:ext cx="12192000" cy="55000"/>
          </a:xfrm>
          <a:prstGeom prst="rect">
            <a:avLst/>
          </a:prstGeom>
          <a:solidFill>
            <a:srgbClr val="EDE9E5"/>
          </a:solidFill>
          <a:ln>
            <a:noFill/>
          </a:ln>
        </p:spPr>
        <p:txBody>
          <a:bodyPr/>
          <a:lstStyle/>
          <a:p/>
        </p:txBody>
      </p:sp>
      <p:sp>
        <p:nvSpPr>
          <p:cNvPr id="9002" name="progress fill"/>
          <p:cNvSpPr/>
          <p:nvPr/>
        </p:nvSpPr>
        <p:spPr>
          <a:xfrm>
            <a:off x="5588000" y="6803000"/>
            <a:ext cx="6604000" cy="55000"/>
          </a:xfrm>
          <a:prstGeom prst="rect">
            <a:avLst/>
          </a:prstGeom>
          <a:solidFill>
            <a:srgbClr val="8C1515"/>
          </a:solidFill>
          <a:ln>
            <a:noFill/>
          </a:ln>
        </p:spPr>
        <p:txBody>
          <a:bodyPr/>
          <a:lstStyle/>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11442192" y="475488"/>
            <a:ext cx="201168" cy="201168"/>
          </a:xfrm>
          <a:prstGeom prst="ellipse">
            <a:avLst/>
          </a:prstGeom>
          <a:solidFill>
            <a:srgbClr val="E98300"/>
          </a:solidFill>
          <a:ln/>
        </p:spPr>
      </p:sp>
      <p:sp>
        <p:nvSpPr>
          <p:cNvPr id="3" name="Text 1"/>
          <p:cNvSpPr txBox="1"/>
          <p:nvPr/>
        </p:nvSpPr>
        <p:spPr>
          <a:xfrm>
            <a:off x="1694688" y="347472"/>
            <a:ext cx="9601200" cy="502920"/>
          </a:xfrm>
          <a:prstGeom prst="rect">
            <a:avLst/>
          </a:prstGeom>
          <a:noFill/>
          <a:ln/>
        </p:spPr>
        <p:txBody>
          <a:bodyPr wrap="square" rtlCol="0" anchor="ctr"/>
          <a:lstStyle/>
          <a:p>
            <a:pPr indent="0" marL="0" rtl="1" algn="r">
              <a:buNone/>
            </a:pPr>
            <a:r>
              <a:rPr lang="en-US" sz="3000" b="1" dirty="0">
                <a:solidFill>
                  <a:srgbClr val="8C1515"/>
                </a:solidFill>
                <a:latin typeface="Cambria" pitchFamily="34" charset="0"/>
                <a:ea typeface="Cambria" pitchFamily="34" charset="-122"/>
                <a:cs typeface="B Titr" pitchFamily="34" charset="-120"/>
              </a:rPr>
              <a:t>یافته اصلی: سقفی که چهار روش مستقل به آن رسیدند</a:t>
            </a:r>
            <a:endParaRPr lang="en-US" sz="3000" dirty="0"/>
          </a:p>
        </p:txBody>
      </p:sp>
      <p:sp>
        <p:nvSpPr>
          <p:cNvPr id="4" name="Text 2"/>
          <p:cNvSpPr txBox="1"/>
          <p:nvPr/>
        </p:nvSpPr>
        <p:spPr>
          <a:xfrm>
            <a:off x="4968240" y="1371600"/>
            <a:ext cx="6675120" cy="4206240"/>
          </a:xfrm>
          <a:prstGeom prst="rect">
            <a:avLst/>
          </a:prstGeom>
          <a:noFill/>
          <a:ln/>
        </p:spPr>
        <p:txBody>
          <a:bodyPr wrap="square" rtlCol="0" anchor="ctr"/>
          <a:lstStyle/>
          <a:p>
            <a:pPr marL="342900" indent="-342900" rtl="1" algn="r">
              <a:lnSpc>
                <a:spcPct val="135000"/>
              </a:lnSpc>
              <a:spcAft>
                <a:spcPts val="1600"/>
              </a:spcAft>
              <a:buSzPct val="100000"/>
              <a:buChar char="•"/>
            </a:pPr>
            <a:r>
              <a:rPr lang="en-US" sz="1600" dirty="0">
                <a:solidFill>
                  <a:srgbClr val="2E2D29"/>
                </a:solidFill>
                <a:latin typeface="Calibri" pitchFamily="34" charset="0"/>
                <a:ea typeface="Calibri" pitchFamily="34" charset="-122"/>
                <a:cs typeface="B Nazanin" pitchFamily="34" charset="-120"/>
              </a:rPr>
              <a:t>اندازه‌گیری: بر روی حدود نیمی از دیسک‌ها، اختلاف روشنایی داخل هاله با محیط کشت تنها ۰٫۳ انحراف معیار فضایی است.</a:t>
            </a:r>
            <a:endParaRPr lang="en-US" sz="1600" dirty="0"/>
          </a:p>
          <a:p>
            <a:pPr marL="342900" indent="-342900" rtl="1" algn="r">
              <a:lnSpc>
                <a:spcPct val="135000"/>
              </a:lnSpc>
              <a:spcAft>
                <a:spcPts val="1600"/>
              </a:spcAft>
              <a:buSzPct val="100000"/>
              <a:buChar char="•"/>
            </a:pPr>
            <a:r>
              <a:rPr lang="en-US" sz="1600" dirty="0">
                <a:solidFill>
                  <a:srgbClr val="2E2D29"/>
                </a:solidFill>
                <a:latin typeface="Calibri" pitchFamily="34" charset="0"/>
                <a:ea typeface="Calibri" pitchFamily="34" charset="-122"/>
                <a:cs typeface="B Nazanin" pitchFamily="34" charset="-120"/>
              </a:rPr>
              <a:t>کنترل یکم: مرجع داخل هاله در صفر درصد موارد خارج از هاله قرار گرفته است.</a:t>
            </a:r>
            <a:endParaRPr lang="en-US" sz="1600" dirty="0"/>
          </a:p>
          <a:p>
            <a:pPr marL="342900" indent="-342900" rtl="1" algn="r">
              <a:lnSpc>
                <a:spcPct val="135000"/>
              </a:lnSpc>
              <a:spcAft>
                <a:spcPts val="1600"/>
              </a:spcAft>
              <a:buSzPct val="100000"/>
              <a:buChar char="•"/>
            </a:pPr>
            <a:r>
              <a:rPr lang="en-US" sz="1600" dirty="0">
                <a:solidFill>
                  <a:srgbClr val="2E2D29"/>
                </a:solidFill>
                <a:latin typeface="Calibri" pitchFamily="34" charset="0"/>
                <a:ea typeface="Calibri" pitchFamily="34" charset="-122"/>
                <a:cs typeface="B Nazanin" pitchFamily="34" charset="-120"/>
              </a:rPr>
              <a:t>کنترل دوم: با در اختیار گذاشتن محل واقعی مرز، جدایش به ۰٫۲۹ کاهش می‌یابد.</a:t>
            </a:r>
            <a:endParaRPr lang="en-US" sz="1600" dirty="0"/>
          </a:p>
          <a:p>
            <a:pPr marL="342900" indent="-342900" rtl="1" algn="r">
              <a:lnSpc>
                <a:spcPct val="135000"/>
              </a:lnSpc>
              <a:spcAft>
                <a:spcPts val="1600"/>
              </a:spcAft>
              <a:buSzPct val="100000"/>
              <a:buChar char="•"/>
            </a:pPr>
            <a:r>
              <a:rPr lang="en-US" sz="1600" dirty="0">
                <a:solidFill>
                  <a:srgbClr val="2E2D29"/>
                </a:solidFill>
                <a:latin typeface="Calibri" pitchFamily="34" charset="0"/>
                <a:ea typeface="Calibri" pitchFamily="34" charset="-122"/>
                <a:cs typeface="B Nazanin" pitchFamily="34" charset="-120"/>
              </a:rPr>
              <a:t>دو راهکار استاندارد آزموده و رد شد: تغییر فضای نوری، خطا را به ۷٫۰۰ میلی‌متر افزایش داد و میانگین‌گیری فضایی، ۲٫۶۳ میلی‌متر تاری به مرز افزود.</a:t>
            </a:r>
            <a:endParaRPr lang="en-US" sz="1600" dirty="0"/>
          </a:p>
        </p:txBody>
      </p:sp>
      <p:sp>
        <p:nvSpPr>
          <p:cNvPr id="5" name="Shape 3"/>
          <p:cNvSpPr/>
          <p:nvPr/>
        </p:nvSpPr>
        <p:spPr>
          <a:xfrm>
            <a:off x="533400" y="1371600"/>
            <a:ext cx="4114800" cy="4206240"/>
          </a:xfrm>
          <a:prstGeom prst="roundRect">
            <a:avLst>
              <a:gd name="adj" fmla="val 1778"/>
            </a:avLst>
          </a:prstGeom>
          <a:solidFill>
            <a:srgbClr val="F7F5F1"/>
          </a:solidFill>
          <a:ln/>
        </p:spPr>
      </p:sp>
      <p:sp>
        <p:nvSpPr>
          <p:cNvPr id="6" name="Shape 4"/>
          <p:cNvSpPr/>
          <p:nvPr/>
        </p:nvSpPr>
        <p:spPr>
          <a:xfrm>
            <a:off x="2042160" y="1828800"/>
            <a:ext cx="1097280" cy="1097280"/>
          </a:xfrm>
          <a:prstGeom prst="ellipse">
            <a:avLst/>
          </a:prstGeom>
          <a:solidFill>
            <a:srgbClr val="E98300"/>
          </a:solidFill>
          <a:ln/>
        </p:spPr>
      </p:sp>
      <p:sp>
        <p:nvSpPr>
          <p:cNvPr id="7" name="Text 5"/>
          <p:cNvSpPr txBox="1"/>
          <p:nvPr/>
        </p:nvSpPr>
        <p:spPr>
          <a:xfrm>
            <a:off x="2042160" y="1828800"/>
            <a:ext cx="1097280" cy="1097280"/>
          </a:xfrm>
          <a:prstGeom prst="rect">
            <a:avLst/>
          </a:prstGeom>
          <a:noFill/>
          <a:ln/>
        </p:spPr>
        <p:txBody>
          <a:bodyPr wrap="square" rtlCol="0" anchor="ctr"/>
          <a:lstStyle/>
          <a:p>
            <a:pPr algn="ctr" indent="0" marL="0" rtl="1">
              <a:buNone/>
            </a:pPr>
            <a:r>
              <a:rPr lang="en-US" sz="4000" b="1" dirty="0">
                <a:solidFill>
                  <a:srgbClr val="FFFFFF"/>
                </a:solidFill>
                <a:latin typeface="Cambria" pitchFamily="34" charset="0"/>
                <a:ea typeface="Cambria" pitchFamily="34" charset="-122"/>
                <a:cs typeface="B Titr" pitchFamily="34" charset="-120"/>
              </a:rPr>
              <a:t>•</a:t>
            </a:r>
            <a:endParaRPr lang="en-US" sz="4000" dirty="0"/>
          </a:p>
        </p:txBody>
      </p:sp>
      <p:sp>
        <p:nvSpPr>
          <p:cNvPr id="8" name="Text 6"/>
          <p:cNvSpPr txBox="1"/>
          <p:nvPr/>
        </p:nvSpPr>
        <p:spPr>
          <a:xfrm>
            <a:off x="716280" y="3108960"/>
            <a:ext cx="3657600" cy="365760"/>
          </a:xfrm>
          <a:prstGeom prst="rect">
            <a:avLst/>
          </a:prstGeom>
          <a:noFill/>
          <a:ln/>
        </p:spPr>
        <p:txBody>
          <a:bodyPr wrap="square" rtlCol="0" anchor="ctr"/>
          <a:lstStyle/>
          <a:p>
            <a:pPr algn="ctr" indent="0" marL="0" rtl="1">
              <a:buNone/>
            </a:pPr>
            <a:r>
              <a:rPr lang="en-US" sz="1800" b="1" dirty="0">
                <a:solidFill>
                  <a:srgbClr val="8C1515"/>
                </a:solidFill>
                <a:latin typeface="Cambria" pitchFamily="34" charset="0"/>
                <a:ea typeface="Cambria" pitchFamily="34" charset="-122"/>
                <a:cs typeface="B Titr" pitchFamily="34" charset="-120"/>
              </a:rPr>
              <a:t>پیام کلیدی</a:t>
            </a:r>
            <a:endParaRPr lang="en-US" sz="1800" dirty="0"/>
          </a:p>
        </p:txBody>
      </p:sp>
      <p:sp>
        <p:nvSpPr>
          <p:cNvPr id="9" name="Text 7"/>
          <p:cNvSpPr txBox="1"/>
          <p:nvPr/>
        </p:nvSpPr>
        <p:spPr>
          <a:xfrm>
            <a:off x="716280" y="3520440"/>
            <a:ext cx="3657600" cy="1828800"/>
          </a:xfrm>
          <a:prstGeom prst="rect">
            <a:avLst/>
          </a:prstGeom>
          <a:noFill/>
          <a:ln/>
        </p:spPr>
        <p:txBody>
          <a:bodyPr wrap="square" rtlCol="0" anchor="ctr"/>
          <a:lstStyle/>
          <a:p>
            <a:pPr algn="ctr" indent="0" marL="0" rtl="1">
              <a:lnSpc>
                <a:spcPct val="130000"/>
              </a:lnSpc>
              <a:buNone/>
            </a:pPr>
            <a:r>
              <a:rPr lang="en-US" sz="1300" dirty="0">
                <a:solidFill>
                  <a:srgbClr val="716E69"/>
                </a:solidFill>
                <a:latin typeface="Calibri" pitchFamily="34" charset="0"/>
                <a:ea typeface="Calibri" pitchFamily="34" charset="-122"/>
                <a:cs typeface="B Nazanin" pitchFamily="34" charset="-120"/>
              </a:rPr>
              <a:t>این اطلاعات به‌طور کامل از تصویر حذف نشده است؛ اما هیچ‌یک از روش‌های پژوهش حاضر در این سطح کنتراست به آن دست نیافت.</a:t>
            </a:r>
            <a:endParaRPr lang="en-US" sz="1300" dirty="0"/>
          </a:p>
        </p:txBody>
      </p:sp>
      <p:sp>
        <p:nvSpPr>
          <p:cNvPr id="10" name="Text 8"/>
          <p:cNvSpPr txBox="1"/>
          <p:nvPr/>
        </p:nvSpPr>
        <p:spPr>
          <a:xfrm>
            <a:off x="4328160" y="6473952"/>
            <a:ext cx="7315200" cy="274320"/>
          </a:xfrm>
          <a:prstGeom prst="rect">
            <a:avLst/>
          </a:prstGeom>
          <a:noFill/>
          <a:ln/>
        </p:spPr>
        <p:txBody>
          <a:bodyPr wrap="square" rtlCol="0" anchor="ctr"/>
          <a:lstStyle/>
          <a:p>
            <a:pPr indent="0" marL="0" rtl="1" algn="r">
              <a:buNone/>
            </a:pPr>
            <a:r>
              <a:rPr lang="en-US" sz="900" spc="200" kern="0" dirty="0">
                <a:solidFill>
                  <a:srgbClr val="716E69"/>
                </a:solidFill>
                <a:latin typeface="Calibri" pitchFamily="34" charset="0"/>
                <a:ea typeface="Calibri" pitchFamily="34" charset="-122"/>
                <a:cs typeface="B Nazanin" pitchFamily="34" charset="-120"/>
              </a:rPr>
              <a:t>یافته اصلی</a:t>
            </a:r>
            <a:endParaRPr lang="en-US" sz="900" dirty="0"/>
          </a:p>
        </p:txBody>
      </p:sp>
      <p:sp>
        <p:nvSpPr>
          <p:cNvPr id="11" name="Text 9"/>
          <p:cNvSpPr txBox="1"/>
          <p:nvPr/>
        </p:nvSpPr>
        <p:spPr>
          <a:xfrm>
            <a:off x="185928" y="6473952"/>
            <a:ext cx="457200" cy="274320"/>
          </a:xfrm>
          <a:prstGeom prst="rect">
            <a:avLst/>
          </a:prstGeom>
          <a:noFill/>
          <a:ln/>
        </p:spPr>
        <p:txBody>
          <a:bodyPr wrap="square" rtlCol="0" anchor="ctr"/>
          <a:lstStyle/>
          <a:p>
            <a:pPr algn="r" indent="0" marL="0" rtl="1">
              <a:buNone/>
            </a:pPr>
            <a:r>
              <a:rPr lang="en-US" sz="900" dirty="0">
                <a:solidFill>
                  <a:srgbClr val="716E69"/>
                </a:solidFill>
                <a:latin typeface="Calibri" pitchFamily="34" charset="0"/>
                <a:ea typeface="Calibri" pitchFamily="34" charset="-122"/>
                <a:cs typeface="B Nazanin" pitchFamily="34" charset="-120"/>
              </a:rPr>
              <a:t>۱۸ / ۲۴</a:t>
            </a:r>
            <a:endParaRPr lang="en-US" sz="900" dirty="0"/>
          </a:p>
        </p:txBody>
      </p:sp>
      <p:sp>
        <p:nvSpPr>
          <p:cNvPr id="9001" name="progress track"/>
          <p:cNvSpPr/>
          <p:nvPr/>
        </p:nvSpPr>
        <p:spPr>
          <a:xfrm>
            <a:off x="0" y="6803000"/>
            <a:ext cx="12192000" cy="55000"/>
          </a:xfrm>
          <a:prstGeom prst="rect">
            <a:avLst/>
          </a:prstGeom>
          <a:solidFill>
            <a:srgbClr val="EDE9E5"/>
          </a:solidFill>
          <a:ln>
            <a:noFill/>
          </a:ln>
        </p:spPr>
        <p:txBody>
          <a:bodyPr/>
          <a:lstStyle/>
          <a:p/>
        </p:txBody>
      </p:sp>
      <p:sp>
        <p:nvSpPr>
          <p:cNvPr id="9002" name="progress fill"/>
          <p:cNvSpPr/>
          <p:nvPr/>
        </p:nvSpPr>
        <p:spPr>
          <a:xfrm>
            <a:off x="3048000" y="6803000"/>
            <a:ext cx="9144000" cy="55000"/>
          </a:xfrm>
          <a:prstGeom prst="rect">
            <a:avLst/>
          </a:prstGeom>
          <a:solidFill>
            <a:srgbClr val="8C1515"/>
          </a:solidFill>
          <a:ln>
            <a:noFill/>
          </a:ln>
        </p:spPr>
        <p:txBody>
          <a:bodyPr/>
          <a:lstStyle/>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11442192" y="475488"/>
            <a:ext cx="201168" cy="201168"/>
          </a:xfrm>
          <a:prstGeom prst="ellipse">
            <a:avLst/>
          </a:prstGeom>
          <a:solidFill>
            <a:srgbClr val="E98300"/>
          </a:solidFill>
          <a:ln/>
        </p:spPr>
      </p:sp>
      <p:sp>
        <p:nvSpPr>
          <p:cNvPr id="3" name="Text 1"/>
          <p:cNvSpPr txBox="1"/>
          <p:nvPr/>
        </p:nvSpPr>
        <p:spPr>
          <a:xfrm>
            <a:off x="1694688" y="347472"/>
            <a:ext cx="9601200" cy="502920"/>
          </a:xfrm>
          <a:prstGeom prst="rect">
            <a:avLst/>
          </a:prstGeom>
          <a:noFill/>
          <a:ln/>
        </p:spPr>
        <p:txBody>
          <a:bodyPr wrap="square" rtlCol="0" anchor="ctr"/>
          <a:lstStyle/>
          <a:p>
            <a:pPr indent="0" marL="0" rtl="1" algn="r">
              <a:buNone/>
            </a:pPr>
            <a:r>
              <a:rPr lang="en-US" sz="3000" b="1" dirty="0">
                <a:solidFill>
                  <a:srgbClr val="8C1515"/>
                </a:solidFill>
                <a:latin typeface="Cambria" pitchFamily="34" charset="0"/>
                <a:ea typeface="Cambria" pitchFamily="34" charset="-122"/>
                <a:cs typeface="B Titr" pitchFamily="34" charset="-120"/>
              </a:rPr>
              <a:t>محدودیت‌ها</a:t>
            </a:r>
            <a:endParaRPr lang="en-US" sz="3000" dirty="0"/>
          </a:p>
        </p:txBody>
      </p:sp>
      <p:sp>
        <p:nvSpPr>
          <p:cNvPr id="4" name="Shape 2"/>
          <p:cNvSpPr/>
          <p:nvPr/>
        </p:nvSpPr>
        <p:spPr>
          <a:xfrm>
            <a:off x="11049000" y="1417320"/>
            <a:ext cx="594360" cy="594360"/>
          </a:xfrm>
          <a:prstGeom prst="ellipse">
            <a:avLst/>
          </a:prstGeom>
          <a:solidFill>
            <a:srgbClr val="620059"/>
          </a:solidFill>
          <a:ln/>
        </p:spPr>
      </p:sp>
      <p:sp>
        <p:nvSpPr>
          <p:cNvPr id="5" name="Text 3"/>
          <p:cNvSpPr txBox="1"/>
          <p:nvPr/>
        </p:nvSpPr>
        <p:spPr>
          <a:xfrm>
            <a:off x="11049000" y="1417320"/>
            <a:ext cx="594360" cy="59436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۱</a:t>
            </a:r>
            <a:endParaRPr lang="en-US" sz="2000" dirty="0"/>
          </a:p>
        </p:txBody>
      </p:sp>
      <p:sp>
        <p:nvSpPr>
          <p:cNvPr id="6" name="Text 4"/>
          <p:cNvSpPr txBox="1"/>
          <p:nvPr/>
        </p:nvSpPr>
        <p:spPr>
          <a:xfrm>
            <a:off x="7025640" y="1371600"/>
            <a:ext cx="3840480" cy="457200"/>
          </a:xfrm>
          <a:prstGeom prst="rect">
            <a:avLst/>
          </a:prstGeom>
          <a:noFill/>
          <a:ln/>
        </p:spPr>
        <p:txBody>
          <a:bodyPr wrap="square" rtlCol="0" anchor="ctr"/>
          <a:lstStyle/>
          <a:p>
            <a:pPr indent="0" marL="0" rtl="1" algn="r">
              <a:buNone/>
            </a:pPr>
            <a:r>
              <a:rPr lang="en-US" sz="1600" b="1" dirty="0">
                <a:solidFill>
                  <a:srgbClr val="2E2D29"/>
                </a:solidFill>
                <a:latin typeface="Cambria" pitchFamily="34" charset="0"/>
                <a:ea typeface="Cambria" pitchFamily="34" charset="-122"/>
                <a:cs typeface="B Titr" pitchFamily="34" charset="-120"/>
              </a:rPr>
              <a:t>حجم و تنوع داده</a:t>
            </a:r>
            <a:endParaRPr lang="en-US" sz="1600" dirty="0"/>
          </a:p>
        </p:txBody>
      </p:sp>
      <p:sp>
        <p:nvSpPr>
          <p:cNvPr id="7" name="Text 5"/>
          <p:cNvSpPr txBox="1"/>
          <p:nvPr/>
        </p:nvSpPr>
        <p:spPr>
          <a:xfrm>
            <a:off x="579120" y="1371600"/>
            <a:ext cx="6309360" cy="1188720"/>
          </a:xfrm>
          <a:prstGeom prst="rect">
            <a:avLst/>
          </a:prstGeom>
          <a:noFill/>
          <a:ln/>
        </p:spPr>
        <p:txBody>
          <a:bodyPr wrap="square" rtlCol="0" anchor="t"/>
          <a:lstStyle/>
          <a:p>
            <a:pPr indent="0" marL="0" rtl="1" algn="r">
              <a:lnSpc>
                <a:spcPct val="130000"/>
              </a:lnSpc>
              <a:buNone/>
            </a:pPr>
            <a:r>
              <a:rPr lang="en-US" sz="1350" dirty="0">
                <a:solidFill>
                  <a:srgbClr val="716E69"/>
                </a:solidFill>
                <a:latin typeface="Calibri" pitchFamily="34" charset="0"/>
                <a:ea typeface="Calibri" pitchFamily="34" charset="-122"/>
                <a:cs typeface="B Nazanin" pitchFamily="34" charset="-120"/>
              </a:rPr>
              <a:t>یازده تصویر و ۹۳ دیسک، تماماً از یک آزمایشگاه و با یک دوربین. این ارزیابی توصیفی اولیه از دقت است و اعتبارسنجی بالینی محسوب نمی‌شود.</a:t>
            </a:r>
            <a:endParaRPr lang="en-US" sz="1350" dirty="0"/>
          </a:p>
        </p:txBody>
      </p:sp>
      <p:sp>
        <p:nvSpPr>
          <p:cNvPr id="8" name="Shape 6"/>
          <p:cNvSpPr/>
          <p:nvPr/>
        </p:nvSpPr>
        <p:spPr>
          <a:xfrm>
            <a:off x="11049000" y="2834640"/>
            <a:ext cx="594360" cy="594360"/>
          </a:xfrm>
          <a:prstGeom prst="ellipse">
            <a:avLst/>
          </a:prstGeom>
          <a:solidFill>
            <a:srgbClr val="620059"/>
          </a:solidFill>
          <a:ln/>
        </p:spPr>
      </p:sp>
      <p:sp>
        <p:nvSpPr>
          <p:cNvPr id="9" name="Text 7"/>
          <p:cNvSpPr txBox="1"/>
          <p:nvPr/>
        </p:nvSpPr>
        <p:spPr>
          <a:xfrm>
            <a:off x="11049000" y="2834640"/>
            <a:ext cx="594360" cy="59436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۲</a:t>
            </a:r>
            <a:endParaRPr lang="en-US" sz="2000" dirty="0"/>
          </a:p>
        </p:txBody>
      </p:sp>
      <p:sp>
        <p:nvSpPr>
          <p:cNvPr id="10" name="Text 8"/>
          <p:cNvSpPr txBox="1"/>
          <p:nvPr/>
        </p:nvSpPr>
        <p:spPr>
          <a:xfrm>
            <a:off x="7025640" y="2788920"/>
            <a:ext cx="3840480" cy="457200"/>
          </a:xfrm>
          <a:prstGeom prst="rect">
            <a:avLst/>
          </a:prstGeom>
          <a:noFill/>
          <a:ln/>
        </p:spPr>
        <p:txBody>
          <a:bodyPr wrap="square" rtlCol="0" anchor="ctr"/>
          <a:lstStyle/>
          <a:p>
            <a:pPr indent="0" marL="0" rtl="1" algn="r">
              <a:buNone/>
            </a:pPr>
            <a:r>
              <a:rPr lang="en-US" sz="1600" b="1" dirty="0">
                <a:solidFill>
                  <a:srgbClr val="2E2D29"/>
                </a:solidFill>
                <a:latin typeface="Cambria" pitchFamily="34" charset="0"/>
                <a:ea typeface="Cambria" pitchFamily="34" charset="-122"/>
                <a:cs typeface="B Titr" pitchFamily="34" charset="-120"/>
              </a:rPr>
              <a:t>پروتکل تصویربرداری</a:t>
            </a:r>
            <a:endParaRPr lang="en-US" sz="1600" dirty="0"/>
          </a:p>
        </p:txBody>
      </p:sp>
      <p:sp>
        <p:nvSpPr>
          <p:cNvPr id="11" name="Text 9"/>
          <p:cNvSpPr txBox="1"/>
          <p:nvPr/>
        </p:nvSpPr>
        <p:spPr>
          <a:xfrm>
            <a:off x="579120" y="2788920"/>
            <a:ext cx="6309360" cy="1188720"/>
          </a:xfrm>
          <a:prstGeom prst="rect">
            <a:avLst/>
          </a:prstGeom>
          <a:noFill/>
          <a:ln/>
        </p:spPr>
        <p:txBody>
          <a:bodyPr wrap="square" rtlCol="0" anchor="t"/>
          <a:lstStyle/>
          <a:p>
            <a:pPr indent="0" marL="0" rtl="1" algn="r">
              <a:lnSpc>
                <a:spcPct val="130000"/>
              </a:lnSpc>
              <a:buNone/>
            </a:pPr>
            <a:r>
              <a:rPr lang="en-US" sz="1350" dirty="0">
                <a:solidFill>
                  <a:srgbClr val="716E69"/>
                </a:solidFill>
                <a:latin typeface="Calibri" pitchFamily="34" charset="0"/>
                <a:ea typeface="Calibri" pitchFamily="34" charset="-122"/>
                <a:cs typeface="B Nazanin" pitchFamily="34" charset="-120"/>
              </a:rPr>
              <a:t>تصاویر با تلفن همراه و در نور معمولی اتاق تهیه شده‌اند، در حالی که استاندارد، نور بازتابی و زمینه تیره را توصیه می‌کند.</a:t>
            </a:r>
            <a:endParaRPr lang="en-US" sz="1350" dirty="0"/>
          </a:p>
        </p:txBody>
      </p:sp>
      <p:sp>
        <p:nvSpPr>
          <p:cNvPr id="12" name="Shape 10"/>
          <p:cNvSpPr/>
          <p:nvPr/>
        </p:nvSpPr>
        <p:spPr>
          <a:xfrm>
            <a:off x="11049000" y="4251960"/>
            <a:ext cx="594360" cy="594360"/>
          </a:xfrm>
          <a:prstGeom prst="ellipse">
            <a:avLst/>
          </a:prstGeom>
          <a:solidFill>
            <a:srgbClr val="620059"/>
          </a:solidFill>
          <a:ln/>
        </p:spPr>
      </p:sp>
      <p:sp>
        <p:nvSpPr>
          <p:cNvPr id="13" name="Text 11"/>
          <p:cNvSpPr txBox="1"/>
          <p:nvPr/>
        </p:nvSpPr>
        <p:spPr>
          <a:xfrm>
            <a:off x="11049000" y="4251960"/>
            <a:ext cx="594360" cy="59436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۳</a:t>
            </a:r>
            <a:endParaRPr lang="en-US" sz="2000" dirty="0"/>
          </a:p>
        </p:txBody>
      </p:sp>
      <p:sp>
        <p:nvSpPr>
          <p:cNvPr id="14" name="Text 12"/>
          <p:cNvSpPr txBox="1"/>
          <p:nvPr/>
        </p:nvSpPr>
        <p:spPr>
          <a:xfrm>
            <a:off x="7025640" y="4206240"/>
            <a:ext cx="3840480" cy="457200"/>
          </a:xfrm>
          <a:prstGeom prst="rect">
            <a:avLst/>
          </a:prstGeom>
          <a:noFill/>
          <a:ln/>
        </p:spPr>
        <p:txBody>
          <a:bodyPr wrap="square" rtlCol="0" anchor="ctr"/>
          <a:lstStyle/>
          <a:p>
            <a:pPr indent="0" marL="0" rtl="1" algn="r">
              <a:buNone/>
            </a:pPr>
            <a:r>
              <a:rPr lang="en-US" sz="1600" b="1" dirty="0">
                <a:solidFill>
                  <a:srgbClr val="2E2D29"/>
                </a:solidFill>
                <a:latin typeface="Cambria" pitchFamily="34" charset="0"/>
                <a:ea typeface="Cambria" pitchFamily="34" charset="-122"/>
                <a:cs typeface="B Titr" pitchFamily="34" charset="-120"/>
              </a:rPr>
              <a:t>مرجع و دامنه</a:t>
            </a:r>
            <a:endParaRPr lang="en-US" sz="1600" dirty="0"/>
          </a:p>
        </p:txBody>
      </p:sp>
      <p:sp>
        <p:nvSpPr>
          <p:cNvPr id="15" name="Text 13"/>
          <p:cNvSpPr txBox="1"/>
          <p:nvPr/>
        </p:nvSpPr>
        <p:spPr>
          <a:xfrm>
            <a:off x="579120" y="4206240"/>
            <a:ext cx="6309360" cy="1188720"/>
          </a:xfrm>
          <a:prstGeom prst="rect">
            <a:avLst/>
          </a:prstGeom>
          <a:noFill/>
          <a:ln/>
        </p:spPr>
        <p:txBody>
          <a:bodyPr wrap="square" rtlCol="0" anchor="t"/>
          <a:lstStyle/>
          <a:p>
            <a:pPr indent="0" marL="0" rtl="1" algn="r">
              <a:lnSpc>
                <a:spcPct val="130000"/>
              </a:lnSpc>
              <a:buNone/>
            </a:pPr>
            <a:r>
              <a:rPr lang="en-US" sz="1350" dirty="0">
                <a:solidFill>
                  <a:srgbClr val="716E69"/>
                </a:solidFill>
                <a:latin typeface="Calibri" pitchFamily="34" charset="0"/>
                <a:ea typeface="Calibri" pitchFamily="34" charset="-122"/>
                <a:cs typeface="B Nazanin" pitchFamily="34" charset="-120"/>
              </a:rPr>
              <a:t>عدد دو میلی‌متری تکرارپذیری کارشناس مبتنی بر اظهار شفاهی است. نام دارو استخراج نمی‌شود. زمان اجرا یک تا سه دقیقه برای هر تصویر است.</a:t>
            </a:r>
            <a:endParaRPr lang="en-US" sz="1350" dirty="0"/>
          </a:p>
        </p:txBody>
      </p:sp>
      <p:sp>
        <p:nvSpPr>
          <p:cNvPr id="16" name="Text 14"/>
          <p:cNvSpPr txBox="1"/>
          <p:nvPr/>
        </p:nvSpPr>
        <p:spPr>
          <a:xfrm>
            <a:off x="4328160" y="6473952"/>
            <a:ext cx="7315200" cy="274320"/>
          </a:xfrm>
          <a:prstGeom prst="rect">
            <a:avLst/>
          </a:prstGeom>
          <a:noFill/>
          <a:ln/>
        </p:spPr>
        <p:txBody>
          <a:bodyPr wrap="square" rtlCol="0" anchor="ctr"/>
          <a:lstStyle/>
          <a:p>
            <a:pPr indent="0" marL="0" rtl="1" algn="r">
              <a:buNone/>
            </a:pPr>
            <a:r>
              <a:rPr lang="en-US" sz="900" spc="200" kern="0" dirty="0">
                <a:solidFill>
                  <a:srgbClr val="716E69"/>
                </a:solidFill>
                <a:latin typeface="Calibri" pitchFamily="34" charset="0"/>
                <a:ea typeface="Calibri" pitchFamily="34" charset="-122"/>
                <a:cs typeface="B Nazanin" pitchFamily="34" charset="-120"/>
              </a:rPr>
              <a:t>محدودیت‌ها و جمع‌بندی</a:t>
            </a:r>
            <a:endParaRPr lang="en-US" sz="900" dirty="0"/>
          </a:p>
        </p:txBody>
      </p:sp>
      <p:sp>
        <p:nvSpPr>
          <p:cNvPr id="17" name="Text 15"/>
          <p:cNvSpPr txBox="1"/>
          <p:nvPr/>
        </p:nvSpPr>
        <p:spPr>
          <a:xfrm>
            <a:off x="185928" y="6473952"/>
            <a:ext cx="457200" cy="274320"/>
          </a:xfrm>
          <a:prstGeom prst="rect">
            <a:avLst/>
          </a:prstGeom>
          <a:noFill/>
          <a:ln/>
        </p:spPr>
        <p:txBody>
          <a:bodyPr wrap="square" rtlCol="0" anchor="ctr"/>
          <a:lstStyle/>
          <a:p>
            <a:pPr algn="r" indent="0" marL="0" rtl="1">
              <a:buNone/>
            </a:pPr>
            <a:r>
              <a:rPr lang="en-US" sz="900" dirty="0">
                <a:solidFill>
                  <a:srgbClr val="716E69"/>
                </a:solidFill>
                <a:latin typeface="Calibri" pitchFamily="34" charset="0"/>
                <a:ea typeface="Calibri" pitchFamily="34" charset="-122"/>
                <a:cs typeface="B Nazanin" pitchFamily="34" charset="-120"/>
              </a:rPr>
              <a:t>۲۰ / ۲۴</a:t>
            </a:r>
            <a:endParaRPr lang="en-US" sz="900" dirty="0"/>
          </a:p>
        </p:txBody>
      </p:sp>
      <p:sp>
        <p:nvSpPr>
          <p:cNvPr id="9001" name="progress track"/>
          <p:cNvSpPr/>
          <p:nvPr/>
        </p:nvSpPr>
        <p:spPr>
          <a:xfrm>
            <a:off x="0" y="6803000"/>
            <a:ext cx="12192000" cy="55000"/>
          </a:xfrm>
          <a:prstGeom prst="rect">
            <a:avLst/>
          </a:prstGeom>
          <a:solidFill>
            <a:srgbClr val="EDE9E5"/>
          </a:solidFill>
          <a:ln>
            <a:noFill/>
          </a:ln>
        </p:spPr>
        <p:txBody>
          <a:bodyPr/>
          <a:lstStyle/>
          <a:p/>
        </p:txBody>
      </p:sp>
      <p:sp>
        <p:nvSpPr>
          <p:cNvPr id="9002" name="progress fill"/>
          <p:cNvSpPr/>
          <p:nvPr/>
        </p:nvSpPr>
        <p:spPr>
          <a:xfrm>
            <a:off x="2032000" y="6803000"/>
            <a:ext cx="10160000" cy="55000"/>
          </a:xfrm>
          <a:prstGeom prst="rect">
            <a:avLst/>
          </a:prstGeom>
          <a:solidFill>
            <a:srgbClr val="8C1515"/>
          </a:solidFill>
          <a:ln>
            <a:noFill/>
          </a:ln>
        </p:spPr>
        <p:txBody>
          <a:bodyPr/>
          <a:lstStyle/>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11442192" y="475488"/>
            <a:ext cx="201168" cy="201168"/>
          </a:xfrm>
          <a:prstGeom prst="ellipse">
            <a:avLst/>
          </a:prstGeom>
          <a:solidFill>
            <a:srgbClr val="E98300"/>
          </a:solidFill>
          <a:ln/>
        </p:spPr>
      </p:sp>
      <p:sp>
        <p:nvSpPr>
          <p:cNvPr id="3" name="Text 1"/>
          <p:cNvSpPr txBox="1"/>
          <p:nvPr/>
        </p:nvSpPr>
        <p:spPr>
          <a:xfrm>
            <a:off x="1694688" y="347472"/>
            <a:ext cx="9601200" cy="502920"/>
          </a:xfrm>
          <a:prstGeom prst="rect">
            <a:avLst/>
          </a:prstGeom>
          <a:noFill/>
          <a:ln/>
        </p:spPr>
        <p:txBody>
          <a:bodyPr wrap="square" rtlCol="0" anchor="ctr"/>
          <a:lstStyle/>
          <a:p>
            <a:pPr indent="0" marL="0" rtl="1" algn="r">
              <a:buNone/>
            </a:pPr>
            <a:r>
              <a:rPr lang="en-US" sz="3000" b="1" dirty="0">
                <a:solidFill>
                  <a:srgbClr val="8C1515"/>
                </a:solidFill>
                <a:latin typeface="Cambria" pitchFamily="34" charset="0"/>
                <a:ea typeface="Cambria" pitchFamily="34" charset="-122"/>
                <a:cs typeface="B Titr" pitchFamily="34" charset="-120"/>
              </a:rPr>
              <a:t>نتیجه‌گیری و دستاوردها</a:t>
            </a:r>
            <a:endParaRPr lang="en-US" sz="3000" dirty="0"/>
          </a:p>
        </p:txBody>
      </p:sp>
      <p:sp>
        <p:nvSpPr>
          <p:cNvPr id="4" name="Shape 2"/>
          <p:cNvSpPr/>
          <p:nvPr/>
        </p:nvSpPr>
        <p:spPr>
          <a:xfrm>
            <a:off x="8122920" y="1371600"/>
            <a:ext cx="3520440" cy="3566160"/>
          </a:xfrm>
          <a:prstGeom prst="roundRect">
            <a:avLst>
              <a:gd name="adj" fmla="val 2078"/>
            </a:avLst>
          </a:prstGeom>
          <a:solidFill>
            <a:srgbClr val="F7F5F1"/>
          </a:solidFill>
          <a:ln/>
        </p:spPr>
      </p:sp>
      <p:sp>
        <p:nvSpPr>
          <p:cNvPr id="5" name="Text 3"/>
          <p:cNvSpPr txBox="1"/>
          <p:nvPr/>
        </p:nvSpPr>
        <p:spPr>
          <a:xfrm>
            <a:off x="8397240" y="1554480"/>
            <a:ext cx="2971800" cy="822960"/>
          </a:xfrm>
          <a:prstGeom prst="rect">
            <a:avLst/>
          </a:prstGeom>
          <a:noFill/>
          <a:ln/>
        </p:spPr>
        <p:txBody>
          <a:bodyPr wrap="square" rtlCol="0" anchor="ctr"/>
          <a:lstStyle/>
          <a:p>
            <a:pPr indent="0" marL="0" rtl="1" algn="r">
              <a:buNone/>
            </a:pPr>
            <a:r>
              <a:rPr lang="en-US" sz="4000" b="1" dirty="0">
                <a:solidFill>
                  <a:srgbClr val="8C1515"/>
                </a:solidFill>
                <a:latin typeface="Cambria" pitchFamily="34" charset="0"/>
                <a:ea typeface="Cambria" pitchFamily="34" charset="-122"/>
                <a:cs typeface="B Titr" pitchFamily="34" charset="-120"/>
              </a:rPr>
              <a:t>۰۱</a:t>
            </a:r>
            <a:endParaRPr lang="en-US" sz="4000" dirty="0"/>
          </a:p>
        </p:txBody>
      </p:sp>
      <p:sp>
        <p:nvSpPr>
          <p:cNvPr id="6" name="Text 4"/>
          <p:cNvSpPr txBox="1"/>
          <p:nvPr/>
        </p:nvSpPr>
        <p:spPr>
          <a:xfrm>
            <a:off x="8397240" y="2468880"/>
            <a:ext cx="2971800" cy="2286000"/>
          </a:xfrm>
          <a:prstGeom prst="rect">
            <a:avLst/>
          </a:prstGeom>
          <a:noFill/>
          <a:ln/>
        </p:spPr>
        <p:txBody>
          <a:bodyPr wrap="square" rtlCol="0" anchor="ctr"/>
          <a:lstStyle/>
          <a:p>
            <a:pPr indent="0" marL="0" rtl="1" algn="r">
              <a:lnSpc>
                <a:spcPct val="135000"/>
              </a:lnSpc>
              <a:buNone/>
            </a:pPr>
            <a:r>
              <a:rPr lang="en-US" sz="1400" dirty="0">
                <a:solidFill>
                  <a:srgbClr val="2E2D29"/>
                </a:solidFill>
                <a:latin typeface="Calibri" pitchFamily="34" charset="0"/>
                <a:ea typeface="Calibri" pitchFamily="34" charset="-122"/>
                <a:cs typeface="B Nazanin" pitchFamily="34" charset="-120"/>
              </a:rPr>
              <a:t>زنجیره‌ای کامل و قطعی از تصویر خام تا دسته بالینی. نتایج بر روی سه ماشین مستقل بازتولید شد و در یکی از آن‌ها خروجی تصویری بیت به بیت یکسان بود.</a:t>
            </a:r>
            <a:endParaRPr lang="en-US" sz="1400" dirty="0"/>
          </a:p>
        </p:txBody>
      </p:sp>
      <p:sp>
        <p:nvSpPr>
          <p:cNvPr id="7" name="Shape 5"/>
          <p:cNvSpPr/>
          <p:nvPr/>
        </p:nvSpPr>
        <p:spPr>
          <a:xfrm>
            <a:off x="4282440" y="1371600"/>
            <a:ext cx="3520440" cy="3566160"/>
          </a:xfrm>
          <a:prstGeom prst="roundRect">
            <a:avLst>
              <a:gd name="adj" fmla="val 2078"/>
            </a:avLst>
          </a:prstGeom>
          <a:solidFill>
            <a:srgbClr val="F7F5F1"/>
          </a:solidFill>
          <a:ln/>
        </p:spPr>
      </p:sp>
      <p:sp>
        <p:nvSpPr>
          <p:cNvPr id="8" name="Text 6"/>
          <p:cNvSpPr txBox="1"/>
          <p:nvPr/>
        </p:nvSpPr>
        <p:spPr>
          <a:xfrm>
            <a:off x="4556760" y="1554480"/>
            <a:ext cx="2971800" cy="822960"/>
          </a:xfrm>
          <a:prstGeom prst="rect">
            <a:avLst/>
          </a:prstGeom>
          <a:noFill/>
          <a:ln/>
        </p:spPr>
        <p:txBody>
          <a:bodyPr wrap="square" rtlCol="0" anchor="ctr"/>
          <a:lstStyle/>
          <a:p>
            <a:pPr indent="0" marL="0" rtl="1" algn="r">
              <a:buNone/>
            </a:pPr>
            <a:r>
              <a:rPr lang="en-US" sz="4000" b="1" dirty="0">
                <a:solidFill>
                  <a:srgbClr val="8C1515"/>
                </a:solidFill>
                <a:latin typeface="Cambria" pitchFamily="34" charset="0"/>
                <a:ea typeface="Cambria" pitchFamily="34" charset="-122"/>
                <a:cs typeface="B Titr" pitchFamily="34" charset="-120"/>
              </a:rPr>
              <a:t>۰۲</a:t>
            </a:r>
            <a:endParaRPr lang="en-US" sz="4000" dirty="0"/>
          </a:p>
        </p:txBody>
      </p:sp>
      <p:sp>
        <p:nvSpPr>
          <p:cNvPr id="9" name="Text 7"/>
          <p:cNvSpPr txBox="1"/>
          <p:nvPr/>
        </p:nvSpPr>
        <p:spPr>
          <a:xfrm>
            <a:off x="4556760" y="2468880"/>
            <a:ext cx="2971800" cy="2286000"/>
          </a:xfrm>
          <a:prstGeom prst="rect">
            <a:avLst/>
          </a:prstGeom>
          <a:noFill/>
          <a:ln/>
        </p:spPr>
        <p:txBody>
          <a:bodyPr wrap="square" rtlCol="0" anchor="ctr"/>
          <a:lstStyle/>
          <a:p>
            <a:pPr indent="0" marL="0" rtl="1" algn="r">
              <a:lnSpc>
                <a:spcPct val="135000"/>
              </a:lnSpc>
              <a:buNone/>
            </a:pPr>
            <a:r>
              <a:rPr lang="en-US" sz="1400" dirty="0">
                <a:solidFill>
                  <a:srgbClr val="2E2D29"/>
                </a:solidFill>
                <a:latin typeface="Calibri" pitchFamily="34" charset="0"/>
                <a:ea typeface="Calibri" pitchFamily="34" charset="-122"/>
                <a:cs typeface="B Nazanin" pitchFamily="34" charset="-120"/>
              </a:rPr>
              <a:t>تعیین مرز هاله با سه روش موازی و ترکیب آن‌ها بر پایه نقاط قوت اندازه‌گیری‌شده. این ترکیب، خطا را سی درصد کاهش داد.</a:t>
            </a:r>
            <a:endParaRPr lang="en-US" sz="1400" dirty="0"/>
          </a:p>
        </p:txBody>
      </p:sp>
      <p:sp>
        <p:nvSpPr>
          <p:cNvPr id="10" name="Shape 8"/>
          <p:cNvSpPr/>
          <p:nvPr/>
        </p:nvSpPr>
        <p:spPr>
          <a:xfrm>
            <a:off x="441960" y="1371600"/>
            <a:ext cx="3520440" cy="3566160"/>
          </a:xfrm>
          <a:prstGeom prst="roundRect">
            <a:avLst>
              <a:gd name="adj" fmla="val 2078"/>
            </a:avLst>
          </a:prstGeom>
          <a:solidFill>
            <a:srgbClr val="F7F5F1"/>
          </a:solidFill>
          <a:ln/>
        </p:spPr>
      </p:sp>
      <p:sp>
        <p:nvSpPr>
          <p:cNvPr id="11" name="Text 9"/>
          <p:cNvSpPr txBox="1"/>
          <p:nvPr/>
        </p:nvSpPr>
        <p:spPr>
          <a:xfrm>
            <a:off x="716280" y="1554480"/>
            <a:ext cx="2971800" cy="822960"/>
          </a:xfrm>
          <a:prstGeom prst="rect">
            <a:avLst/>
          </a:prstGeom>
          <a:noFill/>
          <a:ln/>
        </p:spPr>
        <p:txBody>
          <a:bodyPr wrap="square" rtlCol="0" anchor="ctr"/>
          <a:lstStyle/>
          <a:p>
            <a:pPr indent="0" marL="0" rtl="1" algn="r">
              <a:buNone/>
            </a:pPr>
            <a:r>
              <a:rPr lang="en-US" sz="4000" b="1" dirty="0">
                <a:solidFill>
                  <a:srgbClr val="8C1515"/>
                </a:solidFill>
                <a:latin typeface="Cambria" pitchFamily="34" charset="0"/>
                <a:ea typeface="Cambria" pitchFamily="34" charset="-122"/>
                <a:cs typeface="B Titr" pitchFamily="34" charset="-120"/>
              </a:rPr>
              <a:t>۰۳</a:t>
            </a:r>
            <a:endParaRPr lang="en-US" sz="4000" dirty="0"/>
          </a:p>
        </p:txBody>
      </p:sp>
      <p:sp>
        <p:nvSpPr>
          <p:cNvPr id="12" name="Text 10"/>
          <p:cNvSpPr txBox="1"/>
          <p:nvPr/>
        </p:nvSpPr>
        <p:spPr>
          <a:xfrm>
            <a:off x="716280" y="2468880"/>
            <a:ext cx="2971800" cy="2286000"/>
          </a:xfrm>
          <a:prstGeom prst="rect">
            <a:avLst/>
          </a:prstGeom>
          <a:noFill/>
          <a:ln/>
        </p:spPr>
        <p:txBody>
          <a:bodyPr wrap="square" rtlCol="0" anchor="ctr"/>
          <a:lstStyle/>
          <a:p>
            <a:pPr indent="0" marL="0" rtl="1" algn="r">
              <a:lnSpc>
                <a:spcPct val="135000"/>
              </a:lnSpc>
              <a:buNone/>
            </a:pPr>
            <a:r>
              <a:rPr lang="en-US" sz="1400" dirty="0">
                <a:solidFill>
                  <a:srgbClr val="2E2D29"/>
                </a:solidFill>
                <a:latin typeface="Calibri" pitchFamily="34" charset="0"/>
                <a:ea typeface="Calibri" pitchFamily="34" charset="-122"/>
                <a:cs typeface="B Nazanin" pitchFamily="34" charset="-120"/>
              </a:rPr>
              <a:t>هر تصمیم طراحی با اندازه‌گیری بر روی داده مرجع سنجیده شد، از جمله معیاری که در اعتبارسنجی متقاطع رد و کنار گذاشته شد.</a:t>
            </a:r>
            <a:endParaRPr lang="en-US" sz="1400" dirty="0"/>
          </a:p>
        </p:txBody>
      </p:sp>
      <p:sp>
        <p:nvSpPr>
          <p:cNvPr id="13" name="Shape 11"/>
          <p:cNvSpPr/>
          <p:nvPr/>
        </p:nvSpPr>
        <p:spPr>
          <a:xfrm>
            <a:off x="551688" y="5212080"/>
            <a:ext cx="11091672" cy="0"/>
          </a:xfrm>
          <a:prstGeom prst="line">
            <a:avLst/>
          </a:prstGeom>
          <a:noFill/>
          <a:ln w="12700">
            <a:solidFill>
              <a:srgbClr val="E8E5E0"/>
            </a:solidFill>
            <a:prstDash val="solid"/>
          </a:ln>
        </p:spPr>
      </p:sp>
      <p:sp>
        <p:nvSpPr>
          <p:cNvPr id="14" name="Text 12"/>
          <p:cNvSpPr txBox="1"/>
          <p:nvPr/>
        </p:nvSpPr>
        <p:spPr>
          <a:xfrm>
            <a:off x="551688" y="5394960"/>
            <a:ext cx="11091672" cy="640080"/>
          </a:xfrm>
          <a:prstGeom prst="rect">
            <a:avLst/>
          </a:prstGeom>
          <a:noFill/>
          <a:ln/>
        </p:spPr>
        <p:txBody>
          <a:bodyPr wrap="square" rtlCol="0" anchor="ctr"/>
          <a:lstStyle/>
          <a:p>
            <a:pPr algn="ctr" indent="0" marL="0" rtl="1">
              <a:buNone/>
            </a:pPr>
            <a:r>
              <a:rPr lang="en-US" sz="1600" b="1" i="1" dirty="0">
                <a:solidFill>
                  <a:srgbClr val="8C1515"/>
                </a:solidFill>
                <a:latin typeface="Cambria" pitchFamily="34" charset="0"/>
                <a:ea typeface="Cambria" pitchFamily="34" charset="-122"/>
                <a:cs typeface="B Titr" pitchFamily="34" charset="-120"/>
              </a:rPr>
              <a:t>مسئله یافتن دیسک حل شده و مسئله تعیین مرز هاله تا حدی حل شده است. علت خطای باقی‌مانده نیز به صورت کمی اندازه‌گیری شده است.</a:t>
            </a:r>
            <a:endParaRPr lang="en-US" sz="1600" dirty="0"/>
          </a:p>
        </p:txBody>
      </p:sp>
      <p:sp>
        <p:nvSpPr>
          <p:cNvPr id="15" name="Text 13"/>
          <p:cNvSpPr txBox="1"/>
          <p:nvPr/>
        </p:nvSpPr>
        <p:spPr>
          <a:xfrm>
            <a:off x="4328160" y="6473952"/>
            <a:ext cx="7315200" cy="274320"/>
          </a:xfrm>
          <a:prstGeom prst="rect">
            <a:avLst/>
          </a:prstGeom>
          <a:noFill/>
          <a:ln/>
        </p:spPr>
        <p:txBody>
          <a:bodyPr wrap="square" rtlCol="0" anchor="ctr"/>
          <a:lstStyle/>
          <a:p>
            <a:pPr indent="0" marL="0" rtl="1" algn="r">
              <a:buNone/>
            </a:pPr>
            <a:r>
              <a:rPr lang="en-US" sz="900" spc="200" kern="0" dirty="0">
                <a:solidFill>
                  <a:srgbClr val="716E69"/>
                </a:solidFill>
                <a:latin typeface="Calibri" pitchFamily="34" charset="0"/>
                <a:ea typeface="Calibri" pitchFamily="34" charset="-122"/>
                <a:cs typeface="B Nazanin" pitchFamily="34" charset="-120"/>
              </a:rPr>
              <a:t>محدودیت‌ها و جمع‌بندی</a:t>
            </a:r>
            <a:endParaRPr lang="en-US" sz="900" dirty="0"/>
          </a:p>
        </p:txBody>
      </p:sp>
      <p:sp>
        <p:nvSpPr>
          <p:cNvPr id="16" name="Text 14"/>
          <p:cNvSpPr txBox="1"/>
          <p:nvPr/>
        </p:nvSpPr>
        <p:spPr>
          <a:xfrm>
            <a:off x="185928" y="6473952"/>
            <a:ext cx="457200" cy="274320"/>
          </a:xfrm>
          <a:prstGeom prst="rect">
            <a:avLst/>
          </a:prstGeom>
          <a:noFill/>
          <a:ln/>
        </p:spPr>
        <p:txBody>
          <a:bodyPr wrap="square" rtlCol="0" anchor="ctr"/>
          <a:lstStyle/>
          <a:p>
            <a:pPr algn="r" indent="0" marL="0" rtl="1">
              <a:buNone/>
            </a:pPr>
            <a:r>
              <a:rPr lang="en-US" sz="900" dirty="0">
                <a:solidFill>
                  <a:srgbClr val="716E69"/>
                </a:solidFill>
                <a:latin typeface="Calibri" pitchFamily="34" charset="0"/>
                <a:ea typeface="Calibri" pitchFamily="34" charset="-122"/>
                <a:cs typeface="B Nazanin" pitchFamily="34" charset="-120"/>
              </a:rPr>
              <a:t>۲۱ / ۲۴</a:t>
            </a:r>
            <a:endParaRPr lang="en-US" sz="900" dirty="0"/>
          </a:p>
        </p:txBody>
      </p:sp>
      <p:sp>
        <p:nvSpPr>
          <p:cNvPr id="9001" name="progress track"/>
          <p:cNvSpPr/>
          <p:nvPr/>
        </p:nvSpPr>
        <p:spPr>
          <a:xfrm>
            <a:off x="0" y="6803000"/>
            <a:ext cx="12192000" cy="55000"/>
          </a:xfrm>
          <a:prstGeom prst="rect">
            <a:avLst/>
          </a:prstGeom>
          <a:solidFill>
            <a:srgbClr val="EDE9E5"/>
          </a:solidFill>
          <a:ln>
            <a:noFill/>
          </a:ln>
        </p:spPr>
        <p:txBody>
          <a:bodyPr/>
          <a:lstStyle/>
          <a:p/>
        </p:txBody>
      </p:sp>
      <p:sp>
        <p:nvSpPr>
          <p:cNvPr id="9002" name="progress fill"/>
          <p:cNvSpPr/>
          <p:nvPr/>
        </p:nvSpPr>
        <p:spPr>
          <a:xfrm>
            <a:off x="1524000" y="6803000"/>
            <a:ext cx="10668000" cy="55000"/>
          </a:xfrm>
          <a:prstGeom prst="rect">
            <a:avLst/>
          </a:prstGeom>
          <a:solidFill>
            <a:srgbClr val="8C1515"/>
          </a:solidFill>
          <a:ln>
            <a:noFill/>
          </a:ln>
        </p:spPr>
        <p:txBody>
          <a:bodyPr/>
          <a:lstStyle/>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11442192" y="475488"/>
            <a:ext cx="201168" cy="201168"/>
          </a:xfrm>
          <a:prstGeom prst="ellipse">
            <a:avLst/>
          </a:prstGeom>
          <a:solidFill>
            <a:srgbClr val="E98300"/>
          </a:solidFill>
          <a:ln/>
        </p:spPr>
      </p:sp>
      <p:sp>
        <p:nvSpPr>
          <p:cNvPr id="3" name="Text 1"/>
          <p:cNvSpPr txBox="1"/>
          <p:nvPr/>
        </p:nvSpPr>
        <p:spPr>
          <a:xfrm>
            <a:off x="1694688" y="347472"/>
            <a:ext cx="9601200" cy="502920"/>
          </a:xfrm>
          <a:prstGeom prst="rect">
            <a:avLst/>
          </a:prstGeom>
          <a:noFill/>
          <a:ln/>
        </p:spPr>
        <p:txBody>
          <a:bodyPr wrap="square" rtlCol="0" anchor="ctr"/>
          <a:lstStyle/>
          <a:p>
            <a:pPr indent="0" marL="0" rtl="1" algn="r">
              <a:buNone/>
            </a:pPr>
            <a:r>
              <a:rPr lang="en-US" sz="3000" b="1" dirty="0">
                <a:solidFill>
                  <a:srgbClr val="8C1515"/>
                </a:solidFill>
                <a:latin typeface="Cambria" pitchFamily="34" charset="0"/>
                <a:ea typeface="Cambria" pitchFamily="34" charset="-122"/>
                <a:cs typeface="B Titr" pitchFamily="34" charset="-120"/>
              </a:rPr>
              <a:t>کار آینده</a:t>
            </a:r>
            <a:endParaRPr lang="en-US" sz="3000" dirty="0"/>
          </a:p>
        </p:txBody>
      </p:sp>
      <p:sp>
        <p:nvSpPr>
          <p:cNvPr id="4" name="Shape 2"/>
          <p:cNvSpPr/>
          <p:nvPr/>
        </p:nvSpPr>
        <p:spPr>
          <a:xfrm>
            <a:off x="8122920" y="1371600"/>
            <a:ext cx="3520440" cy="4206240"/>
          </a:xfrm>
          <a:prstGeom prst="roundRect">
            <a:avLst>
              <a:gd name="adj" fmla="val 2078"/>
            </a:avLst>
          </a:prstGeom>
          <a:solidFill>
            <a:srgbClr val="F7F5F1"/>
          </a:solidFill>
          <a:ln/>
        </p:spPr>
      </p:sp>
      <p:sp>
        <p:nvSpPr>
          <p:cNvPr id="5" name="Shape 3"/>
          <p:cNvSpPr/>
          <p:nvPr/>
        </p:nvSpPr>
        <p:spPr>
          <a:xfrm>
            <a:off x="10911840" y="1645920"/>
            <a:ext cx="457200" cy="457200"/>
          </a:xfrm>
          <a:prstGeom prst="ellipse">
            <a:avLst/>
          </a:prstGeom>
          <a:solidFill>
            <a:srgbClr val="E98300"/>
          </a:solidFill>
          <a:ln/>
        </p:spPr>
      </p:sp>
      <p:sp>
        <p:nvSpPr>
          <p:cNvPr id="6" name="Text 4"/>
          <p:cNvSpPr txBox="1"/>
          <p:nvPr/>
        </p:nvSpPr>
        <p:spPr>
          <a:xfrm>
            <a:off x="8397240" y="2286000"/>
            <a:ext cx="2971800" cy="365760"/>
          </a:xfrm>
          <a:prstGeom prst="rect">
            <a:avLst/>
          </a:prstGeom>
          <a:noFill/>
          <a:ln/>
        </p:spPr>
        <p:txBody>
          <a:bodyPr wrap="square" rtlCol="0" anchor="ctr"/>
          <a:lstStyle/>
          <a:p>
            <a:pPr indent="0" marL="0" rtl="1" algn="r">
              <a:buNone/>
            </a:pPr>
            <a:r>
              <a:rPr lang="en-US" sz="1700" b="1" dirty="0">
                <a:solidFill>
                  <a:srgbClr val="E98300"/>
                </a:solidFill>
                <a:latin typeface="Cambria" pitchFamily="34" charset="0"/>
                <a:ea typeface="Cambria" pitchFamily="34" charset="-122"/>
                <a:cs typeface="B Titr" pitchFamily="34" charset="-120"/>
              </a:rPr>
              <a:t>کوتاه‌مدت</a:t>
            </a:r>
            <a:endParaRPr lang="en-US" sz="1700" dirty="0"/>
          </a:p>
        </p:txBody>
      </p:sp>
      <p:sp>
        <p:nvSpPr>
          <p:cNvPr id="7" name="Text 5"/>
          <p:cNvSpPr txBox="1"/>
          <p:nvPr/>
        </p:nvSpPr>
        <p:spPr>
          <a:xfrm>
            <a:off x="8397240" y="2743200"/>
            <a:ext cx="2971800" cy="2651760"/>
          </a:xfrm>
          <a:prstGeom prst="rect">
            <a:avLst/>
          </a:prstGeom>
          <a:noFill/>
          <a:ln/>
        </p:spPr>
        <p:txBody>
          <a:bodyPr wrap="square" rtlCol="0" anchor="ctr"/>
          <a:lstStyle/>
          <a:p>
            <a:pPr indent="0" marL="0" rtl="1" algn="r">
              <a:lnSpc>
                <a:spcPct val="135000"/>
              </a:lnSpc>
              <a:buNone/>
            </a:pPr>
            <a:r>
              <a:rPr lang="en-US" sz="1350" dirty="0">
                <a:solidFill>
                  <a:srgbClr val="2E2D29"/>
                </a:solidFill>
                <a:latin typeface="Calibri" pitchFamily="34" charset="0"/>
                <a:ea typeface="Calibri" pitchFamily="34" charset="-122"/>
                <a:cs typeface="B Nazanin" pitchFamily="34" charset="-120"/>
              </a:rPr>
              <a:t>افزودن مدل سیگموئید گذار شعاعی. سنجش برون‌خط بر روی ۵۷ دیسک مشترک، خطای متوسط ۲٫۷۹ و میانه ۱٫۰۳ میلی‌متر داد.</a:t>
            </a:r>
            <a:endParaRPr lang="en-US" sz="1350" dirty="0"/>
          </a:p>
        </p:txBody>
      </p:sp>
      <p:sp>
        <p:nvSpPr>
          <p:cNvPr id="8" name="Shape 6"/>
          <p:cNvSpPr/>
          <p:nvPr/>
        </p:nvSpPr>
        <p:spPr>
          <a:xfrm>
            <a:off x="4282440" y="1371600"/>
            <a:ext cx="3520440" cy="4206240"/>
          </a:xfrm>
          <a:prstGeom prst="roundRect">
            <a:avLst>
              <a:gd name="adj" fmla="val 2078"/>
            </a:avLst>
          </a:prstGeom>
          <a:solidFill>
            <a:srgbClr val="F7F5F1"/>
          </a:solidFill>
          <a:ln/>
        </p:spPr>
      </p:sp>
      <p:sp>
        <p:nvSpPr>
          <p:cNvPr id="9" name="Shape 7"/>
          <p:cNvSpPr/>
          <p:nvPr/>
        </p:nvSpPr>
        <p:spPr>
          <a:xfrm>
            <a:off x="7071360" y="1645920"/>
            <a:ext cx="457200" cy="457200"/>
          </a:xfrm>
          <a:prstGeom prst="ellipse">
            <a:avLst/>
          </a:prstGeom>
          <a:solidFill>
            <a:srgbClr val="007C92"/>
          </a:solidFill>
          <a:ln/>
        </p:spPr>
      </p:sp>
      <p:sp>
        <p:nvSpPr>
          <p:cNvPr id="10" name="Text 8"/>
          <p:cNvSpPr txBox="1"/>
          <p:nvPr/>
        </p:nvSpPr>
        <p:spPr>
          <a:xfrm>
            <a:off x="4556760" y="2286000"/>
            <a:ext cx="2971800" cy="365760"/>
          </a:xfrm>
          <a:prstGeom prst="rect">
            <a:avLst/>
          </a:prstGeom>
          <a:noFill/>
          <a:ln/>
        </p:spPr>
        <p:txBody>
          <a:bodyPr wrap="square" rtlCol="0" anchor="ctr"/>
          <a:lstStyle/>
          <a:p>
            <a:pPr indent="0" marL="0" rtl="1" algn="r">
              <a:buNone/>
            </a:pPr>
            <a:r>
              <a:rPr lang="en-US" sz="1700" b="1" dirty="0">
                <a:solidFill>
                  <a:srgbClr val="007C92"/>
                </a:solidFill>
                <a:latin typeface="Cambria" pitchFamily="34" charset="0"/>
                <a:ea typeface="Cambria" pitchFamily="34" charset="-122"/>
                <a:cs typeface="B Titr" pitchFamily="34" charset="-120"/>
              </a:rPr>
              <a:t>میان‌مدت</a:t>
            </a:r>
            <a:endParaRPr lang="en-US" sz="1700" dirty="0"/>
          </a:p>
        </p:txBody>
      </p:sp>
      <p:sp>
        <p:nvSpPr>
          <p:cNvPr id="11" name="Text 9"/>
          <p:cNvSpPr txBox="1"/>
          <p:nvPr/>
        </p:nvSpPr>
        <p:spPr>
          <a:xfrm>
            <a:off x="4556760" y="2743200"/>
            <a:ext cx="2971800" cy="2651760"/>
          </a:xfrm>
          <a:prstGeom prst="rect">
            <a:avLst/>
          </a:prstGeom>
          <a:noFill/>
          <a:ln/>
        </p:spPr>
        <p:txBody>
          <a:bodyPr wrap="square" rtlCol="0" anchor="ctr"/>
          <a:lstStyle/>
          <a:p>
            <a:pPr indent="0" marL="0" rtl="1" algn="r">
              <a:lnSpc>
                <a:spcPct val="135000"/>
              </a:lnSpc>
              <a:buNone/>
            </a:pPr>
            <a:r>
              <a:rPr lang="en-US" sz="1350" dirty="0">
                <a:solidFill>
                  <a:srgbClr val="2E2D29"/>
                </a:solidFill>
                <a:latin typeface="Calibri" pitchFamily="34" charset="0"/>
                <a:ea typeface="Calibri" pitchFamily="34" charset="-122"/>
                <a:cs typeface="B Nazanin" pitchFamily="34" charset="-120"/>
              </a:rPr>
              <a:t>چهار شرط تصویربرداری: نورپردازی از پشت ظرف، کارت خاکستری مرجع، تصویربرداری در چند زمان، و مربع مرجع ۱۰ میلی‌متری.</a:t>
            </a:r>
            <a:endParaRPr lang="en-US" sz="1350" dirty="0"/>
          </a:p>
        </p:txBody>
      </p:sp>
      <p:sp>
        <p:nvSpPr>
          <p:cNvPr id="12" name="Shape 10"/>
          <p:cNvSpPr/>
          <p:nvPr/>
        </p:nvSpPr>
        <p:spPr>
          <a:xfrm>
            <a:off x="441960" y="1371600"/>
            <a:ext cx="3520440" cy="4206240"/>
          </a:xfrm>
          <a:prstGeom prst="roundRect">
            <a:avLst>
              <a:gd name="adj" fmla="val 2078"/>
            </a:avLst>
          </a:prstGeom>
          <a:solidFill>
            <a:srgbClr val="F7F5F1"/>
          </a:solidFill>
          <a:ln/>
        </p:spPr>
      </p:sp>
      <p:sp>
        <p:nvSpPr>
          <p:cNvPr id="13" name="Shape 11"/>
          <p:cNvSpPr/>
          <p:nvPr/>
        </p:nvSpPr>
        <p:spPr>
          <a:xfrm>
            <a:off x="3230880" y="1645920"/>
            <a:ext cx="457200" cy="457200"/>
          </a:xfrm>
          <a:prstGeom prst="ellipse">
            <a:avLst/>
          </a:prstGeom>
          <a:solidFill>
            <a:srgbClr val="620059"/>
          </a:solidFill>
          <a:ln/>
        </p:spPr>
      </p:sp>
      <p:sp>
        <p:nvSpPr>
          <p:cNvPr id="14" name="Text 12"/>
          <p:cNvSpPr txBox="1"/>
          <p:nvPr/>
        </p:nvSpPr>
        <p:spPr>
          <a:xfrm>
            <a:off x="716280" y="2286000"/>
            <a:ext cx="2971800" cy="365760"/>
          </a:xfrm>
          <a:prstGeom prst="rect">
            <a:avLst/>
          </a:prstGeom>
          <a:noFill/>
          <a:ln/>
        </p:spPr>
        <p:txBody>
          <a:bodyPr wrap="square" rtlCol="0" anchor="ctr"/>
          <a:lstStyle/>
          <a:p>
            <a:pPr indent="0" marL="0" rtl="1" algn="r">
              <a:buNone/>
            </a:pPr>
            <a:r>
              <a:rPr lang="en-US" sz="1700" b="1" dirty="0">
                <a:solidFill>
                  <a:srgbClr val="620059"/>
                </a:solidFill>
                <a:latin typeface="Cambria" pitchFamily="34" charset="0"/>
                <a:ea typeface="Cambria" pitchFamily="34" charset="-122"/>
                <a:cs typeface="B Titr" pitchFamily="34" charset="-120"/>
              </a:rPr>
              <a:t>بلندمدت</a:t>
            </a:r>
            <a:endParaRPr lang="en-US" sz="1700" dirty="0"/>
          </a:p>
        </p:txBody>
      </p:sp>
      <p:sp>
        <p:nvSpPr>
          <p:cNvPr id="15" name="Text 13"/>
          <p:cNvSpPr txBox="1"/>
          <p:nvPr/>
        </p:nvSpPr>
        <p:spPr>
          <a:xfrm>
            <a:off x="716280" y="2743200"/>
            <a:ext cx="2971800" cy="2651760"/>
          </a:xfrm>
          <a:prstGeom prst="rect">
            <a:avLst/>
          </a:prstGeom>
          <a:noFill/>
          <a:ln/>
        </p:spPr>
        <p:txBody>
          <a:bodyPr wrap="square" rtlCol="0" anchor="ctr"/>
          <a:lstStyle/>
          <a:p>
            <a:pPr indent="0" marL="0" rtl="1" algn="r">
              <a:lnSpc>
                <a:spcPct val="135000"/>
              </a:lnSpc>
              <a:buNone/>
            </a:pPr>
            <a:r>
              <a:rPr lang="en-US" sz="1350" dirty="0">
                <a:solidFill>
                  <a:srgbClr val="2E2D29"/>
                </a:solidFill>
                <a:latin typeface="Calibri" pitchFamily="34" charset="0"/>
                <a:ea typeface="Calibri" pitchFamily="34" charset="-122"/>
                <a:cs typeface="B Nazanin" pitchFamily="34" charset="-120"/>
              </a:rPr>
              <a:t>تهیه مجموعه مرجع بزرگ‌تر با چند آزمایشگاه و چند دوربین، و انجام دور دوم اندازه‌گیری کارشناسی.</a:t>
            </a:r>
            <a:endParaRPr lang="en-US" sz="1350" dirty="0"/>
          </a:p>
        </p:txBody>
      </p:sp>
      <p:sp>
        <p:nvSpPr>
          <p:cNvPr id="16" name="Text 14"/>
          <p:cNvSpPr txBox="1"/>
          <p:nvPr/>
        </p:nvSpPr>
        <p:spPr>
          <a:xfrm>
            <a:off x="4328160" y="6473952"/>
            <a:ext cx="7315200" cy="274320"/>
          </a:xfrm>
          <a:prstGeom prst="rect">
            <a:avLst/>
          </a:prstGeom>
          <a:noFill/>
          <a:ln/>
        </p:spPr>
        <p:txBody>
          <a:bodyPr wrap="square" rtlCol="0" anchor="ctr"/>
          <a:lstStyle/>
          <a:p>
            <a:pPr indent="0" marL="0" rtl="1" algn="r">
              <a:buNone/>
            </a:pPr>
            <a:r>
              <a:rPr lang="en-US" sz="900" spc="200" kern="0" dirty="0">
                <a:solidFill>
                  <a:srgbClr val="716E69"/>
                </a:solidFill>
                <a:latin typeface="Calibri" pitchFamily="34" charset="0"/>
                <a:ea typeface="Calibri" pitchFamily="34" charset="-122"/>
                <a:cs typeface="B Nazanin" pitchFamily="34" charset="-120"/>
              </a:rPr>
              <a:t>محدودیت‌ها و جمع‌بندی</a:t>
            </a:r>
            <a:endParaRPr lang="en-US" sz="900" dirty="0"/>
          </a:p>
        </p:txBody>
      </p:sp>
      <p:sp>
        <p:nvSpPr>
          <p:cNvPr id="17" name="Text 15"/>
          <p:cNvSpPr txBox="1"/>
          <p:nvPr/>
        </p:nvSpPr>
        <p:spPr>
          <a:xfrm>
            <a:off x="185928" y="6473952"/>
            <a:ext cx="457200" cy="274320"/>
          </a:xfrm>
          <a:prstGeom prst="rect">
            <a:avLst/>
          </a:prstGeom>
          <a:noFill/>
          <a:ln/>
        </p:spPr>
        <p:txBody>
          <a:bodyPr wrap="square" rtlCol="0" anchor="ctr"/>
          <a:lstStyle/>
          <a:p>
            <a:pPr algn="r" indent="0" marL="0" rtl="1">
              <a:buNone/>
            </a:pPr>
            <a:r>
              <a:rPr lang="en-US" sz="900" dirty="0">
                <a:solidFill>
                  <a:srgbClr val="716E69"/>
                </a:solidFill>
                <a:latin typeface="Calibri" pitchFamily="34" charset="0"/>
                <a:ea typeface="Calibri" pitchFamily="34" charset="-122"/>
                <a:cs typeface="B Nazanin" pitchFamily="34" charset="-120"/>
              </a:rPr>
              <a:t>۲۲ / ۲۴</a:t>
            </a:r>
            <a:endParaRPr lang="en-US" sz="900" dirty="0"/>
          </a:p>
        </p:txBody>
      </p:sp>
      <p:sp>
        <p:nvSpPr>
          <p:cNvPr id="9001" name="progress track"/>
          <p:cNvSpPr/>
          <p:nvPr/>
        </p:nvSpPr>
        <p:spPr>
          <a:xfrm>
            <a:off x="0" y="6803000"/>
            <a:ext cx="12192000" cy="55000"/>
          </a:xfrm>
          <a:prstGeom prst="rect">
            <a:avLst/>
          </a:prstGeom>
          <a:solidFill>
            <a:srgbClr val="EDE9E5"/>
          </a:solidFill>
          <a:ln>
            <a:noFill/>
          </a:ln>
        </p:spPr>
        <p:txBody>
          <a:bodyPr/>
          <a:lstStyle/>
          <a:p/>
        </p:txBody>
      </p:sp>
      <p:sp>
        <p:nvSpPr>
          <p:cNvPr id="9002" name="progress fill"/>
          <p:cNvSpPr/>
          <p:nvPr/>
        </p:nvSpPr>
        <p:spPr>
          <a:xfrm>
            <a:off x="1016000" y="6803000"/>
            <a:ext cx="11176000" cy="55000"/>
          </a:xfrm>
          <a:prstGeom prst="rect">
            <a:avLst/>
          </a:prstGeom>
          <a:solidFill>
            <a:srgbClr val="8C1515"/>
          </a:solidFill>
          <a:ln>
            <a:noFill/>
          </a:ln>
        </p:spPr>
        <p:txBody>
          <a:bodyPr/>
          <a:lstStyle/>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5361432" y="822960"/>
            <a:ext cx="1463040" cy="1463040"/>
          </a:xfrm>
          <a:prstGeom prst="ellipse">
            <a:avLst/>
          </a:prstGeom>
          <a:solidFill>
            <a:srgbClr val="8C1515"/>
          </a:solidFill>
          <a:ln/>
        </p:spPr>
      </p:sp>
      <p:sp>
        <p:nvSpPr>
          <p:cNvPr id="3" name="Text 1"/>
          <p:cNvSpPr txBox="1"/>
          <p:nvPr/>
        </p:nvSpPr>
        <p:spPr>
          <a:xfrm>
            <a:off x="5361432" y="822960"/>
            <a:ext cx="1463040" cy="1463040"/>
          </a:xfrm>
          <a:prstGeom prst="rect">
            <a:avLst/>
          </a:prstGeom>
          <a:noFill/>
          <a:ln/>
        </p:spPr>
        <p:txBody>
          <a:bodyPr wrap="square" rtlCol="0" anchor="ctr"/>
          <a:lstStyle/>
          <a:p>
            <a:pPr algn="ctr" indent="0" marL="0" rtl="1">
              <a:buNone/>
            </a:pPr>
            <a:r>
              <a:rPr lang="en-US" sz="3400" dirty="0">
                <a:solidFill>
                  <a:srgbClr val="FFFFFF"/>
                </a:solidFill>
                <a:latin typeface="Calibri" pitchFamily="34" charset="0"/>
                <a:ea typeface="Calibri" pitchFamily="34" charset="-122"/>
                <a:cs typeface="B Nazanin" pitchFamily="34" charset="-120"/>
              </a:rPr>
              <a:t>♥</a:t>
            </a:r>
            <a:endParaRPr lang="en-US" sz="3400" dirty="0"/>
          </a:p>
        </p:txBody>
      </p:sp>
      <p:sp>
        <p:nvSpPr>
          <p:cNvPr id="4" name="Text 2"/>
          <p:cNvSpPr txBox="1"/>
          <p:nvPr/>
        </p:nvSpPr>
        <p:spPr>
          <a:xfrm>
            <a:off x="1525524" y="2514600"/>
            <a:ext cx="9144000" cy="548640"/>
          </a:xfrm>
          <a:prstGeom prst="rect">
            <a:avLst/>
          </a:prstGeom>
          <a:noFill/>
          <a:ln/>
        </p:spPr>
        <p:txBody>
          <a:bodyPr wrap="square" rtlCol="0" anchor="ctr"/>
          <a:lstStyle/>
          <a:p>
            <a:pPr algn="ctr" indent="0" marL="0" rtl="1">
              <a:buNone/>
            </a:pPr>
            <a:r>
              <a:rPr lang="en-US" sz="3200" b="1" dirty="0">
                <a:solidFill>
                  <a:srgbClr val="8C1515"/>
                </a:solidFill>
                <a:latin typeface="Cambria" pitchFamily="34" charset="0"/>
                <a:ea typeface="Cambria" pitchFamily="34" charset="-122"/>
                <a:cs typeface="B Titr" pitchFamily="34" charset="-120"/>
              </a:rPr>
              <a:t>سپاسگزاری</a:t>
            </a:r>
            <a:endParaRPr lang="en-US" sz="3200" dirty="0"/>
          </a:p>
        </p:txBody>
      </p:sp>
      <p:sp>
        <p:nvSpPr>
          <p:cNvPr id="5" name="Text 3"/>
          <p:cNvSpPr txBox="1"/>
          <p:nvPr/>
        </p:nvSpPr>
        <p:spPr>
          <a:xfrm>
            <a:off x="1525524" y="3246120"/>
            <a:ext cx="9144000" cy="2286000"/>
          </a:xfrm>
          <a:prstGeom prst="rect">
            <a:avLst/>
          </a:prstGeom>
          <a:noFill/>
          <a:ln/>
        </p:spPr>
        <p:txBody>
          <a:bodyPr wrap="square" rtlCol="0" anchor="ctr"/>
          <a:lstStyle/>
          <a:p>
            <a:pPr algn="ctr" indent="0" marL="0" rtl="1">
              <a:lnSpc>
                <a:spcPts val="3000"/>
              </a:lnSpc>
              <a:buNone/>
            </a:pPr>
            <a:r>
              <a:rPr lang="en-US" sz="1600" dirty="0">
                <a:solidFill>
                  <a:srgbClr val="2E2D29"/>
                </a:solidFill>
                <a:latin typeface="Calibri" pitchFamily="34" charset="0"/>
                <a:ea typeface="Calibri" pitchFamily="34" charset="-122"/>
                <a:cs typeface="B Nazanin" pitchFamily="34" charset="-120"/>
              </a:rPr>
              <a:t>از استاد راهنما، جناب آقای دکتر محمدرضا یزدچی</a:t>
            </a:r>
            <a:endParaRPr lang="en-US" sz="1600" dirty="0"/>
          </a:p>
          <a:p>
            <a:pPr algn="ctr" indent="0" marL="0" rtl="1">
              <a:lnSpc>
                <a:spcPts val="3000"/>
              </a:lnSpc>
              <a:buNone/>
            </a:pPr>
            <a:r>
              <a:rPr lang="en-US" sz="1600" dirty="0">
                <a:solidFill>
                  <a:srgbClr val="2E2D29"/>
                </a:solidFill>
                <a:latin typeface="Calibri" pitchFamily="34" charset="0"/>
                <a:ea typeface="Calibri" pitchFamily="34" charset="-122"/>
                <a:cs typeface="B Nazanin" pitchFamily="34" charset="-120"/>
              </a:rPr>
              <a:t>از کارشناسان آزمایشگاه، برای اندازه‌گیری دستی ۶۴ هاله</a:t>
            </a:r>
            <a:endParaRPr lang="en-US" sz="1600" dirty="0"/>
          </a:p>
          <a:p>
            <a:pPr algn="ctr" indent="0" marL="0" rtl="1">
              <a:lnSpc>
                <a:spcPts val="3000"/>
              </a:lnSpc>
              <a:buNone/>
            </a:pPr>
            <a:r>
              <a:rPr lang="en-US" sz="1600" dirty="0">
                <a:solidFill>
                  <a:srgbClr val="2E2D29"/>
                </a:solidFill>
                <a:latin typeface="Calibri" pitchFamily="34" charset="0"/>
                <a:ea typeface="Calibri" pitchFamily="34" charset="-122"/>
                <a:cs typeface="B Nazanin" pitchFamily="34" charset="-120"/>
              </a:rPr>
              <a:t>از هیئت داوران، برای وقتی که گذاشتند</a:t>
            </a:r>
            <a:endParaRPr lang="en-US" sz="1600" dirty="0"/>
          </a:p>
          <a:p>
            <a:pPr algn="ctr" indent="0" marL="0" rtl="1">
              <a:lnSpc>
                <a:spcPts val="3000"/>
              </a:lnSpc>
              <a:buNone/>
            </a:pPr>
            <a:r>
              <a:rPr lang="en-US" sz="1600" dirty="0">
                <a:solidFill>
                  <a:srgbClr val="2E2D29"/>
                </a:solidFill>
                <a:latin typeface="Calibri" pitchFamily="34" charset="0"/>
                <a:ea typeface="Calibri" pitchFamily="34" charset="-122"/>
                <a:cs typeface="B Nazanin" pitchFamily="34" charset="-120"/>
              </a:rPr>
              <a:t>از خانواده‌ام</a:t>
            </a:r>
            <a:endParaRPr lang="en-US" sz="1600" dirty="0"/>
          </a:p>
        </p:txBody>
      </p:sp>
      <p:sp>
        <p:nvSpPr>
          <p:cNvPr id="6" name="Text 4"/>
          <p:cNvSpPr txBox="1"/>
          <p:nvPr/>
        </p:nvSpPr>
        <p:spPr>
          <a:xfrm>
            <a:off x="4328160" y="6473952"/>
            <a:ext cx="7315200" cy="274320"/>
          </a:xfrm>
          <a:prstGeom prst="rect">
            <a:avLst/>
          </a:prstGeom>
          <a:noFill/>
          <a:ln/>
        </p:spPr>
        <p:txBody>
          <a:bodyPr wrap="square" rtlCol="0" anchor="ctr"/>
          <a:lstStyle/>
          <a:p>
            <a:pPr indent="0" marL="0" rtl="1" algn="r">
              <a:buNone/>
            </a:pPr>
            <a:r>
              <a:rPr lang="en-US" sz="900" spc="200" kern="0" dirty="0">
                <a:solidFill>
                  <a:srgbClr val="716E69"/>
                </a:solidFill>
                <a:latin typeface="Calibri" pitchFamily="34" charset="0"/>
                <a:ea typeface="Calibri" pitchFamily="34" charset="-122"/>
                <a:cs typeface="B Nazanin" pitchFamily="34" charset="-120"/>
              </a:rPr>
              <a:t/>
            </a:r>
            <a:endParaRPr lang="en-US" sz="900" dirty="0"/>
          </a:p>
        </p:txBody>
      </p:sp>
      <p:sp>
        <p:nvSpPr>
          <p:cNvPr id="7" name="Text 5"/>
          <p:cNvSpPr txBox="1"/>
          <p:nvPr/>
        </p:nvSpPr>
        <p:spPr>
          <a:xfrm>
            <a:off x="185928" y="6473952"/>
            <a:ext cx="457200" cy="274320"/>
          </a:xfrm>
          <a:prstGeom prst="rect">
            <a:avLst/>
          </a:prstGeom>
          <a:noFill/>
          <a:ln/>
        </p:spPr>
        <p:txBody>
          <a:bodyPr wrap="square" rtlCol="0" anchor="ctr"/>
          <a:lstStyle/>
          <a:p>
            <a:pPr algn="r" indent="0" marL="0" rtl="1">
              <a:buNone/>
            </a:pPr>
            <a:r>
              <a:rPr lang="en-US" sz="900" dirty="0">
                <a:solidFill>
                  <a:srgbClr val="716E69"/>
                </a:solidFill>
                <a:latin typeface="Calibri" pitchFamily="34" charset="0"/>
                <a:ea typeface="Calibri" pitchFamily="34" charset="-122"/>
                <a:cs typeface="B Nazanin" pitchFamily="34" charset="-120"/>
              </a:rPr>
              <a:t>۲۳ / ۲۴</a:t>
            </a:r>
            <a:endParaRPr lang="en-US" sz="900" dirty="0"/>
          </a:p>
        </p:txBody>
      </p:sp>
      <p:sp>
        <p:nvSpPr>
          <p:cNvPr id="9001" name="progress track"/>
          <p:cNvSpPr/>
          <p:nvPr/>
        </p:nvSpPr>
        <p:spPr>
          <a:xfrm>
            <a:off x="0" y="6803000"/>
            <a:ext cx="12192000" cy="55000"/>
          </a:xfrm>
          <a:prstGeom prst="rect">
            <a:avLst/>
          </a:prstGeom>
          <a:solidFill>
            <a:srgbClr val="EDE9E5"/>
          </a:solidFill>
          <a:ln>
            <a:noFill/>
          </a:ln>
        </p:spPr>
        <p:txBody>
          <a:bodyPr/>
          <a:lstStyle/>
          <a:p/>
        </p:txBody>
      </p:sp>
      <p:sp>
        <p:nvSpPr>
          <p:cNvPr id="9002" name="progress fill"/>
          <p:cNvSpPr/>
          <p:nvPr/>
        </p:nvSpPr>
        <p:spPr>
          <a:xfrm>
            <a:off x="508000" y="6803000"/>
            <a:ext cx="11684000" cy="55000"/>
          </a:xfrm>
          <a:prstGeom prst="rect">
            <a:avLst/>
          </a:prstGeom>
          <a:solidFill>
            <a:srgbClr val="8C1515"/>
          </a:solidFill>
          <a:ln>
            <a:noFill/>
          </a:ln>
        </p:spPr>
        <p:txBody>
          <a:bodyPr/>
          <a:lstStyle/>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8C1515"/>
        </a:solidFill>
      </p:bgPr>
    </p:bg>
    <p:spTree>
      <p:nvGrpSpPr>
        <p:cNvPr id="1" name=""/>
        <p:cNvGrpSpPr/>
        <p:nvPr/>
      </p:nvGrpSpPr>
      <p:grpSpPr>
        <a:xfrm>
          <a:off x="0" y="0"/>
          <a:ext cx="0" cy="0"/>
          <a:chOff x="0" y="0"/>
          <a:chExt cx="0" cy="0"/>
        </a:xfrm>
      </p:grpSpPr>
      <p:sp>
        <p:nvSpPr>
          <p:cNvPr id="2" name="Shape 0"/>
          <p:cNvSpPr/>
          <p:nvPr/>
        </p:nvSpPr>
        <p:spPr>
          <a:xfrm>
            <a:off x="9723120" y="-1645920"/>
            <a:ext cx="4114800" cy="4114800"/>
          </a:xfrm>
          <a:prstGeom prst="ellipse">
            <a:avLst/>
          </a:prstGeom>
          <a:solidFill>
            <a:srgbClr val="6E1010"/>
          </a:solidFill>
          <a:ln/>
        </p:spPr>
      </p:sp>
      <p:sp>
        <p:nvSpPr>
          <p:cNvPr id="3" name="Shape 1"/>
          <p:cNvSpPr/>
          <p:nvPr/>
        </p:nvSpPr>
        <p:spPr>
          <a:xfrm>
            <a:off x="-1706880" y="4389120"/>
            <a:ext cx="3657600" cy="3657600"/>
          </a:xfrm>
          <a:prstGeom prst="ellipse">
            <a:avLst/>
          </a:prstGeom>
          <a:solidFill>
            <a:srgbClr val="6E1010"/>
          </a:solidFill>
          <a:ln/>
        </p:spPr>
      </p:sp>
      <p:sp>
        <p:nvSpPr>
          <p:cNvPr id="4" name="Text 2"/>
          <p:cNvSpPr txBox="1"/>
          <p:nvPr/>
        </p:nvSpPr>
        <p:spPr>
          <a:xfrm>
            <a:off x="826008" y="2286000"/>
            <a:ext cx="10543032" cy="1005840"/>
          </a:xfrm>
          <a:prstGeom prst="rect">
            <a:avLst/>
          </a:prstGeom>
          <a:noFill/>
          <a:ln/>
        </p:spPr>
        <p:txBody>
          <a:bodyPr wrap="square" rtlCol="0" anchor="ctr"/>
          <a:lstStyle/>
          <a:p>
            <a:pPr algn="ctr" indent="0" marL="0" rtl="1">
              <a:buNone/>
            </a:pPr>
            <a:r>
              <a:rPr lang="en-US" sz="5400" b="1" dirty="0">
                <a:solidFill>
                  <a:srgbClr val="FFFFFF"/>
                </a:solidFill>
                <a:latin typeface="Cambria" pitchFamily="34" charset="0"/>
                <a:ea typeface="Cambria" pitchFamily="34" charset="-122"/>
                <a:cs typeface="B Titr" pitchFamily="34" charset="-120"/>
              </a:rPr>
              <a:t>سپاس از توجه شما</a:t>
            </a:r>
            <a:endParaRPr lang="en-US" sz="5400" dirty="0"/>
          </a:p>
        </p:txBody>
      </p:sp>
      <p:sp>
        <p:nvSpPr>
          <p:cNvPr id="5" name="Text 3"/>
          <p:cNvSpPr txBox="1"/>
          <p:nvPr/>
        </p:nvSpPr>
        <p:spPr>
          <a:xfrm>
            <a:off x="826008" y="3337560"/>
            <a:ext cx="10543032" cy="548640"/>
          </a:xfrm>
          <a:prstGeom prst="rect">
            <a:avLst/>
          </a:prstGeom>
          <a:noFill/>
          <a:ln/>
        </p:spPr>
        <p:txBody>
          <a:bodyPr wrap="square" rtlCol="0" anchor="ctr"/>
          <a:lstStyle/>
          <a:p>
            <a:pPr algn="ctr" indent="0" marL="0" rtl="1">
              <a:buNone/>
            </a:pPr>
            <a:r>
              <a:rPr lang="en-US" sz="2000" dirty="0">
                <a:solidFill>
                  <a:srgbClr val="E98300"/>
                </a:solidFill>
                <a:latin typeface="Calibri" pitchFamily="34" charset="0"/>
                <a:ea typeface="Calibri" pitchFamily="34" charset="-122"/>
                <a:cs typeface="B Nazanin" pitchFamily="34" charset="-120"/>
              </a:rPr>
              <a:t>پرسش و پاسخ</a:t>
            </a:r>
            <a:endParaRPr lang="en-US" sz="2000" dirty="0"/>
          </a:p>
        </p:txBody>
      </p:sp>
      <p:sp>
        <p:nvSpPr>
          <p:cNvPr id="6" name="Text 4"/>
          <p:cNvSpPr txBox="1"/>
          <p:nvPr/>
        </p:nvSpPr>
        <p:spPr>
          <a:xfrm>
            <a:off x="826008" y="5852160"/>
            <a:ext cx="10543032" cy="365760"/>
          </a:xfrm>
          <a:prstGeom prst="rect">
            <a:avLst/>
          </a:prstGeom>
          <a:noFill/>
          <a:ln/>
        </p:spPr>
        <p:txBody>
          <a:bodyPr wrap="square" rtlCol="0" anchor="ctr"/>
          <a:lstStyle/>
          <a:p>
            <a:pPr algn="ctr" indent="0" marL="0" rtl="1">
              <a:buNone/>
            </a:pPr>
            <a:r>
              <a:rPr lang="en-US" sz="1300" dirty="0">
                <a:solidFill>
                  <a:srgbClr val="F7F5F1"/>
                </a:solidFill>
                <a:latin typeface="Calibri" pitchFamily="34" charset="0"/>
                <a:ea typeface="Calibri" pitchFamily="34" charset="-122"/>
                <a:cs typeface="B Nazanin" pitchFamily="34" charset="-120"/>
              </a:rPr>
              <a:t>مهیار حدادها  •  ۴۰۱۲۰۱۳۰۵۳</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11442192" y="475488"/>
            <a:ext cx="201168" cy="201168"/>
          </a:xfrm>
          <a:prstGeom prst="ellipse">
            <a:avLst/>
          </a:prstGeom>
          <a:solidFill>
            <a:srgbClr val="E98300"/>
          </a:solidFill>
          <a:ln/>
        </p:spPr>
      </p:sp>
      <p:sp>
        <p:nvSpPr>
          <p:cNvPr id="3" name="Text 1"/>
          <p:cNvSpPr txBox="1"/>
          <p:nvPr/>
        </p:nvSpPr>
        <p:spPr>
          <a:xfrm>
            <a:off x="1694688" y="347472"/>
            <a:ext cx="9601200" cy="502920"/>
          </a:xfrm>
          <a:prstGeom prst="rect">
            <a:avLst/>
          </a:prstGeom>
          <a:noFill/>
          <a:ln/>
        </p:spPr>
        <p:txBody>
          <a:bodyPr wrap="square" rtlCol="0" anchor="ctr"/>
          <a:lstStyle/>
          <a:p>
            <a:pPr indent="0" marL="0" rtl="1" algn="r">
              <a:buNone/>
            </a:pPr>
            <a:r>
              <a:rPr lang="en-US" sz="3000" b="1" dirty="0">
                <a:solidFill>
                  <a:srgbClr val="8C1515"/>
                </a:solidFill>
                <a:latin typeface="Cambria" pitchFamily="34" charset="0"/>
                <a:ea typeface="Cambria" pitchFamily="34" charset="-122"/>
                <a:cs typeface="B Titr" pitchFamily="34" charset="-120"/>
              </a:rPr>
              <a:t>نتایج: یافتن ظرف و یافتن دیسک</a:t>
            </a:r>
            <a:endParaRPr lang="en-US" sz="3000" dirty="0"/>
          </a:p>
        </p:txBody>
      </p:sp>
      <p:sp>
        <p:nvSpPr>
          <p:cNvPr id="4" name="Shape 2"/>
          <p:cNvSpPr/>
          <p:nvPr/>
        </p:nvSpPr>
        <p:spPr>
          <a:xfrm>
            <a:off x="8122920" y="1371600"/>
            <a:ext cx="3520440" cy="4206240"/>
          </a:xfrm>
          <a:prstGeom prst="roundRect">
            <a:avLst>
              <a:gd name="adj" fmla="val 2078"/>
            </a:avLst>
          </a:prstGeom>
          <a:solidFill>
            <a:srgbClr val="F7F5F1"/>
          </a:solidFill>
          <a:ln/>
        </p:spPr>
      </p:sp>
      <p:sp>
        <p:nvSpPr>
          <p:cNvPr id="5" name="Shape 3"/>
          <p:cNvSpPr/>
          <p:nvPr/>
        </p:nvSpPr>
        <p:spPr>
          <a:xfrm>
            <a:off x="10683240" y="1737360"/>
            <a:ext cx="640080" cy="640080"/>
          </a:xfrm>
          <a:prstGeom prst="ellipse">
            <a:avLst/>
          </a:prstGeom>
          <a:solidFill>
            <a:srgbClr val="8C1515"/>
          </a:solidFill>
          <a:ln/>
        </p:spPr>
      </p:sp>
      <p:sp>
        <p:nvSpPr>
          <p:cNvPr id="6" name="Text 4"/>
          <p:cNvSpPr txBox="1"/>
          <p:nvPr/>
        </p:nvSpPr>
        <p:spPr>
          <a:xfrm>
            <a:off x="10683240" y="1737360"/>
            <a:ext cx="640080" cy="64008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۱</a:t>
            </a:r>
            <a:endParaRPr lang="en-US" sz="2000" dirty="0"/>
          </a:p>
        </p:txBody>
      </p:sp>
      <p:sp>
        <p:nvSpPr>
          <p:cNvPr id="7" name="Text 5"/>
          <p:cNvSpPr txBox="1"/>
          <p:nvPr/>
        </p:nvSpPr>
        <p:spPr>
          <a:xfrm>
            <a:off x="8397240" y="2468880"/>
            <a:ext cx="2971800" cy="320040"/>
          </a:xfrm>
          <a:prstGeom prst="rect">
            <a:avLst/>
          </a:prstGeom>
          <a:noFill/>
          <a:ln/>
        </p:spPr>
        <p:txBody>
          <a:bodyPr wrap="square" rtlCol="0" anchor="ctr"/>
          <a:lstStyle/>
          <a:p>
            <a:pPr indent="0" marL="0" rtl="1" algn="r">
              <a:buNone/>
            </a:pPr>
            <a:r>
              <a:rPr lang="en-US" sz="1200" b="1" spc="200" kern="0" dirty="0">
                <a:solidFill>
                  <a:srgbClr val="E98300"/>
                </a:solidFill>
                <a:latin typeface="Calibri" pitchFamily="34" charset="0"/>
                <a:ea typeface="Calibri" pitchFamily="34" charset="-122"/>
                <a:cs typeface="B Nazanin" pitchFamily="34" charset="-120"/>
              </a:rPr>
              <a:t>یافتن ظرف</a:t>
            </a:r>
            <a:endParaRPr lang="en-US" sz="1200" dirty="0"/>
          </a:p>
        </p:txBody>
      </p:sp>
      <p:sp>
        <p:nvSpPr>
          <p:cNvPr id="8" name="Text 6"/>
          <p:cNvSpPr txBox="1"/>
          <p:nvPr/>
        </p:nvSpPr>
        <p:spPr>
          <a:xfrm>
            <a:off x="8397240" y="2834640"/>
            <a:ext cx="2971800" cy="2468880"/>
          </a:xfrm>
          <a:prstGeom prst="rect">
            <a:avLst/>
          </a:prstGeom>
          <a:noFill/>
          <a:ln/>
        </p:spPr>
        <p:txBody>
          <a:bodyPr wrap="square" rtlCol="0" anchor="ctr"/>
          <a:lstStyle/>
          <a:p>
            <a:pPr indent="0" marL="0" rtl="1" algn="r">
              <a:lnSpc>
                <a:spcPct val="130000"/>
              </a:lnSpc>
              <a:buNone/>
            </a:pPr>
            <a:r>
              <a:rPr lang="en-US" sz="1400" dirty="0">
                <a:solidFill>
                  <a:srgbClr val="2E2D29"/>
                </a:solidFill>
                <a:latin typeface="Calibri" pitchFamily="34" charset="0"/>
                <a:ea typeface="Calibri" pitchFamily="34" charset="-122"/>
                <a:cs typeface="B Nazanin" pitchFamily="34" charset="-120"/>
              </a:rPr>
              <a:t>۱۱ از ۱۱ تصویر. تمام تصاویر از یک آزمایشگاه تهیه شده‌اند و تعمیم این عدد نیازمند احتیاط است.</a:t>
            </a:r>
            <a:endParaRPr lang="en-US" sz="1400" dirty="0"/>
          </a:p>
        </p:txBody>
      </p:sp>
      <p:sp>
        <p:nvSpPr>
          <p:cNvPr id="9" name="Shape 7"/>
          <p:cNvSpPr/>
          <p:nvPr/>
        </p:nvSpPr>
        <p:spPr>
          <a:xfrm>
            <a:off x="4282440" y="1371600"/>
            <a:ext cx="3520440" cy="4206240"/>
          </a:xfrm>
          <a:prstGeom prst="roundRect">
            <a:avLst>
              <a:gd name="adj" fmla="val 2078"/>
            </a:avLst>
          </a:prstGeom>
          <a:solidFill>
            <a:srgbClr val="F7F5F1"/>
          </a:solidFill>
          <a:ln/>
        </p:spPr>
      </p:sp>
      <p:sp>
        <p:nvSpPr>
          <p:cNvPr id="10" name="Shape 8"/>
          <p:cNvSpPr/>
          <p:nvPr/>
        </p:nvSpPr>
        <p:spPr>
          <a:xfrm>
            <a:off x="6842760" y="1737360"/>
            <a:ext cx="640080" cy="640080"/>
          </a:xfrm>
          <a:prstGeom prst="ellipse">
            <a:avLst/>
          </a:prstGeom>
          <a:solidFill>
            <a:srgbClr val="8C1515"/>
          </a:solidFill>
          <a:ln/>
        </p:spPr>
      </p:sp>
      <p:sp>
        <p:nvSpPr>
          <p:cNvPr id="11" name="Text 9"/>
          <p:cNvSpPr txBox="1"/>
          <p:nvPr/>
        </p:nvSpPr>
        <p:spPr>
          <a:xfrm>
            <a:off x="6842760" y="1737360"/>
            <a:ext cx="640080" cy="64008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۲</a:t>
            </a:r>
            <a:endParaRPr lang="en-US" sz="2000" dirty="0"/>
          </a:p>
        </p:txBody>
      </p:sp>
      <p:sp>
        <p:nvSpPr>
          <p:cNvPr id="12" name="Text 10"/>
          <p:cNvSpPr txBox="1"/>
          <p:nvPr/>
        </p:nvSpPr>
        <p:spPr>
          <a:xfrm>
            <a:off x="4556760" y="2468880"/>
            <a:ext cx="2971800" cy="320040"/>
          </a:xfrm>
          <a:prstGeom prst="rect">
            <a:avLst/>
          </a:prstGeom>
          <a:noFill/>
          <a:ln/>
        </p:spPr>
        <p:txBody>
          <a:bodyPr wrap="square" rtlCol="0" anchor="ctr"/>
          <a:lstStyle/>
          <a:p>
            <a:pPr indent="0" marL="0" rtl="1" algn="r">
              <a:buNone/>
            </a:pPr>
            <a:r>
              <a:rPr lang="en-US" sz="1200" b="1" spc="200" kern="0" dirty="0">
                <a:solidFill>
                  <a:srgbClr val="E98300"/>
                </a:solidFill>
                <a:latin typeface="Calibri" pitchFamily="34" charset="0"/>
                <a:ea typeface="Calibri" pitchFamily="34" charset="-122"/>
                <a:cs typeface="B Nazanin" pitchFamily="34" charset="-120"/>
              </a:rPr>
              <a:t>یافتن دیسک</a:t>
            </a:r>
            <a:endParaRPr lang="en-US" sz="1200" dirty="0"/>
          </a:p>
        </p:txBody>
      </p:sp>
      <p:sp>
        <p:nvSpPr>
          <p:cNvPr id="13" name="Text 11"/>
          <p:cNvSpPr txBox="1"/>
          <p:nvPr/>
        </p:nvSpPr>
        <p:spPr>
          <a:xfrm>
            <a:off x="4556760" y="2834640"/>
            <a:ext cx="2971800" cy="2468880"/>
          </a:xfrm>
          <a:prstGeom prst="rect">
            <a:avLst/>
          </a:prstGeom>
          <a:noFill/>
          <a:ln/>
        </p:spPr>
        <p:txBody>
          <a:bodyPr wrap="square" rtlCol="0" anchor="ctr"/>
          <a:lstStyle/>
          <a:p>
            <a:pPr indent="0" marL="0" rtl="1" algn="r">
              <a:lnSpc>
                <a:spcPct val="130000"/>
              </a:lnSpc>
              <a:buNone/>
            </a:pPr>
            <a:r>
              <a:rPr lang="en-US" sz="1400" dirty="0">
                <a:solidFill>
                  <a:srgbClr val="2E2D29"/>
                </a:solidFill>
                <a:latin typeface="Calibri" pitchFamily="34" charset="0"/>
                <a:ea typeface="Calibri" pitchFamily="34" charset="-122"/>
                <a:cs typeface="B Nazanin" pitchFamily="34" charset="-120"/>
              </a:rPr>
              <a:t>امتیاز F1 برابر ۰٫۹۸۹، با صحت ۱٫۰۰۰ و بازخوانی ۰٫۹۷۸. دو دیسک تشخیص داده نشد.</a:t>
            </a:r>
            <a:endParaRPr lang="en-US" sz="1400" dirty="0"/>
          </a:p>
        </p:txBody>
      </p:sp>
      <p:sp>
        <p:nvSpPr>
          <p:cNvPr id="14" name="Shape 12"/>
          <p:cNvSpPr/>
          <p:nvPr/>
        </p:nvSpPr>
        <p:spPr>
          <a:xfrm>
            <a:off x="441960" y="1371600"/>
            <a:ext cx="3520440" cy="4206240"/>
          </a:xfrm>
          <a:prstGeom prst="roundRect">
            <a:avLst>
              <a:gd name="adj" fmla="val 2078"/>
            </a:avLst>
          </a:prstGeom>
          <a:solidFill>
            <a:srgbClr val="F7F5F1"/>
          </a:solidFill>
          <a:ln/>
        </p:spPr>
      </p:sp>
      <p:sp>
        <p:nvSpPr>
          <p:cNvPr id="15" name="Shape 13"/>
          <p:cNvSpPr/>
          <p:nvPr/>
        </p:nvSpPr>
        <p:spPr>
          <a:xfrm>
            <a:off x="3002280" y="1737360"/>
            <a:ext cx="640080" cy="640080"/>
          </a:xfrm>
          <a:prstGeom prst="ellipse">
            <a:avLst/>
          </a:prstGeom>
          <a:solidFill>
            <a:srgbClr val="8C1515"/>
          </a:solidFill>
          <a:ln/>
        </p:spPr>
      </p:sp>
      <p:sp>
        <p:nvSpPr>
          <p:cNvPr id="16" name="Text 14"/>
          <p:cNvSpPr txBox="1"/>
          <p:nvPr/>
        </p:nvSpPr>
        <p:spPr>
          <a:xfrm>
            <a:off x="3002280" y="1737360"/>
            <a:ext cx="640080" cy="64008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۳</a:t>
            </a:r>
            <a:endParaRPr lang="en-US" sz="2000" dirty="0"/>
          </a:p>
        </p:txBody>
      </p:sp>
      <p:sp>
        <p:nvSpPr>
          <p:cNvPr id="17" name="Text 15"/>
          <p:cNvSpPr txBox="1"/>
          <p:nvPr/>
        </p:nvSpPr>
        <p:spPr>
          <a:xfrm>
            <a:off x="716280" y="2468880"/>
            <a:ext cx="2971800" cy="320040"/>
          </a:xfrm>
          <a:prstGeom prst="rect">
            <a:avLst/>
          </a:prstGeom>
          <a:noFill/>
          <a:ln/>
        </p:spPr>
        <p:txBody>
          <a:bodyPr wrap="square" rtlCol="0" anchor="ctr"/>
          <a:lstStyle/>
          <a:p>
            <a:pPr indent="0" marL="0" rtl="1" algn="r">
              <a:buNone/>
            </a:pPr>
            <a:r>
              <a:rPr lang="en-US" sz="1200" b="1" spc="200" kern="0" dirty="0">
                <a:solidFill>
                  <a:srgbClr val="E98300"/>
                </a:solidFill>
                <a:latin typeface="Calibri" pitchFamily="34" charset="0"/>
                <a:ea typeface="Calibri" pitchFamily="34" charset="-122"/>
                <a:cs typeface="B Nazanin" pitchFamily="34" charset="-120"/>
              </a:rPr>
              <a:t>تشخیص وجود هاله</a:t>
            </a:r>
            <a:endParaRPr lang="en-US" sz="1200" dirty="0"/>
          </a:p>
        </p:txBody>
      </p:sp>
      <p:sp>
        <p:nvSpPr>
          <p:cNvPr id="18" name="Text 16"/>
          <p:cNvSpPr txBox="1"/>
          <p:nvPr/>
        </p:nvSpPr>
        <p:spPr>
          <a:xfrm>
            <a:off x="716280" y="2834640"/>
            <a:ext cx="2971800" cy="2468880"/>
          </a:xfrm>
          <a:prstGeom prst="rect">
            <a:avLst/>
          </a:prstGeom>
          <a:noFill/>
          <a:ln/>
        </p:spPr>
        <p:txBody>
          <a:bodyPr wrap="square" rtlCol="0" anchor="ctr"/>
          <a:lstStyle/>
          <a:p>
            <a:pPr indent="0" marL="0" rtl="1" algn="r">
              <a:lnSpc>
                <a:spcPct val="130000"/>
              </a:lnSpc>
              <a:buNone/>
            </a:pPr>
            <a:r>
              <a:rPr lang="en-US" sz="1400" dirty="0">
                <a:solidFill>
                  <a:srgbClr val="2E2D29"/>
                </a:solidFill>
                <a:latin typeface="Calibri" pitchFamily="34" charset="0"/>
                <a:ea typeface="Calibri" pitchFamily="34" charset="-122"/>
                <a:cs typeface="B Nazanin" pitchFamily="34" charset="-120"/>
              </a:rPr>
              <a:t>دقت ۰٫۸۲۴. نرخ منفی کاذب پایین و نرخ مثبت کاذب نسبتاً بالاست.</a:t>
            </a:r>
            <a:endParaRPr lang="en-US" sz="1400" dirty="0"/>
          </a:p>
        </p:txBody>
      </p:sp>
      <p:sp>
        <p:nvSpPr>
          <p:cNvPr id="19" name="Text 17"/>
          <p:cNvSpPr txBox="1"/>
          <p:nvPr/>
        </p:nvSpPr>
        <p:spPr>
          <a:xfrm>
            <a:off x="4328160" y="6473952"/>
            <a:ext cx="7315200" cy="274320"/>
          </a:xfrm>
          <a:prstGeom prst="rect">
            <a:avLst/>
          </a:prstGeom>
          <a:noFill/>
          <a:ln/>
        </p:spPr>
        <p:txBody>
          <a:bodyPr wrap="square" rtlCol="0" anchor="ctr"/>
          <a:lstStyle/>
          <a:p>
            <a:pPr indent="0" marL="0" rtl="1" algn="r">
              <a:buNone/>
            </a:pPr>
            <a:r>
              <a:rPr lang="en-US" sz="900" spc="200" kern="0" dirty="0">
                <a:solidFill>
                  <a:srgbClr val="716E69"/>
                </a:solidFill>
                <a:latin typeface="Calibri" pitchFamily="34" charset="0"/>
                <a:ea typeface="Calibri" pitchFamily="34" charset="-122"/>
                <a:cs typeface="B Nazanin" pitchFamily="34" charset="-120"/>
              </a:rPr>
              <a:t>نتایج</a:t>
            </a:r>
            <a:endParaRPr lang="en-US" sz="900" dirty="0"/>
          </a:p>
        </p:txBody>
      </p:sp>
      <p:sp>
        <p:nvSpPr>
          <p:cNvPr id="20" name="Text 18"/>
          <p:cNvSpPr txBox="1"/>
          <p:nvPr/>
        </p:nvSpPr>
        <p:spPr>
          <a:xfrm>
            <a:off x="185928" y="6473952"/>
            <a:ext cx="457200" cy="274320"/>
          </a:xfrm>
          <a:prstGeom prst="rect">
            <a:avLst/>
          </a:prstGeom>
          <a:noFill/>
          <a:ln/>
        </p:spPr>
        <p:txBody>
          <a:bodyPr wrap="square" rtlCol="0" anchor="ctr"/>
          <a:lstStyle/>
          <a:p>
            <a:pPr algn="r" indent="0" marL="0" rtl="1">
              <a:buNone/>
            </a:pPr>
            <a:r>
              <a:rPr lang="en-US" sz="900" dirty="0">
                <a:solidFill>
                  <a:srgbClr val="716E69"/>
                </a:solidFill>
                <a:latin typeface="Calibri" pitchFamily="34" charset="0"/>
                <a:ea typeface="Calibri" pitchFamily="34" charset="-122"/>
                <a:cs typeface="B Nazanin" pitchFamily="34" charset="-120"/>
              </a:rPr>
              <a:t>۱۲ / ۲۴</a:t>
            </a:r>
            <a:endParaRPr lang="en-US" sz="900" dirty="0"/>
          </a:p>
        </p:txBody>
      </p:sp>
      <p:sp>
        <p:nvSpPr>
          <p:cNvPr id="9001" name="progress track"/>
          <p:cNvSpPr/>
          <p:nvPr/>
        </p:nvSpPr>
        <p:spPr>
          <a:xfrm>
            <a:off x="0" y="6803000"/>
            <a:ext cx="12192000" cy="55000"/>
          </a:xfrm>
          <a:prstGeom prst="rect">
            <a:avLst/>
          </a:prstGeom>
          <a:solidFill>
            <a:srgbClr val="EDE9E5"/>
          </a:solidFill>
          <a:ln>
            <a:noFill/>
          </a:ln>
        </p:spPr>
        <p:txBody>
          <a:bodyPr/>
          <a:lstStyle/>
          <a:p/>
        </p:txBody>
      </p:sp>
      <p:sp>
        <p:nvSpPr>
          <p:cNvPr id="9002" name="progress fill"/>
          <p:cNvSpPr/>
          <p:nvPr/>
        </p:nvSpPr>
        <p:spPr>
          <a:xfrm>
            <a:off x="6096000" y="6803000"/>
            <a:ext cx="6096000" cy="55000"/>
          </a:xfrm>
          <a:prstGeom prst="rect">
            <a:avLst/>
          </a:prstGeom>
          <a:solidFill>
            <a:srgbClr val="8C1515"/>
          </a:solidFill>
          <a:ln>
            <a:noFill/>
          </a:ln>
        </p:spPr>
        <p:txBody>
          <a:bodyPr/>
          <a:lstStyle/>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11442192" y="475488"/>
            <a:ext cx="201168" cy="201168"/>
          </a:xfrm>
          <a:prstGeom prst="ellipse">
            <a:avLst/>
          </a:prstGeom>
          <a:solidFill>
            <a:srgbClr val="E98300"/>
          </a:solidFill>
          <a:ln/>
        </p:spPr>
      </p:sp>
      <p:sp>
        <p:nvSpPr>
          <p:cNvPr id="3" name="Text 1"/>
          <p:cNvSpPr txBox="1"/>
          <p:nvPr/>
        </p:nvSpPr>
        <p:spPr>
          <a:xfrm>
            <a:off x="1694688" y="347472"/>
            <a:ext cx="9601200" cy="502920"/>
          </a:xfrm>
          <a:prstGeom prst="rect">
            <a:avLst/>
          </a:prstGeom>
          <a:noFill/>
          <a:ln/>
        </p:spPr>
        <p:txBody>
          <a:bodyPr wrap="square" rtlCol="0" anchor="ctr"/>
          <a:lstStyle/>
          <a:p>
            <a:pPr indent="0" marL="0" rtl="1" algn="r">
              <a:buNone/>
            </a:pPr>
            <a:r>
              <a:rPr lang="en-US" sz="3000" b="1" dirty="0">
                <a:solidFill>
                  <a:srgbClr val="8C1515"/>
                </a:solidFill>
                <a:latin typeface="Cambria" pitchFamily="34" charset="0"/>
                <a:ea typeface="Cambria" pitchFamily="34" charset="-122"/>
                <a:cs typeface="B Titr" pitchFamily="34" charset="-120"/>
              </a:rPr>
              <a:t>سقف قابل اثبات: انسان در برابر انسان</a:t>
            </a:r>
            <a:endParaRPr lang="en-US" sz="3000" dirty="0"/>
          </a:p>
        </p:txBody>
      </p:sp>
      <p:sp>
        <p:nvSpPr>
          <p:cNvPr id="4" name="Shape 2"/>
          <p:cNvSpPr/>
          <p:nvPr/>
        </p:nvSpPr>
        <p:spPr>
          <a:xfrm>
            <a:off x="6431280" y="1325880"/>
            <a:ext cx="5212080" cy="4297680"/>
          </a:xfrm>
          <a:prstGeom prst="roundRect">
            <a:avLst>
              <a:gd name="adj" fmla="val 1702"/>
            </a:avLst>
          </a:prstGeom>
          <a:solidFill>
            <a:srgbClr val="FFFFFF"/>
          </a:solidFill>
          <a:ln w="12700">
            <a:solidFill>
              <a:srgbClr val="E8E5E0"/>
            </a:solidFill>
            <a:prstDash val="solid"/>
          </a:ln>
        </p:spPr>
      </p:sp>
      <p:sp>
        <p:nvSpPr>
          <p:cNvPr id="5" name="Shape 3"/>
          <p:cNvSpPr/>
          <p:nvPr/>
        </p:nvSpPr>
        <p:spPr>
          <a:xfrm>
            <a:off x="6431280" y="1325880"/>
            <a:ext cx="5212080" cy="594360"/>
          </a:xfrm>
          <a:prstGeom prst="rect">
            <a:avLst/>
          </a:prstGeom>
          <a:solidFill>
            <a:srgbClr val="716E69"/>
          </a:solidFill>
          <a:ln/>
        </p:spPr>
      </p:sp>
      <p:sp>
        <p:nvSpPr>
          <p:cNvPr id="6" name="Text 4"/>
          <p:cNvSpPr txBox="1"/>
          <p:nvPr/>
        </p:nvSpPr>
        <p:spPr>
          <a:xfrm>
            <a:off x="6431280" y="1325880"/>
            <a:ext cx="5212080" cy="594360"/>
          </a:xfrm>
          <a:prstGeom prst="rect">
            <a:avLst/>
          </a:prstGeom>
          <a:noFill/>
          <a:ln/>
        </p:spPr>
        <p:txBody>
          <a:bodyPr wrap="square" rtlCol="0" anchor="ctr"/>
          <a:lstStyle/>
          <a:p>
            <a:pPr algn="ctr" indent="0" marL="0" rtl="1">
              <a:buNone/>
            </a:pPr>
            <a:r>
              <a:rPr lang="en-US" sz="1600" b="1" dirty="0">
                <a:solidFill>
                  <a:srgbClr val="FFFFFF"/>
                </a:solidFill>
                <a:latin typeface="Cambria" pitchFamily="34" charset="0"/>
                <a:ea typeface="Cambria" pitchFamily="34" charset="-122"/>
                <a:cs typeface="B Titr" pitchFamily="34" charset="-120"/>
              </a:rPr>
              <a:t>کارشناس با کارشناس</a:t>
            </a:r>
            <a:endParaRPr lang="en-US" sz="1600" dirty="0"/>
          </a:p>
        </p:txBody>
      </p:sp>
      <p:sp>
        <p:nvSpPr>
          <p:cNvPr id="7" name="Text 5"/>
          <p:cNvSpPr txBox="1"/>
          <p:nvPr/>
        </p:nvSpPr>
        <p:spPr>
          <a:xfrm>
            <a:off x="6797040" y="2148840"/>
            <a:ext cx="4480560" cy="3291840"/>
          </a:xfrm>
          <a:prstGeom prst="rect">
            <a:avLst/>
          </a:prstGeom>
          <a:noFill/>
          <a:ln/>
        </p:spPr>
        <p:txBody>
          <a:bodyPr wrap="square" rtlCol="0" anchor="ctr"/>
          <a:lstStyle/>
          <a:p>
            <a:pPr marL="342900" indent="-342900" rtl="1" algn="r">
              <a:lnSpc>
                <a:spcPct val="140000"/>
              </a:lnSpc>
              <a:spcAft>
                <a:spcPts val="1000"/>
              </a:spcAft>
              <a:buSzPct val="100000"/>
              <a:buChar char="•"/>
            </a:pPr>
            <a:r>
              <a:rPr lang="en-US" sz="1400" dirty="0">
                <a:solidFill>
                  <a:srgbClr val="2E2D29"/>
                </a:solidFill>
                <a:latin typeface="Calibri" pitchFamily="34" charset="0"/>
                <a:ea typeface="Calibri" pitchFamily="34" charset="-122"/>
                <a:cs typeface="B Nazanin" pitchFamily="34" charset="-120"/>
              </a:rPr>
              <a:t>خطای متوسط: ۱٫۳۶ میلی‌متر</a:t>
            </a:r>
            <a:endParaRPr lang="en-US" sz="1400" dirty="0"/>
          </a:p>
          <a:p>
            <a:pPr marL="342900" indent="-342900" rtl="1" algn="r">
              <a:lnSpc>
                <a:spcPct val="140000"/>
              </a:lnSpc>
              <a:spcAft>
                <a:spcPts val="1000"/>
              </a:spcAft>
              <a:buSzPct val="100000"/>
              <a:buChar char="•"/>
            </a:pPr>
            <a:r>
              <a:rPr lang="en-US" sz="1400" dirty="0">
                <a:solidFill>
                  <a:srgbClr val="2E2D29"/>
                </a:solidFill>
                <a:latin typeface="Calibri" pitchFamily="34" charset="0"/>
                <a:ea typeface="Calibri" pitchFamily="34" charset="-122"/>
                <a:cs typeface="B Nazanin" pitchFamily="34" charset="-120"/>
              </a:rPr>
              <a:t>توافق دسته‌ای: ۹۵٫۱٪</a:t>
            </a:r>
            <a:endParaRPr lang="en-US" sz="1400" dirty="0"/>
          </a:p>
          <a:p>
            <a:pPr marL="342900" indent="-342900" rtl="1" algn="r">
              <a:lnSpc>
                <a:spcPct val="140000"/>
              </a:lnSpc>
              <a:spcAft>
                <a:spcPts val="1000"/>
              </a:spcAft>
              <a:buSzPct val="100000"/>
              <a:buChar char="•"/>
            </a:pPr>
            <a:r>
              <a:rPr lang="en-US" sz="1400" dirty="0">
                <a:solidFill>
                  <a:srgbClr val="2E2D29"/>
                </a:solidFill>
                <a:latin typeface="Calibri" pitchFamily="34" charset="0"/>
                <a:ea typeface="Calibri" pitchFamily="34" charset="-122"/>
                <a:cs typeface="B Nazanin" pitchFamily="34" charset="-120"/>
              </a:rPr>
              <a:t>خطای بسیار عمده: ۲٫۰۷٪</a:t>
            </a:r>
            <a:endParaRPr lang="en-US" sz="1400" dirty="0"/>
          </a:p>
          <a:p>
            <a:pPr marL="342900" indent="-342900" rtl="1" algn="r">
              <a:lnSpc>
                <a:spcPct val="140000"/>
              </a:lnSpc>
              <a:spcAft>
                <a:spcPts val="1000"/>
              </a:spcAft>
              <a:buSzPct val="100000"/>
              <a:buChar char="•"/>
            </a:pPr>
            <a:r>
              <a:rPr lang="en-US" sz="1400" dirty="0">
                <a:solidFill>
                  <a:srgbClr val="2E2D29"/>
                </a:solidFill>
                <a:latin typeface="Calibri" pitchFamily="34" charset="0"/>
                <a:ea typeface="Calibri" pitchFamily="34" charset="-122"/>
                <a:cs typeface="B Nazanin" pitchFamily="34" charset="-120"/>
              </a:rPr>
              <a:t>سقف ۱٫۵ درصدی در توافق دو کارشناس انسانی نیز برآورده نمی‌شود.</a:t>
            </a:r>
            <a:endParaRPr lang="en-US" sz="1400" dirty="0"/>
          </a:p>
        </p:txBody>
      </p:sp>
      <p:sp>
        <p:nvSpPr>
          <p:cNvPr id="8" name="Shape 6"/>
          <p:cNvSpPr/>
          <p:nvPr/>
        </p:nvSpPr>
        <p:spPr>
          <a:xfrm>
            <a:off x="899160" y="1325880"/>
            <a:ext cx="5212080" cy="4297680"/>
          </a:xfrm>
          <a:prstGeom prst="roundRect">
            <a:avLst>
              <a:gd name="adj" fmla="val 1702"/>
            </a:avLst>
          </a:prstGeom>
          <a:solidFill>
            <a:srgbClr val="F7F5F1"/>
          </a:solidFill>
          <a:ln w="12700">
            <a:solidFill>
              <a:srgbClr val="E8E5E0"/>
            </a:solidFill>
            <a:prstDash val="solid"/>
          </a:ln>
        </p:spPr>
      </p:sp>
      <p:sp>
        <p:nvSpPr>
          <p:cNvPr id="9" name="Shape 7"/>
          <p:cNvSpPr/>
          <p:nvPr/>
        </p:nvSpPr>
        <p:spPr>
          <a:xfrm>
            <a:off x="899160" y="1325880"/>
            <a:ext cx="5212080" cy="594360"/>
          </a:xfrm>
          <a:prstGeom prst="rect">
            <a:avLst/>
          </a:prstGeom>
          <a:solidFill>
            <a:srgbClr val="8C1515"/>
          </a:solidFill>
          <a:ln/>
        </p:spPr>
      </p:sp>
      <p:sp>
        <p:nvSpPr>
          <p:cNvPr id="10" name="Text 8"/>
          <p:cNvSpPr txBox="1"/>
          <p:nvPr/>
        </p:nvSpPr>
        <p:spPr>
          <a:xfrm>
            <a:off x="899160" y="1325880"/>
            <a:ext cx="5212080" cy="594360"/>
          </a:xfrm>
          <a:prstGeom prst="rect">
            <a:avLst/>
          </a:prstGeom>
          <a:noFill/>
          <a:ln/>
        </p:spPr>
        <p:txBody>
          <a:bodyPr wrap="square" rtlCol="0" anchor="ctr"/>
          <a:lstStyle/>
          <a:p>
            <a:pPr algn="ctr" indent="0" marL="0" rtl="1">
              <a:buNone/>
            </a:pPr>
            <a:r>
              <a:rPr lang="en-US" sz="1600" b="1" dirty="0">
                <a:solidFill>
                  <a:srgbClr val="FFFFFF"/>
                </a:solidFill>
                <a:latin typeface="Cambria" pitchFamily="34" charset="0"/>
                <a:ea typeface="Cambria" pitchFamily="34" charset="-122"/>
                <a:cs typeface="B Titr" pitchFamily="34" charset="-120"/>
              </a:rPr>
              <a:t>سامانه با کارشناس</a:t>
            </a:r>
            <a:endParaRPr lang="en-US" sz="1600" dirty="0"/>
          </a:p>
        </p:txBody>
      </p:sp>
      <p:sp>
        <p:nvSpPr>
          <p:cNvPr id="11" name="Text 9"/>
          <p:cNvSpPr txBox="1"/>
          <p:nvPr/>
        </p:nvSpPr>
        <p:spPr>
          <a:xfrm>
            <a:off x="1264920" y="2148840"/>
            <a:ext cx="4480560" cy="3291840"/>
          </a:xfrm>
          <a:prstGeom prst="rect">
            <a:avLst/>
          </a:prstGeom>
          <a:noFill/>
          <a:ln/>
        </p:spPr>
        <p:txBody>
          <a:bodyPr wrap="square" rtlCol="0" anchor="ctr"/>
          <a:lstStyle/>
          <a:p>
            <a:pPr marL="342900" indent="-342900" rtl="1" algn="r">
              <a:lnSpc>
                <a:spcPct val="140000"/>
              </a:lnSpc>
              <a:spcAft>
                <a:spcPts val="1000"/>
              </a:spcAft>
              <a:buSzPct val="100000"/>
              <a:buChar char="•"/>
            </a:pPr>
            <a:r>
              <a:rPr lang="en-US" sz="1400" dirty="0">
                <a:solidFill>
                  <a:srgbClr val="2E2D29"/>
                </a:solidFill>
                <a:latin typeface="Calibri" pitchFamily="34" charset="0"/>
                <a:ea typeface="Calibri" pitchFamily="34" charset="-122"/>
                <a:cs typeface="B Nazanin" pitchFamily="34" charset="-120"/>
              </a:rPr>
              <a:t>خطای متوسط: ۳٫۸۵ میلی‌متر</a:t>
            </a:r>
            <a:endParaRPr lang="en-US" sz="1400" dirty="0"/>
          </a:p>
          <a:p>
            <a:pPr marL="342900" indent="-342900" rtl="1" algn="r">
              <a:lnSpc>
                <a:spcPct val="140000"/>
              </a:lnSpc>
              <a:spcAft>
                <a:spcPts val="1000"/>
              </a:spcAft>
              <a:buSzPct val="100000"/>
              <a:buChar char="•"/>
            </a:pPr>
            <a:r>
              <a:rPr lang="en-US" sz="1400" dirty="0">
                <a:solidFill>
                  <a:srgbClr val="2E2D29"/>
                </a:solidFill>
                <a:latin typeface="Calibri" pitchFamily="34" charset="0"/>
                <a:ea typeface="Calibri" pitchFamily="34" charset="-122"/>
                <a:cs typeface="B Nazanin" pitchFamily="34" charset="-120"/>
              </a:rPr>
              <a:t>توافق دسته‌ای: ۸۳٫۲٪</a:t>
            </a:r>
            <a:endParaRPr lang="en-US" sz="1400" dirty="0"/>
          </a:p>
          <a:p>
            <a:pPr marL="342900" indent="-342900" rtl="1" algn="r">
              <a:lnSpc>
                <a:spcPct val="140000"/>
              </a:lnSpc>
              <a:spcAft>
                <a:spcPts val="1000"/>
              </a:spcAft>
              <a:buSzPct val="100000"/>
              <a:buChar char="•"/>
            </a:pPr>
            <a:r>
              <a:rPr lang="en-US" sz="1400" dirty="0">
                <a:solidFill>
                  <a:srgbClr val="2E2D29"/>
                </a:solidFill>
                <a:latin typeface="Calibri" pitchFamily="34" charset="0"/>
                <a:ea typeface="Calibri" pitchFamily="34" charset="-122"/>
                <a:cs typeface="B Nazanin" pitchFamily="34" charset="-120"/>
              </a:rPr>
              <a:t>خطای بسیار عمده: ۶٫۱۹٪</a:t>
            </a:r>
            <a:endParaRPr lang="en-US" sz="1400" dirty="0"/>
          </a:p>
          <a:p>
            <a:pPr marL="342900" indent="-342900" rtl="1" algn="r">
              <a:lnSpc>
                <a:spcPct val="140000"/>
              </a:lnSpc>
              <a:spcAft>
                <a:spcPts val="1000"/>
              </a:spcAft>
              <a:buSzPct val="100000"/>
              <a:buChar char="•"/>
            </a:pPr>
            <a:r>
              <a:rPr lang="en-US" sz="1400" dirty="0">
                <a:solidFill>
                  <a:srgbClr val="2E2D29"/>
                </a:solidFill>
                <a:latin typeface="Calibri" pitchFamily="34" charset="0"/>
                <a:ea typeface="Calibri" pitchFamily="34" charset="-122"/>
                <a:cs typeface="B Nazanin" pitchFamily="34" charset="-120"/>
              </a:rPr>
              <a:t>سقف قابل دستیابی در برابر این مرجع حدود ۹۲ تا ۹۶ درصد، و فاصله سامانه تا آن حدود ده واحد درصد است.</a:t>
            </a:r>
            <a:endParaRPr lang="en-US" sz="1400" dirty="0"/>
          </a:p>
        </p:txBody>
      </p:sp>
      <p:sp>
        <p:nvSpPr>
          <p:cNvPr id="12" name="Text 10"/>
          <p:cNvSpPr txBox="1"/>
          <p:nvPr/>
        </p:nvSpPr>
        <p:spPr>
          <a:xfrm>
            <a:off x="4328160" y="6473952"/>
            <a:ext cx="7315200" cy="274320"/>
          </a:xfrm>
          <a:prstGeom prst="rect">
            <a:avLst/>
          </a:prstGeom>
          <a:noFill/>
          <a:ln/>
        </p:spPr>
        <p:txBody>
          <a:bodyPr wrap="square" rtlCol="0" anchor="ctr"/>
          <a:lstStyle/>
          <a:p>
            <a:pPr indent="0" marL="0" rtl="1" algn="r">
              <a:buNone/>
            </a:pPr>
            <a:r>
              <a:rPr lang="en-US" sz="900" spc="200" kern="0" dirty="0">
                <a:solidFill>
                  <a:srgbClr val="716E69"/>
                </a:solidFill>
                <a:latin typeface="Calibri" pitchFamily="34" charset="0"/>
                <a:ea typeface="Calibri" pitchFamily="34" charset="-122"/>
                <a:cs typeface="B Nazanin" pitchFamily="34" charset="-120"/>
              </a:rPr>
              <a:t>تفسیر بالینی</a:t>
            </a:r>
            <a:endParaRPr lang="en-US" sz="900" dirty="0"/>
          </a:p>
        </p:txBody>
      </p:sp>
      <p:sp>
        <p:nvSpPr>
          <p:cNvPr id="13" name="Text 11"/>
          <p:cNvSpPr txBox="1"/>
          <p:nvPr/>
        </p:nvSpPr>
        <p:spPr>
          <a:xfrm>
            <a:off x="185928" y="6473952"/>
            <a:ext cx="457200" cy="274320"/>
          </a:xfrm>
          <a:prstGeom prst="rect">
            <a:avLst/>
          </a:prstGeom>
          <a:noFill/>
          <a:ln/>
        </p:spPr>
        <p:txBody>
          <a:bodyPr wrap="square" rtlCol="0" anchor="ctr"/>
          <a:lstStyle/>
          <a:p>
            <a:pPr algn="r" indent="0" marL="0" rtl="1">
              <a:buNone/>
            </a:pPr>
            <a:r>
              <a:rPr lang="en-US" sz="900" dirty="0">
                <a:solidFill>
                  <a:srgbClr val="716E69"/>
                </a:solidFill>
                <a:latin typeface="Calibri" pitchFamily="34" charset="0"/>
                <a:ea typeface="Calibri" pitchFamily="34" charset="-122"/>
                <a:cs typeface="B Nazanin" pitchFamily="34" charset="-120"/>
              </a:rPr>
              <a:t>۱۶ / ۲۴</a:t>
            </a:r>
            <a:endParaRPr lang="en-US" sz="900" dirty="0"/>
          </a:p>
        </p:txBody>
      </p:sp>
      <p:sp>
        <p:nvSpPr>
          <p:cNvPr id="9001" name="progress track"/>
          <p:cNvSpPr/>
          <p:nvPr/>
        </p:nvSpPr>
        <p:spPr>
          <a:xfrm>
            <a:off x="0" y="6803000"/>
            <a:ext cx="12192000" cy="55000"/>
          </a:xfrm>
          <a:prstGeom prst="rect">
            <a:avLst/>
          </a:prstGeom>
          <a:solidFill>
            <a:srgbClr val="EDE9E5"/>
          </a:solidFill>
          <a:ln>
            <a:noFill/>
          </a:ln>
        </p:spPr>
        <p:txBody>
          <a:bodyPr/>
          <a:lstStyle/>
          <a:p/>
        </p:txBody>
      </p:sp>
      <p:sp>
        <p:nvSpPr>
          <p:cNvPr id="9002" name="progress fill"/>
          <p:cNvSpPr/>
          <p:nvPr/>
        </p:nvSpPr>
        <p:spPr>
          <a:xfrm>
            <a:off x="4064000" y="6803000"/>
            <a:ext cx="8128000" cy="55000"/>
          </a:xfrm>
          <a:prstGeom prst="rect">
            <a:avLst/>
          </a:prstGeom>
          <a:solidFill>
            <a:srgbClr val="8C1515"/>
          </a:solidFill>
          <a:ln>
            <a:noFill/>
          </a:ln>
        </p:spPr>
        <p:txBody>
          <a:bodyPr/>
          <a:lstStyle/>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11442192" y="475488"/>
            <a:ext cx="201168" cy="201168"/>
          </a:xfrm>
          <a:prstGeom prst="ellipse">
            <a:avLst/>
          </a:prstGeom>
          <a:solidFill>
            <a:srgbClr val="E98300"/>
          </a:solidFill>
          <a:ln/>
        </p:spPr>
      </p:sp>
      <p:sp>
        <p:nvSpPr>
          <p:cNvPr id="3" name="Text 1"/>
          <p:cNvSpPr txBox="1"/>
          <p:nvPr/>
        </p:nvSpPr>
        <p:spPr>
          <a:xfrm>
            <a:off x="1694688" y="347472"/>
            <a:ext cx="9601200" cy="502920"/>
          </a:xfrm>
          <a:prstGeom prst="rect">
            <a:avLst/>
          </a:prstGeom>
          <a:noFill/>
          <a:ln/>
        </p:spPr>
        <p:txBody>
          <a:bodyPr wrap="square" rtlCol="0" anchor="ctr"/>
          <a:lstStyle/>
          <a:p>
            <a:pPr indent="0" marL="0" rtl="1" algn="r">
              <a:buNone/>
            </a:pPr>
            <a:r>
              <a:rPr lang="en-US" sz="3000" b="1" dirty="0">
                <a:solidFill>
                  <a:srgbClr val="8C1515"/>
                </a:solidFill>
                <a:latin typeface="Cambria" pitchFamily="34" charset="0"/>
                <a:ea typeface="Cambria" pitchFamily="34" charset="-122"/>
                <a:cs typeface="B Titr" pitchFamily="34" charset="-120"/>
              </a:rPr>
              <a:t>مرحله سوم: سه روش موازی برای مرز هاله</a:t>
            </a:r>
            <a:endParaRPr lang="en-US" sz="3000" dirty="0"/>
          </a:p>
        </p:txBody>
      </p:sp>
      <p:sp>
        <p:nvSpPr>
          <p:cNvPr id="4" name="Shape 2"/>
          <p:cNvSpPr/>
          <p:nvPr/>
        </p:nvSpPr>
        <p:spPr>
          <a:xfrm>
            <a:off x="8122920" y="1371600"/>
            <a:ext cx="3520440" cy="4206240"/>
          </a:xfrm>
          <a:prstGeom prst="roundRect">
            <a:avLst>
              <a:gd name="adj" fmla="val 2078"/>
            </a:avLst>
          </a:prstGeom>
          <a:solidFill>
            <a:srgbClr val="F7F5F1"/>
          </a:solidFill>
          <a:ln/>
        </p:spPr>
      </p:sp>
      <p:sp>
        <p:nvSpPr>
          <p:cNvPr id="5" name="Shape 3"/>
          <p:cNvSpPr/>
          <p:nvPr/>
        </p:nvSpPr>
        <p:spPr>
          <a:xfrm>
            <a:off x="10911840" y="1645920"/>
            <a:ext cx="457200" cy="457200"/>
          </a:xfrm>
          <a:prstGeom prst="ellipse">
            <a:avLst/>
          </a:prstGeom>
          <a:solidFill>
            <a:srgbClr val="E98300"/>
          </a:solidFill>
          <a:ln/>
        </p:spPr>
      </p:sp>
      <p:sp>
        <p:nvSpPr>
          <p:cNvPr id="6" name="Text 4"/>
          <p:cNvSpPr txBox="1"/>
          <p:nvPr/>
        </p:nvSpPr>
        <p:spPr>
          <a:xfrm>
            <a:off x="8397240" y="2286000"/>
            <a:ext cx="2971800" cy="365760"/>
          </a:xfrm>
          <a:prstGeom prst="rect">
            <a:avLst/>
          </a:prstGeom>
          <a:noFill/>
          <a:ln/>
        </p:spPr>
        <p:txBody>
          <a:bodyPr wrap="square" rtlCol="0" anchor="ctr"/>
          <a:lstStyle/>
          <a:p>
            <a:pPr indent="0" marL="0" rtl="1" algn="r">
              <a:buNone/>
            </a:pPr>
            <a:r>
              <a:rPr lang="en-US" sz="1700" b="1" dirty="0">
                <a:solidFill>
                  <a:srgbClr val="E98300"/>
                </a:solidFill>
                <a:latin typeface="Cambria" pitchFamily="34" charset="0"/>
                <a:ea typeface="Cambria" pitchFamily="34" charset="-122"/>
                <a:cs typeface="B Titr" pitchFamily="34" charset="-120"/>
              </a:rPr>
              <a:t>پروفایل شعاعی</a:t>
            </a:r>
            <a:endParaRPr lang="en-US" sz="1700" dirty="0"/>
          </a:p>
        </p:txBody>
      </p:sp>
      <p:sp>
        <p:nvSpPr>
          <p:cNvPr id="7" name="Text 5"/>
          <p:cNvSpPr txBox="1"/>
          <p:nvPr/>
        </p:nvSpPr>
        <p:spPr>
          <a:xfrm>
            <a:off x="8397240" y="2743200"/>
            <a:ext cx="2971800" cy="2651760"/>
          </a:xfrm>
          <a:prstGeom prst="rect">
            <a:avLst/>
          </a:prstGeom>
          <a:noFill/>
          <a:ln/>
        </p:spPr>
        <p:txBody>
          <a:bodyPr wrap="square" rtlCol="0" anchor="ctr"/>
          <a:lstStyle/>
          <a:p>
            <a:pPr indent="0" marL="0" rtl="1" algn="r">
              <a:lnSpc>
                <a:spcPct val="135000"/>
              </a:lnSpc>
              <a:buNone/>
            </a:pPr>
            <a:r>
              <a:rPr lang="en-US" sz="1350" dirty="0">
                <a:solidFill>
                  <a:srgbClr val="2E2D29"/>
                </a:solidFill>
                <a:latin typeface="Calibri" pitchFamily="34" charset="0"/>
                <a:ea typeface="Calibri" pitchFamily="34" charset="-122"/>
                <a:cs typeface="B Nazanin" pitchFamily="34" charset="-120"/>
              </a:rPr>
              <a:t>پوشش: ۵۷ هاله از ۶۳ — خطای متوسط: ۵٫۴۹ میلی‌متر</a:t>
            </a:r>
            <a:endParaRPr lang="en-US" sz="1350" dirty="0"/>
          </a:p>
        </p:txBody>
      </p:sp>
      <p:sp>
        <p:nvSpPr>
          <p:cNvPr id="8" name="Shape 6"/>
          <p:cNvSpPr/>
          <p:nvPr/>
        </p:nvSpPr>
        <p:spPr>
          <a:xfrm>
            <a:off x="4282440" y="1371600"/>
            <a:ext cx="3520440" cy="4206240"/>
          </a:xfrm>
          <a:prstGeom prst="roundRect">
            <a:avLst>
              <a:gd name="adj" fmla="val 2078"/>
            </a:avLst>
          </a:prstGeom>
          <a:solidFill>
            <a:srgbClr val="F7F5F1"/>
          </a:solidFill>
          <a:ln/>
        </p:spPr>
      </p:sp>
      <p:sp>
        <p:nvSpPr>
          <p:cNvPr id="9" name="Shape 7"/>
          <p:cNvSpPr/>
          <p:nvPr/>
        </p:nvSpPr>
        <p:spPr>
          <a:xfrm>
            <a:off x="7071360" y="1645920"/>
            <a:ext cx="457200" cy="457200"/>
          </a:xfrm>
          <a:prstGeom prst="ellipse">
            <a:avLst/>
          </a:prstGeom>
          <a:solidFill>
            <a:srgbClr val="007C92"/>
          </a:solidFill>
          <a:ln/>
        </p:spPr>
      </p:sp>
      <p:sp>
        <p:nvSpPr>
          <p:cNvPr id="10" name="Text 8"/>
          <p:cNvSpPr txBox="1"/>
          <p:nvPr/>
        </p:nvSpPr>
        <p:spPr>
          <a:xfrm>
            <a:off x="4556760" y="2286000"/>
            <a:ext cx="2971800" cy="365760"/>
          </a:xfrm>
          <a:prstGeom prst="rect">
            <a:avLst/>
          </a:prstGeom>
          <a:noFill/>
          <a:ln/>
        </p:spPr>
        <p:txBody>
          <a:bodyPr wrap="square" rtlCol="0" anchor="ctr"/>
          <a:lstStyle/>
          <a:p>
            <a:pPr indent="0" marL="0" rtl="1" algn="r">
              <a:buNone/>
            </a:pPr>
            <a:r>
              <a:rPr lang="en-US" sz="1700" b="1" dirty="0">
                <a:solidFill>
                  <a:srgbClr val="007C92"/>
                </a:solidFill>
                <a:latin typeface="Cambria" pitchFamily="34" charset="0"/>
                <a:ea typeface="Cambria" pitchFamily="34" charset="-122"/>
                <a:cs typeface="B Titr" pitchFamily="34" charset="-120"/>
              </a:rPr>
              <a:t>آستانه‌گذاری ناحیه‌ای</a:t>
            </a:r>
            <a:endParaRPr lang="en-US" sz="1700" dirty="0"/>
          </a:p>
        </p:txBody>
      </p:sp>
      <p:sp>
        <p:nvSpPr>
          <p:cNvPr id="11" name="Text 9"/>
          <p:cNvSpPr txBox="1"/>
          <p:nvPr/>
        </p:nvSpPr>
        <p:spPr>
          <a:xfrm>
            <a:off x="4556760" y="2743200"/>
            <a:ext cx="2971800" cy="2651760"/>
          </a:xfrm>
          <a:prstGeom prst="rect">
            <a:avLst/>
          </a:prstGeom>
          <a:noFill/>
          <a:ln/>
        </p:spPr>
        <p:txBody>
          <a:bodyPr wrap="square" rtlCol="0" anchor="ctr"/>
          <a:lstStyle/>
          <a:p>
            <a:pPr indent="0" marL="0" rtl="1" algn="r">
              <a:lnSpc>
                <a:spcPct val="135000"/>
              </a:lnSpc>
              <a:buNone/>
            </a:pPr>
            <a:r>
              <a:rPr lang="en-US" sz="1350" dirty="0">
                <a:solidFill>
                  <a:srgbClr val="2E2D29"/>
                </a:solidFill>
                <a:latin typeface="Calibri" pitchFamily="34" charset="0"/>
                <a:ea typeface="Calibri" pitchFamily="34" charset="-122"/>
                <a:cs typeface="B Nazanin" pitchFamily="34" charset="-120"/>
              </a:rPr>
              <a:t>پوشش: ۲۶ دیسک — خطای متوسط: ۳٫۶۶ میلی‌متر</a:t>
            </a:r>
            <a:endParaRPr lang="en-US" sz="1350" dirty="0"/>
          </a:p>
        </p:txBody>
      </p:sp>
      <p:sp>
        <p:nvSpPr>
          <p:cNvPr id="12" name="Shape 10"/>
          <p:cNvSpPr/>
          <p:nvPr/>
        </p:nvSpPr>
        <p:spPr>
          <a:xfrm>
            <a:off x="441960" y="1371600"/>
            <a:ext cx="3520440" cy="4206240"/>
          </a:xfrm>
          <a:prstGeom prst="roundRect">
            <a:avLst>
              <a:gd name="adj" fmla="val 2078"/>
            </a:avLst>
          </a:prstGeom>
          <a:solidFill>
            <a:srgbClr val="F7F5F1"/>
          </a:solidFill>
          <a:ln/>
        </p:spPr>
      </p:sp>
      <p:sp>
        <p:nvSpPr>
          <p:cNvPr id="13" name="Shape 11"/>
          <p:cNvSpPr/>
          <p:nvPr/>
        </p:nvSpPr>
        <p:spPr>
          <a:xfrm>
            <a:off x="3230880" y="1645920"/>
            <a:ext cx="457200" cy="457200"/>
          </a:xfrm>
          <a:prstGeom prst="ellipse">
            <a:avLst/>
          </a:prstGeom>
          <a:solidFill>
            <a:srgbClr val="620059"/>
          </a:solidFill>
          <a:ln/>
        </p:spPr>
      </p:sp>
      <p:sp>
        <p:nvSpPr>
          <p:cNvPr id="14" name="Text 12"/>
          <p:cNvSpPr txBox="1"/>
          <p:nvPr/>
        </p:nvSpPr>
        <p:spPr>
          <a:xfrm>
            <a:off x="716280" y="2286000"/>
            <a:ext cx="2971800" cy="365760"/>
          </a:xfrm>
          <a:prstGeom prst="rect">
            <a:avLst/>
          </a:prstGeom>
          <a:noFill/>
          <a:ln/>
        </p:spPr>
        <p:txBody>
          <a:bodyPr wrap="square" rtlCol="0" anchor="ctr"/>
          <a:lstStyle/>
          <a:p>
            <a:pPr indent="0" marL="0" rtl="1" algn="r">
              <a:buNone/>
            </a:pPr>
            <a:r>
              <a:rPr lang="en-US" sz="1700" b="1" dirty="0">
                <a:solidFill>
                  <a:srgbClr val="620059"/>
                </a:solidFill>
                <a:latin typeface="Cambria" pitchFamily="34" charset="0"/>
                <a:ea typeface="Cambria" pitchFamily="34" charset="-122"/>
                <a:cs typeface="B Titr" pitchFamily="34" charset="-120"/>
              </a:rPr>
              <a:t>رشد کنترل‌شده</a:t>
            </a:r>
            <a:endParaRPr lang="en-US" sz="1700" dirty="0"/>
          </a:p>
        </p:txBody>
      </p:sp>
      <p:sp>
        <p:nvSpPr>
          <p:cNvPr id="15" name="Text 13"/>
          <p:cNvSpPr txBox="1"/>
          <p:nvPr/>
        </p:nvSpPr>
        <p:spPr>
          <a:xfrm>
            <a:off x="716280" y="2743200"/>
            <a:ext cx="2971800" cy="2651760"/>
          </a:xfrm>
          <a:prstGeom prst="rect">
            <a:avLst/>
          </a:prstGeom>
          <a:noFill/>
          <a:ln/>
        </p:spPr>
        <p:txBody>
          <a:bodyPr wrap="square" rtlCol="0" anchor="ctr"/>
          <a:lstStyle/>
          <a:p>
            <a:pPr indent="0" marL="0" rtl="1" algn="r">
              <a:lnSpc>
                <a:spcPct val="135000"/>
              </a:lnSpc>
              <a:buNone/>
            </a:pPr>
            <a:r>
              <a:rPr lang="en-US" sz="1350" dirty="0">
                <a:solidFill>
                  <a:srgbClr val="2E2D29"/>
                </a:solidFill>
                <a:latin typeface="Calibri" pitchFamily="34" charset="0"/>
                <a:ea typeface="Calibri" pitchFamily="34" charset="-122"/>
                <a:cs typeface="B Nazanin" pitchFamily="34" charset="-120"/>
              </a:rPr>
              <a:t>پوشش: ۱۱ دیسک — خطای متوسط: ۱٫۰۸ میلی‌متر</a:t>
            </a:r>
            <a:endParaRPr lang="en-US" sz="1350" dirty="0"/>
          </a:p>
        </p:txBody>
      </p:sp>
      <p:sp>
        <p:nvSpPr>
          <p:cNvPr id="16" name="Text 14"/>
          <p:cNvSpPr txBox="1"/>
          <p:nvPr/>
        </p:nvSpPr>
        <p:spPr>
          <a:xfrm>
            <a:off x="4328160" y="6473952"/>
            <a:ext cx="7315200" cy="274320"/>
          </a:xfrm>
          <a:prstGeom prst="rect">
            <a:avLst/>
          </a:prstGeom>
          <a:noFill/>
          <a:ln/>
        </p:spPr>
        <p:txBody>
          <a:bodyPr wrap="square" rtlCol="0" anchor="ctr"/>
          <a:lstStyle/>
          <a:p>
            <a:pPr indent="0" marL="0" rtl="1" algn="r">
              <a:buNone/>
            </a:pPr>
            <a:r>
              <a:rPr lang="en-US" sz="900" spc="200" kern="0" dirty="0">
                <a:solidFill>
                  <a:srgbClr val="716E69"/>
                </a:solidFill>
                <a:latin typeface="Calibri" pitchFamily="34" charset="0"/>
                <a:ea typeface="Calibri" pitchFamily="34" charset="-122"/>
                <a:cs typeface="B Nazanin" pitchFamily="34" charset="-120"/>
              </a:rPr>
              <a:t>روش پیشنهادی</a:t>
            </a:r>
            <a:endParaRPr lang="en-US" sz="900" dirty="0"/>
          </a:p>
        </p:txBody>
      </p:sp>
      <p:sp>
        <p:nvSpPr>
          <p:cNvPr id="17" name="Text 15"/>
          <p:cNvSpPr txBox="1"/>
          <p:nvPr/>
        </p:nvSpPr>
        <p:spPr>
          <a:xfrm>
            <a:off x="185928" y="6473952"/>
            <a:ext cx="457200" cy="274320"/>
          </a:xfrm>
          <a:prstGeom prst="rect">
            <a:avLst/>
          </a:prstGeom>
          <a:noFill/>
          <a:ln/>
        </p:spPr>
        <p:txBody>
          <a:bodyPr wrap="square" rtlCol="0" anchor="ctr"/>
          <a:lstStyle/>
          <a:p>
            <a:pPr algn="r" indent="0" marL="0" rtl="1">
              <a:buNone/>
            </a:pPr>
            <a:r>
              <a:rPr lang="en-US" sz="900" dirty="0">
                <a:solidFill>
                  <a:srgbClr val="716E69"/>
                </a:solidFill>
                <a:latin typeface="Calibri" pitchFamily="34" charset="0"/>
                <a:ea typeface="Calibri" pitchFamily="34" charset="-122"/>
                <a:cs typeface="B Nazanin" pitchFamily="34" charset="-120"/>
              </a:rPr>
              <a:t>۱۰ / ۲۴</a:t>
            </a:r>
            <a:endParaRPr lang="en-US" sz="900" dirty="0"/>
          </a:p>
        </p:txBody>
      </p:sp>
      <p:sp>
        <p:nvSpPr>
          <p:cNvPr id="9001" name="progress track"/>
          <p:cNvSpPr/>
          <p:nvPr/>
        </p:nvSpPr>
        <p:spPr>
          <a:xfrm>
            <a:off x="0" y="6803000"/>
            <a:ext cx="12192000" cy="55000"/>
          </a:xfrm>
          <a:prstGeom prst="rect">
            <a:avLst/>
          </a:prstGeom>
          <a:solidFill>
            <a:srgbClr val="EDE9E5"/>
          </a:solidFill>
          <a:ln>
            <a:noFill/>
          </a:ln>
        </p:spPr>
        <p:txBody>
          <a:bodyPr/>
          <a:lstStyle/>
          <a:p/>
        </p:txBody>
      </p:sp>
      <p:sp>
        <p:nvSpPr>
          <p:cNvPr id="9002" name="progress fill"/>
          <p:cNvSpPr/>
          <p:nvPr/>
        </p:nvSpPr>
        <p:spPr>
          <a:xfrm>
            <a:off x="7112000" y="6803000"/>
            <a:ext cx="5080000" cy="55000"/>
          </a:xfrm>
          <a:prstGeom prst="rect">
            <a:avLst/>
          </a:prstGeom>
          <a:solidFill>
            <a:srgbClr val="8C1515"/>
          </a:solidFill>
          <a:ln>
            <a:noFill/>
          </a:ln>
        </p:spPr>
        <p:txBody>
          <a:bodyPr/>
          <a:lstStyle/>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11442192" y="475488"/>
            <a:ext cx="201168" cy="201168"/>
          </a:xfrm>
          <a:prstGeom prst="ellipse">
            <a:avLst/>
          </a:prstGeom>
          <a:solidFill>
            <a:srgbClr val="E98300"/>
          </a:solidFill>
          <a:ln/>
        </p:spPr>
      </p:sp>
      <p:sp>
        <p:nvSpPr>
          <p:cNvPr id="3" name="Text 1"/>
          <p:cNvSpPr txBox="1"/>
          <p:nvPr/>
        </p:nvSpPr>
        <p:spPr>
          <a:xfrm>
            <a:off x="1694688" y="347472"/>
            <a:ext cx="9601200" cy="502920"/>
          </a:xfrm>
          <a:prstGeom prst="rect">
            <a:avLst/>
          </a:prstGeom>
          <a:noFill/>
          <a:ln/>
        </p:spPr>
        <p:txBody>
          <a:bodyPr wrap="square" rtlCol="0" anchor="ctr"/>
          <a:lstStyle/>
          <a:p>
            <a:pPr indent="0" marL="0" rtl="1" algn="r">
              <a:buNone/>
            </a:pPr>
            <a:r>
              <a:rPr lang="en-US" sz="3000" b="1" dirty="0">
                <a:solidFill>
                  <a:srgbClr val="8C1515"/>
                </a:solidFill>
                <a:latin typeface="Cambria" pitchFamily="34" charset="0"/>
                <a:ea typeface="Cambria" pitchFamily="34" charset="-122"/>
                <a:cs typeface="B Titr" pitchFamily="34" charset="-120"/>
              </a:rPr>
              <a:t>بخش ۱ از ۷ — حدود ۱۹ دقیقه تا پایان</a:t>
            </a:r>
            <a:endParaRPr lang="en-US" sz="3000" dirty="0"/>
          </a:p>
        </p:txBody>
      </p:sp>
      <p:sp>
        <p:nvSpPr>
          <p:cNvPr id="4" name="Shape 2"/>
          <p:cNvSpPr/>
          <p:nvPr/>
        </p:nvSpPr>
        <p:spPr>
          <a:xfrm>
            <a:off x="11140440" y="1234440"/>
            <a:ext cx="502920" cy="502920"/>
          </a:xfrm>
          <a:prstGeom prst="ellipse">
            <a:avLst/>
          </a:prstGeom>
          <a:solidFill>
            <a:srgbClr val="8C1515"/>
          </a:solidFill>
          <a:ln/>
        </p:spPr>
      </p:sp>
      <p:sp>
        <p:nvSpPr>
          <p:cNvPr id="5" name="Text 3"/>
          <p:cNvSpPr txBox="1"/>
          <p:nvPr/>
        </p:nvSpPr>
        <p:spPr>
          <a:xfrm>
            <a:off x="11140440" y="1234440"/>
            <a:ext cx="502920" cy="50292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۱</a:t>
            </a:r>
            <a:endParaRPr lang="en-US" sz="2000" dirty="0"/>
          </a:p>
        </p:txBody>
      </p:sp>
      <p:sp>
        <p:nvSpPr>
          <p:cNvPr id="6" name="Text 4"/>
          <p:cNvSpPr txBox="1"/>
          <p:nvPr/>
        </p:nvSpPr>
        <p:spPr>
          <a:xfrm>
            <a:off x="6568440" y="1188720"/>
            <a:ext cx="4389120" cy="365760"/>
          </a:xfrm>
          <a:prstGeom prst="rect">
            <a:avLst/>
          </a:prstGeom>
          <a:noFill/>
          <a:ln/>
        </p:spPr>
        <p:txBody>
          <a:bodyPr wrap="square" rtlCol="0" anchor="ctr"/>
          <a:lstStyle/>
          <a:p>
            <a:pPr indent="0" marL="0" rtl="1" algn="r">
              <a:buNone/>
            </a:pPr>
            <a:r>
              <a:rPr lang="en-US" sz="1600" b="1" dirty="0">
                <a:solidFill>
                  <a:srgbClr val="2E2D29"/>
                </a:solidFill>
                <a:latin typeface="Cambria" pitchFamily="34" charset="0"/>
                <a:ea typeface="Cambria" pitchFamily="34" charset="-122"/>
                <a:cs typeface="B Titr" pitchFamily="34" charset="-120"/>
              </a:rPr>
              <a:t>مسئله و انگیزه</a:t>
            </a:r>
            <a:endParaRPr lang="en-US" sz="1600" dirty="0"/>
          </a:p>
        </p:txBody>
      </p:sp>
      <p:sp>
        <p:nvSpPr>
          <p:cNvPr id="7" name="Text 5"/>
          <p:cNvSpPr txBox="1"/>
          <p:nvPr/>
        </p:nvSpPr>
        <p:spPr>
          <a:xfrm>
            <a:off x="6568440" y="1527048"/>
            <a:ext cx="4389120" cy="457200"/>
          </a:xfrm>
          <a:prstGeom prst="rect">
            <a:avLst/>
          </a:prstGeom>
          <a:noFill/>
          <a:ln/>
        </p:spPr>
        <p:txBody>
          <a:bodyPr wrap="square" rtlCol="0" anchor="ctr"/>
          <a:lstStyle/>
          <a:p>
            <a:pPr indent="0" marL="0" rtl="1" algn="r">
              <a:buNone/>
            </a:pPr>
            <a:r>
              <a:rPr lang="en-US" sz="1200" dirty="0">
                <a:solidFill>
                  <a:srgbClr val="716E69"/>
                </a:solidFill>
                <a:latin typeface="Calibri" pitchFamily="34" charset="0"/>
                <a:ea typeface="Calibri" pitchFamily="34" charset="-122"/>
                <a:cs typeface="B Nazanin" pitchFamily="34" charset="-120"/>
              </a:rPr>
              <a:t>ضرورت خودکارسازی این اندازه‌گیری</a:t>
            </a:r>
            <a:endParaRPr lang="en-US" sz="1200" dirty="0"/>
          </a:p>
        </p:txBody>
      </p:sp>
      <p:sp>
        <p:nvSpPr>
          <p:cNvPr id="8" name="Shape 6"/>
          <p:cNvSpPr/>
          <p:nvPr/>
        </p:nvSpPr>
        <p:spPr>
          <a:xfrm>
            <a:off x="11140440" y="2404872"/>
            <a:ext cx="502920" cy="502920"/>
          </a:xfrm>
          <a:prstGeom prst="ellipse">
            <a:avLst/>
          </a:prstGeom>
          <a:solidFill>
            <a:srgbClr val="DCD8D4"/>
          </a:solidFill>
          <a:ln/>
        </p:spPr>
      </p:sp>
      <p:sp>
        <p:nvSpPr>
          <p:cNvPr id="9" name="Text 7"/>
          <p:cNvSpPr txBox="1"/>
          <p:nvPr/>
        </p:nvSpPr>
        <p:spPr>
          <a:xfrm>
            <a:off x="11140440" y="2404872"/>
            <a:ext cx="502920" cy="50292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۲</a:t>
            </a:r>
            <a:endParaRPr lang="en-US" sz="2000" dirty="0"/>
          </a:p>
        </p:txBody>
      </p:sp>
      <p:sp>
        <p:nvSpPr>
          <p:cNvPr id="10" name="Text 8"/>
          <p:cNvSpPr txBox="1"/>
          <p:nvPr/>
        </p:nvSpPr>
        <p:spPr>
          <a:xfrm>
            <a:off x="6568440" y="2359152"/>
            <a:ext cx="4389120" cy="365760"/>
          </a:xfrm>
          <a:prstGeom prst="rect">
            <a:avLst/>
          </a:prstGeom>
          <a:noFill/>
          <a:ln/>
        </p:spPr>
        <p:txBody>
          <a:bodyPr wrap="square" rtlCol="0" anchor="ctr"/>
          <a:lstStyle/>
          <a:p>
            <a:pPr indent="0" marL="0" rtl="1" algn="r">
              <a:buNone/>
            </a:pPr>
            <a:r>
              <a:rPr lang="en-US" sz="1600" b="1" dirty="0">
                <a:solidFill>
                  <a:srgbClr val="C3C0BC"/>
                </a:solidFill>
                <a:latin typeface="Cambria" pitchFamily="34" charset="0"/>
                <a:ea typeface="Cambria" pitchFamily="34" charset="-122"/>
                <a:cs typeface="B Titr" pitchFamily="34" charset="-120"/>
              </a:rPr>
              <a:t>هدف و کارهای پیشین</a:t>
            </a:r>
            <a:endParaRPr lang="en-US" sz="1600" dirty="0"/>
          </a:p>
        </p:txBody>
      </p:sp>
      <p:sp>
        <p:nvSpPr>
          <p:cNvPr id="11" name="Text 9"/>
          <p:cNvSpPr txBox="1"/>
          <p:nvPr/>
        </p:nvSpPr>
        <p:spPr>
          <a:xfrm>
            <a:off x="6568440" y="2697480"/>
            <a:ext cx="4389120" cy="457200"/>
          </a:xfrm>
          <a:prstGeom prst="rect">
            <a:avLst/>
          </a:prstGeom>
          <a:noFill/>
          <a:ln/>
        </p:spPr>
        <p:txBody>
          <a:bodyPr wrap="square" rtlCol="0" anchor="ctr"/>
          <a:lstStyle/>
          <a:p>
            <a:pPr indent="0" marL="0" rtl="1" algn="r">
              <a:buNone/>
            </a:pPr>
            <a:r>
              <a:rPr lang="en-US" sz="1200" dirty="0">
                <a:solidFill>
                  <a:srgbClr val="CFCCC8"/>
                </a:solidFill>
                <a:latin typeface="Calibri" pitchFamily="34" charset="0"/>
                <a:ea typeface="Calibri" pitchFamily="34" charset="-122"/>
                <a:cs typeface="B Nazanin" pitchFamily="34" charset="-120"/>
              </a:rPr>
              <a:t>اهداف پژوهش و جایگاه آن در ادبیات</a:t>
            </a:r>
            <a:endParaRPr lang="en-US" sz="1200" dirty="0"/>
          </a:p>
        </p:txBody>
      </p:sp>
      <p:sp>
        <p:nvSpPr>
          <p:cNvPr id="12" name="Shape 10"/>
          <p:cNvSpPr/>
          <p:nvPr/>
        </p:nvSpPr>
        <p:spPr>
          <a:xfrm>
            <a:off x="11140440" y="3575304"/>
            <a:ext cx="502920" cy="502920"/>
          </a:xfrm>
          <a:prstGeom prst="ellipse">
            <a:avLst/>
          </a:prstGeom>
          <a:solidFill>
            <a:srgbClr val="DCD8D4"/>
          </a:solidFill>
          <a:ln/>
        </p:spPr>
      </p:sp>
      <p:sp>
        <p:nvSpPr>
          <p:cNvPr id="13" name="Text 11"/>
          <p:cNvSpPr txBox="1"/>
          <p:nvPr/>
        </p:nvSpPr>
        <p:spPr>
          <a:xfrm>
            <a:off x="11140440" y="3575304"/>
            <a:ext cx="502920" cy="50292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۳</a:t>
            </a:r>
            <a:endParaRPr lang="en-US" sz="2000" dirty="0"/>
          </a:p>
        </p:txBody>
      </p:sp>
      <p:sp>
        <p:nvSpPr>
          <p:cNvPr id="14" name="Text 12"/>
          <p:cNvSpPr txBox="1"/>
          <p:nvPr/>
        </p:nvSpPr>
        <p:spPr>
          <a:xfrm>
            <a:off x="6568440" y="3529584"/>
            <a:ext cx="4389120" cy="365760"/>
          </a:xfrm>
          <a:prstGeom prst="rect">
            <a:avLst/>
          </a:prstGeom>
          <a:noFill/>
          <a:ln/>
        </p:spPr>
        <p:txBody>
          <a:bodyPr wrap="square" rtlCol="0" anchor="ctr"/>
          <a:lstStyle/>
          <a:p>
            <a:pPr indent="0" marL="0" rtl="1" algn="r">
              <a:buNone/>
            </a:pPr>
            <a:r>
              <a:rPr lang="en-US" sz="1600" b="1" dirty="0">
                <a:solidFill>
                  <a:srgbClr val="C3C0BC"/>
                </a:solidFill>
                <a:latin typeface="Cambria" pitchFamily="34" charset="0"/>
                <a:ea typeface="Cambria" pitchFamily="34" charset="-122"/>
                <a:cs typeface="B Titr" pitchFamily="34" charset="-120"/>
              </a:rPr>
              <a:t>روش پیشنهادی</a:t>
            </a:r>
            <a:endParaRPr lang="en-US" sz="1600" dirty="0"/>
          </a:p>
        </p:txBody>
      </p:sp>
      <p:sp>
        <p:nvSpPr>
          <p:cNvPr id="15" name="Text 13"/>
          <p:cNvSpPr txBox="1"/>
          <p:nvPr/>
        </p:nvSpPr>
        <p:spPr>
          <a:xfrm>
            <a:off x="6568440" y="3867912"/>
            <a:ext cx="4389120" cy="457200"/>
          </a:xfrm>
          <a:prstGeom prst="rect">
            <a:avLst/>
          </a:prstGeom>
          <a:noFill/>
          <a:ln/>
        </p:spPr>
        <p:txBody>
          <a:bodyPr wrap="square" rtlCol="0" anchor="ctr"/>
          <a:lstStyle/>
          <a:p>
            <a:pPr indent="0" marL="0" rtl="1" algn="r">
              <a:buNone/>
            </a:pPr>
            <a:r>
              <a:rPr lang="en-US" sz="1200" dirty="0">
                <a:solidFill>
                  <a:srgbClr val="CFCCC8"/>
                </a:solidFill>
                <a:latin typeface="Calibri" pitchFamily="34" charset="0"/>
                <a:ea typeface="Calibri" pitchFamily="34" charset="-122"/>
                <a:cs typeface="B Nazanin" pitchFamily="34" charset="-120"/>
              </a:rPr>
              <a:t>ساختار و مراحل سامانه</a:t>
            </a:r>
            <a:endParaRPr lang="en-US" sz="1200" dirty="0"/>
          </a:p>
        </p:txBody>
      </p:sp>
      <p:sp>
        <p:nvSpPr>
          <p:cNvPr id="16" name="Shape 14"/>
          <p:cNvSpPr/>
          <p:nvPr/>
        </p:nvSpPr>
        <p:spPr>
          <a:xfrm>
            <a:off x="11140440" y="4745736"/>
            <a:ext cx="502920" cy="502920"/>
          </a:xfrm>
          <a:prstGeom prst="ellipse">
            <a:avLst/>
          </a:prstGeom>
          <a:solidFill>
            <a:srgbClr val="DCD8D4"/>
          </a:solidFill>
          <a:ln/>
        </p:spPr>
      </p:sp>
      <p:sp>
        <p:nvSpPr>
          <p:cNvPr id="17" name="Text 15"/>
          <p:cNvSpPr txBox="1"/>
          <p:nvPr/>
        </p:nvSpPr>
        <p:spPr>
          <a:xfrm>
            <a:off x="11140440" y="4745736"/>
            <a:ext cx="502920" cy="50292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۴</a:t>
            </a:r>
            <a:endParaRPr lang="en-US" sz="2000" dirty="0"/>
          </a:p>
        </p:txBody>
      </p:sp>
      <p:sp>
        <p:nvSpPr>
          <p:cNvPr id="18" name="Text 16"/>
          <p:cNvSpPr txBox="1"/>
          <p:nvPr/>
        </p:nvSpPr>
        <p:spPr>
          <a:xfrm>
            <a:off x="6568440" y="4700016"/>
            <a:ext cx="4389120" cy="365760"/>
          </a:xfrm>
          <a:prstGeom prst="rect">
            <a:avLst/>
          </a:prstGeom>
          <a:noFill/>
          <a:ln/>
        </p:spPr>
        <p:txBody>
          <a:bodyPr wrap="square" rtlCol="0" anchor="ctr"/>
          <a:lstStyle/>
          <a:p>
            <a:pPr indent="0" marL="0" rtl="1" algn="r">
              <a:buNone/>
            </a:pPr>
            <a:r>
              <a:rPr lang="en-US" sz="1600" b="1" dirty="0">
                <a:solidFill>
                  <a:srgbClr val="C3C0BC"/>
                </a:solidFill>
                <a:latin typeface="Cambria" pitchFamily="34" charset="0"/>
                <a:ea typeface="Cambria" pitchFamily="34" charset="-122"/>
                <a:cs typeface="B Titr" pitchFamily="34" charset="-120"/>
              </a:rPr>
              <a:t>نتایج</a:t>
            </a:r>
            <a:endParaRPr lang="en-US" sz="1600" dirty="0"/>
          </a:p>
        </p:txBody>
      </p:sp>
      <p:sp>
        <p:nvSpPr>
          <p:cNvPr id="19" name="Text 17"/>
          <p:cNvSpPr txBox="1"/>
          <p:nvPr/>
        </p:nvSpPr>
        <p:spPr>
          <a:xfrm>
            <a:off x="6568440" y="5038344"/>
            <a:ext cx="4389120" cy="457200"/>
          </a:xfrm>
          <a:prstGeom prst="rect">
            <a:avLst/>
          </a:prstGeom>
          <a:noFill/>
          <a:ln/>
        </p:spPr>
        <p:txBody>
          <a:bodyPr wrap="square" rtlCol="0" anchor="ctr"/>
          <a:lstStyle/>
          <a:p>
            <a:pPr indent="0" marL="0" rtl="1" algn="r">
              <a:buNone/>
            </a:pPr>
            <a:r>
              <a:rPr lang="en-US" sz="1200" dirty="0">
                <a:solidFill>
                  <a:srgbClr val="CFCCC8"/>
                </a:solidFill>
                <a:latin typeface="Calibri" pitchFamily="34" charset="0"/>
                <a:ea typeface="Calibri" pitchFamily="34" charset="-122"/>
                <a:cs typeface="B Nazanin" pitchFamily="34" charset="-120"/>
              </a:rPr>
              <a:t>دقت اندازه‌گیری بر روی مجموعه مرجع</a:t>
            </a:r>
            <a:endParaRPr lang="en-US" sz="1200" dirty="0"/>
          </a:p>
        </p:txBody>
      </p:sp>
      <p:sp>
        <p:nvSpPr>
          <p:cNvPr id="20" name="Shape 18"/>
          <p:cNvSpPr/>
          <p:nvPr/>
        </p:nvSpPr>
        <p:spPr>
          <a:xfrm>
            <a:off x="5516880" y="1234440"/>
            <a:ext cx="502920" cy="502920"/>
          </a:xfrm>
          <a:prstGeom prst="ellipse">
            <a:avLst/>
          </a:prstGeom>
          <a:solidFill>
            <a:srgbClr val="DCD8D4"/>
          </a:solidFill>
          <a:ln/>
        </p:spPr>
      </p:sp>
      <p:sp>
        <p:nvSpPr>
          <p:cNvPr id="21" name="Text 19"/>
          <p:cNvSpPr txBox="1"/>
          <p:nvPr/>
        </p:nvSpPr>
        <p:spPr>
          <a:xfrm>
            <a:off x="5516880" y="1234440"/>
            <a:ext cx="502920" cy="50292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۵</a:t>
            </a:r>
            <a:endParaRPr lang="en-US" sz="2000" dirty="0"/>
          </a:p>
        </p:txBody>
      </p:sp>
      <p:sp>
        <p:nvSpPr>
          <p:cNvPr id="22" name="Text 20"/>
          <p:cNvSpPr txBox="1"/>
          <p:nvPr/>
        </p:nvSpPr>
        <p:spPr>
          <a:xfrm>
            <a:off x="944880" y="1188720"/>
            <a:ext cx="4389120" cy="365760"/>
          </a:xfrm>
          <a:prstGeom prst="rect">
            <a:avLst/>
          </a:prstGeom>
          <a:noFill/>
          <a:ln/>
        </p:spPr>
        <p:txBody>
          <a:bodyPr wrap="square" rtlCol="0" anchor="ctr"/>
          <a:lstStyle/>
          <a:p>
            <a:pPr indent="0" marL="0" rtl="1" algn="r">
              <a:buNone/>
            </a:pPr>
            <a:r>
              <a:rPr lang="en-US" sz="1600" b="1" dirty="0">
                <a:solidFill>
                  <a:srgbClr val="C3C0BC"/>
                </a:solidFill>
                <a:latin typeface="Cambria" pitchFamily="34" charset="0"/>
                <a:ea typeface="Cambria" pitchFamily="34" charset="-122"/>
                <a:cs typeface="B Titr" pitchFamily="34" charset="-120"/>
              </a:rPr>
              <a:t>تفسیر بالینی</a:t>
            </a:r>
            <a:endParaRPr lang="en-US" sz="1600" dirty="0"/>
          </a:p>
        </p:txBody>
      </p:sp>
      <p:sp>
        <p:nvSpPr>
          <p:cNvPr id="23" name="Text 21"/>
          <p:cNvSpPr txBox="1"/>
          <p:nvPr/>
        </p:nvSpPr>
        <p:spPr>
          <a:xfrm>
            <a:off x="944880" y="1527048"/>
            <a:ext cx="4389120" cy="457200"/>
          </a:xfrm>
          <a:prstGeom prst="rect">
            <a:avLst/>
          </a:prstGeom>
          <a:noFill/>
          <a:ln/>
        </p:spPr>
        <p:txBody>
          <a:bodyPr wrap="square" rtlCol="0" anchor="ctr"/>
          <a:lstStyle/>
          <a:p>
            <a:pPr indent="0" marL="0" rtl="1" algn="r">
              <a:buNone/>
            </a:pPr>
            <a:r>
              <a:rPr lang="en-US" sz="1200" dirty="0">
                <a:solidFill>
                  <a:srgbClr val="CFCCC8"/>
                </a:solidFill>
                <a:latin typeface="Calibri" pitchFamily="34" charset="0"/>
                <a:ea typeface="Calibri" pitchFamily="34" charset="-122"/>
                <a:cs typeface="B Nazanin" pitchFamily="34" charset="-120"/>
              </a:rPr>
              <a:t>معنای دقت به‌دست‌آمده برای تصمیم درمانی</a:t>
            </a:r>
            <a:endParaRPr lang="en-US" sz="1200" dirty="0"/>
          </a:p>
        </p:txBody>
      </p:sp>
      <p:sp>
        <p:nvSpPr>
          <p:cNvPr id="24" name="Shape 22"/>
          <p:cNvSpPr/>
          <p:nvPr/>
        </p:nvSpPr>
        <p:spPr>
          <a:xfrm>
            <a:off x="5516880" y="2404872"/>
            <a:ext cx="502920" cy="502920"/>
          </a:xfrm>
          <a:prstGeom prst="ellipse">
            <a:avLst/>
          </a:prstGeom>
          <a:solidFill>
            <a:srgbClr val="DCD8D4"/>
          </a:solidFill>
          <a:ln/>
        </p:spPr>
      </p:sp>
      <p:sp>
        <p:nvSpPr>
          <p:cNvPr id="25" name="Text 23"/>
          <p:cNvSpPr txBox="1"/>
          <p:nvPr/>
        </p:nvSpPr>
        <p:spPr>
          <a:xfrm>
            <a:off x="5516880" y="2404872"/>
            <a:ext cx="502920" cy="50292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۶</a:t>
            </a:r>
            <a:endParaRPr lang="en-US" sz="2000" dirty="0"/>
          </a:p>
        </p:txBody>
      </p:sp>
      <p:sp>
        <p:nvSpPr>
          <p:cNvPr id="26" name="Text 24"/>
          <p:cNvSpPr txBox="1"/>
          <p:nvPr/>
        </p:nvSpPr>
        <p:spPr>
          <a:xfrm>
            <a:off x="944880" y="2359152"/>
            <a:ext cx="4389120" cy="365760"/>
          </a:xfrm>
          <a:prstGeom prst="rect">
            <a:avLst/>
          </a:prstGeom>
          <a:noFill/>
          <a:ln/>
        </p:spPr>
        <p:txBody>
          <a:bodyPr wrap="square" rtlCol="0" anchor="ctr"/>
          <a:lstStyle/>
          <a:p>
            <a:pPr indent="0" marL="0" rtl="1" algn="r">
              <a:buNone/>
            </a:pPr>
            <a:r>
              <a:rPr lang="en-US" sz="1600" b="1" dirty="0">
                <a:solidFill>
                  <a:srgbClr val="C3C0BC"/>
                </a:solidFill>
                <a:latin typeface="Cambria" pitchFamily="34" charset="0"/>
                <a:ea typeface="Cambria" pitchFamily="34" charset="-122"/>
                <a:cs typeface="B Titr" pitchFamily="34" charset="-120"/>
              </a:rPr>
              <a:t>یافته اصلی</a:t>
            </a:r>
            <a:endParaRPr lang="en-US" sz="1600" dirty="0"/>
          </a:p>
        </p:txBody>
      </p:sp>
      <p:sp>
        <p:nvSpPr>
          <p:cNvPr id="27" name="Text 25"/>
          <p:cNvSpPr txBox="1"/>
          <p:nvPr/>
        </p:nvSpPr>
        <p:spPr>
          <a:xfrm>
            <a:off x="944880" y="2697480"/>
            <a:ext cx="4389120" cy="457200"/>
          </a:xfrm>
          <a:prstGeom prst="rect">
            <a:avLst/>
          </a:prstGeom>
          <a:noFill/>
          <a:ln/>
        </p:spPr>
        <p:txBody>
          <a:bodyPr wrap="square" rtlCol="0" anchor="ctr"/>
          <a:lstStyle/>
          <a:p>
            <a:pPr indent="0" marL="0" rtl="1" algn="r">
              <a:buNone/>
            </a:pPr>
            <a:r>
              <a:rPr lang="en-US" sz="1200" dirty="0">
                <a:solidFill>
                  <a:srgbClr val="CFCCC8"/>
                </a:solidFill>
                <a:latin typeface="Calibri" pitchFamily="34" charset="0"/>
                <a:ea typeface="Calibri" pitchFamily="34" charset="-122"/>
                <a:cs typeface="B Nazanin" pitchFamily="34" charset="-120"/>
              </a:rPr>
              <a:t>علت خطای باقی‌مانده</a:t>
            </a:r>
            <a:endParaRPr lang="en-US" sz="1200" dirty="0"/>
          </a:p>
        </p:txBody>
      </p:sp>
      <p:sp>
        <p:nvSpPr>
          <p:cNvPr id="28" name="Shape 26"/>
          <p:cNvSpPr/>
          <p:nvPr/>
        </p:nvSpPr>
        <p:spPr>
          <a:xfrm>
            <a:off x="5516880" y="3575304"/>
            <a:ext cx="502920" cy="502920"/>
          </a:xfrm>
          <a:prstGeom prst="ellipse">
            <a:avLst/>
          </a:prstGeom>
          <a:solidFill>
            <a:srgbClr val="DCD8D4"/>
          </a:solidFill>
          <a:ln/>
        </p:spPr>
      </p:sp>
      <p:sp>
        <p:nvSpPr>
          <p:cNvPr id="29" name="Text 27"/>
          <p:cNvSpPr txBox="1"/>
          <p:nvPr/>
        </p:nvSpPr>
        <p:spPr>
          <a:xfrm>
            <a:off x="5516880" y="3575304"/>
            <a:ext cx="502920" cy="50292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۷</a:t>
            </a:r>
            <a:endParaRPr lang="en-US" sz="2000" dirty="0"/>
          </a:p>
        </p:txBody>
      </p:sp>
      <p:sp>
        <p:nvSpPr>
          <p:cNvPr id="30" name="Text 28"/>
          <p:cNvSpPr txBox="1"/>
          <p:nvPr/>
        </p:nvSpPr>
        <p:spPr>
          <a:xfrm>
            <a:off x="944880" y="3529584"/>
            <a:ext cx="4389120" cy="365760"/>
          </a:xfrm>
          <a:prstGeom prst="rect">
            <a:avLst/>
          </a:prstGeom>
          <a:noFill/>
          <a:ln/>
        </p:spPr>
        <p:txBody>
          <a:bodyPr wrap="square" rtlCol="0" anchor="ctr"/>
          <a:lstStyle/>
          <a:p>
            <a:pPr indent="0" marL="0" rtl="1" algn="r">
              <a:buNone/>
            </a:pPr>
            <a:r>
              <a:rPr lang="en-US" sz="1600" b="1" dirty="0">
                <a:solidFill>
                  <a:srgbClr val="C3C0BC"/>
                </a:solidFill>
                <a:latin typeface="Cambria" pitchFamily="34" charset="0"/>
                <a:ea typeface="Cambria" pitchFamily="34" charset="-122"/>
                <a:cs typeface="B Titr" pitchFamily="34" charset="-120"/>
              </a:rPr>
              <a:t>محدودیت‌ها و جمع‌بندی</a:t>
            </a:r>
            <a:endParaRPr lang="en-US" sz="1600" dirty="0"/>
          </a:p>
        </p:txBody>
      </p:sp>
      <p:sp>
        <p:nvSpPr>
          <p:cNvPr id="31" name="Text 29"/>
          <p:cNvSpPr txBox="1"/>
          <p:nvPr/>
        </p:nvSpPr>
        <p:spPr>
          <a:xfrm>
            <a:off x="944880" y="3867912"/>
            <a:ext cx="4389120" cy="457200"/>
          </a:xfrm>
          <a:prstGeom prst="rect">
            <a:avLst/>
          </a:prstGeom>
          <a:noFill/>
          <a:ln/>
        </p:spPr>
        <p:txBody>
          <a:bodyPr wrap="square" rtlCol="0" anchor="ctr"/>
          <a:lstStyle/>
          <a:p>
            <a:pPr indent="0" marL="0" rtl="1" algn="r">
              <a:buNone/>
            </a:pPr>
            <a:r>
              <a:rPr lang="en-US" sz="1200" dirty="0">
                <a:solidFill>
                  <a:srgbClr val="CFCCC8"/>
                </a:solidFill>
                <a:latin typeface="Calibri" pitchFamily="34" charset="0"/>
                <a:ea typeface="Calibri" pitchFamily="34" charset="-122"/>
                <a:cs typeface="B Nazanin" pitchFamily="34" charset="-120"/>
              </a:rPr>
              <a:t>محدودیت‌ها، دستاوردها و کار آینده</a:t>
            </a:r>
            <a:endParaRPr lang="en-US" sz="1200" dirty="0"/>
          </a:p>
        </p:txBody>
      </p:sp>
      <p:sp>
        <p:nvSpPr>
          <p:cNvPr id="32" name="Text 30"/>
          <p:cNvSpPr txBox="1"/>
          <p:nvPr/>
        </p:nvSpPr>
        <p:spPr>
          <a:xfrm>
            <a:off x="4328160" y="6473952"/>
            <a:ext cx="7315200" cy="274320"/>
          </a:xfrm>
          <a:prstGeom prst="rect">
            <a:avLst/>
          </a:prstGeom>
          <a:noFill/>
          <a:ln/>
        </p:spPr>
        <p:txBody>
          <a:bodyPr wrap="square" rtlCol="0" anchor="ctr"/>
          <a:lstStyle/>
          <a:p>
            <a:pPr indent="0" marL="0" rtl="1" algn="r">
              <a:buNone/>
            </a:pPr>
            <a:r>
              <a:rPr lang="en-US" sz="900" spc="200" kern="0" dirty="0">
                <a:solidFill>
                  <a:srgbClr val="716E69"/>
                </a:solidFill>
                <a:latin typeface="Calibri" pitchFamily="34" charset="0"/>
                <a:ea typeface="Calibri" pitchFamily="34" charset="-122"/>
                <a:cs typeface="B Nazanin" pitchFamily="34" charset="-120"/>
              </a:rPr>
              <a:t>مسئله و انگیزه</a:t>
            </a:r>
            <a:endParaRPr lang="en-US" sz="900" dirty="0"/>
          </a:p>
        </p:txBody>
      </p:sp>
      <p:sp>
        <p:nvSpPr>
          <p:cNvPr id="33" name="Text 31"/>
          <p:cNvSpPr txBox="1"/>
          <p:nvPr/>
        </p:nvSpPr>
        <p:spPr>
          <a:xfrm>
            <a:off x="185928" y="6473952"/>
            <a:ext cx="457200" cy="274320"/>
          </a:xfrm>
          <a:prstGeom prst="rect">
            <a:avLst/>
          </a:prstGeom>
          <a:noFill/>
          <a:ln/>
        </p:spPr>
        <p:txBody>
          <a:bodyPr wrap="square" rtlCol="0" anchor="ctr"/>
          <a:lstStyle/>
          <a:p>
            <a:pPr algn="r" indent="0" marL="0" rtl="1">
              <a:buNone/>
            </a:pPr>
            <a:r>
              <a:rPr lang="en-US" sz="900" dirty="0">
                <a:solidFill>
                  <a:srgbClr val="716E69"/>
                </a:solidFill>
                <a:latin typeface="Calibri" pitchFamily="34" charset="0"/>
                <a:ea typeface="Calibri" pitchFamily="34" charset="-122"/>
                <a:cs typeface="B Nazanin" pitchFamily="34" charset="-120"/>
              </a:rPr>
              <a:t>۳ / ۲۴</a:t>
            </a:r>
            <a:endParaRPr lang="en-US" sz="900" dirty="0"/>
          </a:p>
        </p:txBody>
      </p:sp>
      <p:sp>
        <p:nvSpPr>
          <p:cNvPr id="9001" name="progress track"/>
          <p:cNvSpPr/>
          <p:nvPr/>
        </p:nvSpPr>
        <p:spPr>
          <a:xfrm>
            <a:off x="0" y="6803000"/>
            <a:ext cx="12192000" cy="55000"/>
          </a:xfrm>
          <a:prstGeom prst="rect">
            <a:avLst/>
          </a:prstGeom>
          <a:solidFill>
            <a:srgbClr val="EDE9E5"/>
          </a:solidFill>
          <a:ln>
            <a:noFill/>
          </a:ln>
        </p:spPr>
        <p:txBody>
          <a:bodyPr/>
          <a:lstStyle/>
          <a:p/>
        </p:txBody>
      </p:sp>
      <p:sp>
        <p:nvSpPr>
          <p:cNvPr id="9002" name="progress fill"/>
          <p:cNvSpPr/>
          <p:nvPr/>
        </p:nvSpPr>
        <p:spPr>
          <a:xfrm>
            <a:off x="10668000" y="6803000"/>
            <a:ext cx="1524000" cy="55000"/>
          </a:xfrm>
          <a:prstGeom prst="rect">
            <a:avLst/>
          </a:prstGeom>
          <a:solidFill>
            <a:srgbClr val="8C1515"/>
          </a:solidFill>
          <a:ln>
            <a:noFill/>
          </a:ln>
        </p:spPr>
        <p:txBody>
          <a:bodyPr/>
          <a:lstStyle/>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11442192" y="475488"/>
            <a:ext cx="201168" cy="201168"/>
          </a:xfrm>
          <a:prstGeom prst="ellipse">
            <a:avLst/>
          </a:prstGeom>
          <a:solidFill>
            <a:srgbClr val="E98300"/>
          </a:solidFill>
          <a:ln/>
        </p:spPr>
      </p:sp>
      <p:sp>
        <p:nvSpPr>
          <p:cNvPr id="3" name="Text 1"/>
          <p:cNvSpPr txBox="1"/>
          <p:nvPr/>
        </p:nvSpPr>
        <p:spPr>
          <a:xfrm>
            <a:off x="1694688" y="347472"/>
            <a:ext cx="9601200" cy="502920"/>
          </a:xfrm>
          <a:prstGeom prst="rect">
            <a:avLst/>
          </a:prstGeom>
          <a:noFill/>
          <a:ln/>
        </p:spPr>
        <p:txBody>
          <a:bodyPr wrap="square" rtlCol="0" anchor="ctr"/>
          <a:lstStyle/>
          <a:p>
            <a:pPr indent="0" marL="0" rtl="1" algn="r">
              <a:buNone/>
            </a:pPr>
            <a:r>
              <a:rPr lang="en-US" sz="3000" b="1" dirty="0">
                <a:solidFill>
                  <a:srgbClr val="8C1515"/>
                </a:solidFill>
                <a:latin typeface="Cambria" pitchFamily="34" charset="0"/>
                <a:ea typeface="Cambria" pitchFamily="34" charset="-122"/>
                <a:cs typeface="B Titr" pitchFamily="34" charset="-120"/>
              </a:rPr>
              <a:t>بخش ۲ از ۷ — حدود ۱۷ دقیقه تا پایان</a:t>
            </a:r>
            <a:endParaRPr lang="en-US" sz="3000" dirty="0"/>
          </a:p>
        </p:txBody>
      </p:sp>
      <p:sp>
        <p:nvSpPr>
          <p:cNvPr id="4" name="Shape 2"/>
          <p:cNvSpPr/>
          <p:nvPr/>
        </p:nvSpPr>
        <p:spPr>
          <a:xfrm>
            <a:off x="11140440" y="1234440"/>
            <a:ext cx="502920" cy="502920"/>
          </a:xfrm>
          <a:prstGeom prst="ellipse">
            <a:avLst/>
          </a:prstGeom>
          <a:solidFill>
            <a:srgbClr val="DCD8D4"/>
          </a:solidFill>
          <a:ln/>
        </p:spPr>
      </p:sp>
      <p:sp>
        <p:nvSpPr>
          <p:cNvPr id="5" name="Text 3"/>
          <p:cNvSpPr txBox="1"/>
          <p:nvPr/>
        </p:nvSpPr>
        <p:spPr>
          <a:xfrm>
            <a:off x="11140440" y="1234440"/>
            <a:ext cx="502920" cy="50292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۱</a:t>
            </a:r>
            <a:endParaRPr lang="en-US" sz="2000" dirty="0"/>
          </a:p>
        </p:txBody>
      </p:sp>
      <p:sp>
        <p:nvSpPr>
          <p:cNvPr id="6" name="Text 4"/>
          <p:cNvSpPr txBox="1"/>
          <p:nvPr/>
        </p:nvSpPr>
        <p:spPr>
          <a:xfrm>
            <a:off x="6568440" y="1188720"/>
            <a:ext cx="4389120" cy="365760"/>
          </a:xfrm>
          <a:prstGeom prst="rect">
            <a:avLst/>
          </a:prstGeom>
          <a:noFill/>
          <a:ln/>
        </p:spPr>
        <p:txBody>
          <a:bodyPr wrap="square" rtlCol="0" anchor="ctr"/>
          <a:lstStyle/>
          <a:p>
            <a:pPr indent="0" marL="0" rtl="1" algn="r">
              <a:buNone/>
            </a:pPr>
            <a:r>
              <a:rPr lang="en-US" sz="1600" b="1" dirty="0">
                <a:solidFill>
                  <a:srgbClr val="C3C0BC"/>
                </a:solidFill>
                <a:latin typeface="Cambria" pitchFamily="34" charset="0"/>
                <a:ea typeface="Cambria" pitchFamily="34" charset="-122"/>
                <a:cs typeface="B Titr" pitchFamily="34" charset="-120"/>
              </a:rPr>
              <a:t>مسئله و انگیزه</a:t>
            </a:r>
            <a:endParaRPr lang="en-US" sz="1600" dirty="0"/>
          </a:p>
        </p:txBody>
      </p:sp>
      <p:sp>
        <p:nvSpPr>
          <p:cNvPr id="7" name="Text 5"/>
          <p:cNvSpPr txBox="1"/>
          <p:nvPr/>
        </p:nvSpPr>
        <p:spPr>
          <a:xfrm>
            <a:off x="6568440" y="1527048"/>
            <a:ext cx="4389120" cy="457200"/>
          </a:xfrm>
          <a:prstGeom prst="rect">
            <a:avLst/>
          </a:prstGeom>
          <a:noFill/>
          <a:ln/>
        </p:spPr>
        <p:txBody>
          <a:bodyPr wrap="square" rtlCol="0" anchor="ctr"/>
          <a:lstStyle/>
          <a:p>
            <a:pPr indent="0" marL="0" rtl="1" algn="r">
              <a:buNone/>
            </a:pPr>
            <a:r>
              <a:rPr lang="en-US" sz="1200" dirty="0">
                <a:solidFill>
                  <a:srgbClr val="CFCCC8"/>
                </a:solidFill>
                <a:latin typeface="Calibri" pitchFamily="34" charset="0"/>
                <a:ea typeface="Calibri" pitchFamily="34" charset="-122"/>
                <a:cs typeface="B Nazanin" pitchFamily="34" charset="-120"/>
              </a:rPr>
              <a:t>ضرورت خودکارسازی این اندازه‌گیری</a:t>
            </a:r>
            <a:endParaRPr lang="en-US" sz="1200" dirty="0"/>
          </a:p>
        </p:txBody>
      </p:sp>
      <p:sp>
        <p:nvSpPr>
          <p:cNvPr id="8" name="Shape 6"/>
          <p:cNvSpPr/>
          <p:nvPr/>
        </p:nvSpPr>
        <p:spPr>
          <a:xfrm>
            <a:off x="11140440" y="2404872"/>
            <a:ext cx="502920" cy="502920"/>
          </a:xfrm>
          <a:prstGeom prst="ellipse">
            <a:avLst/>
          </a:prstGeom>
          <a:solidFill>
            <a:srgbClr val="E98300"/>
          </a:solidFill>
          <a:ln/>
        </p:spPr>
      </p:sp>
      <p:sp>
        <p:nvSpPr>
          <p:cNvPr id="9" name="Text 7"/>
          <p:cNvSpPr txBox="1"/>
          <p:nvPr/>
        </p:nvSpPr>
        <p:spPr>
          <a:xfrm>
            <a:off x="11140440" y="2404872"/>
            <a:ext cx="502920" cy="50292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۲</a:t>
            </a:r>
            <a:endParaRPr lang="en-US" sz="2000" dirty="0"/>
          </a:p>
        </p:txBody>
      </p:sp>
      <p:sp>
        <p:nvSpPr>
          <p:cNvPr id="10" name="Text 8"/>
          <p:cNvSpPr txBox="1"/>
          <p:nvPr/>
        </p:nvSpPr>
        <p:spPr>
          <a:xfrm>
            <a:off x="6568440" y="2359152"/>
            <a:ext cx="4389120" cy="365760"/>
          </a:xfrm>
          <a:prstGeom prst="rect">
            <a:avLst/>
          </a:prstGeom>
          <a:noFill/>
          <a:ln/>
        </p:spPr>
        <p:txBody>
          <a:bodyPr wrap="square" rtlCol="0" anchor="ctr"/>
          <a:lstStyle/>
          <a:p>
            <a:pPr indent="0" marL="0" rtl="1" algn="r">
              <a:buNone/>
            </a:pPr>
            <a:r>
              <a:rPr lang="en-US" sz="1600" b="1" dirty="0">
                <a:solidFill>
                  <a:srgbClr val="2E2D29"/>
                </a:solidFill>
                <a:latin typeface="Cambria" pitchFamily="34" charset="0"/>
                <a:ea typeface="Cambria" pitchFamily="34" charset="-122"/>
                <a:cs typeface="B Titr" pitchFamily="34" charset="-120"/>
              </a:rPr>
              <a:t>هدف و کارهای پیشین</a:t>
            </a:r>
            <a:endParaRPr lang="en-US" sz="1600" dirty="0"/>
          </a:p>
        </p:txBody>
      </p:sp>
      <p:sp>
        <p:nvSpPr>
          <p:cNvPr id="11" name="Text 9"/>
          <p:cNvSpPr txBox="1"/>
          <p:nvPr/>
        </p:nvSpPr>
        <p:spPr>
          <a:xfrm>
            <a:off x="6568440" y="2697480"/>
            <a:ext cx="4389120" cy="457200"/>
          </a:xfrm>
          <a:prstGeom prst="rect">
            <a:avLst/>
          </a:prstGeom>
          <a:noFill/>
          <a:ln/>
        </p:spPr>
        <p:txBody>
          <a:bodyPr wrap="square" rtlCol="0" anchor="ctr"/>
          <a:lstStyle/>
          <a:p>
            <a:pPr indent="0" marL="0" rtl="1" algn="r">
              <a:buNone/>
            </a:pPr>
            <a:r>
              <a:rPr lang="en-US" sz="1200" dirty="0">
                <a:solidFill>
                  <a:srgbClr val="716E69"/>
                </a:solidFill>
                <a:latin typeface="Calibri" pitchFamily="34" charset="0"/>
                <a:ea typeface="Calibri" pitchFamily="34" charset="-122"/>
                <a:cs typeface="B Nazanin" pitchFamily="34" charset="-120"/>
              </a:rPr>
              <a:t>اهداف پژوهش و جایگاه آن در ادبیات</a:t>
            </a:r>
            <a:endParaRPr lang="en-US" sz="1200" dirty="0"/>
          </a:p>
        </p:txBody>
      </p:sp>
      <p:sp>
        <p:nvSpPr>
          <p:cNvPr id="12" name="Shape 10"/>
          <p:cNvSpPr/>
          <p:nvPr/>
        </p:nvSpPr>
        <p:spPr>
          <a:xfrm>
            <a:off x="11140440" y="3575304"/>
            <a:ext cx="502920" cy="502920"/>
          </a:xfrm>
          <a:prstGeom prst="ellipse">
            <a:avLst/>
          </a:prstGeom>
          <a:solidFill>
            <a:srgbClr val="DCD8D4"/>
          </a:solidFill>
          <a:ln/>
        </p:spPr>
      </p:sp>
      <p:sp>
        <p:nvSpPr>
          <p:cNvPr id="13" name="Text 11"/>
          <p:cNvSpPr txBox="1"/>
          <p:nvPr/>
        </p:nvSpPr>
        <p:spPr>
          <a:xfrm>
            <a:off x="11140440" y="3575304"/>
            <a:ext cx="502920" cy="50292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۳</a:t>
            </a:r>
            <a:endParaRPr lang="en-US" sz="2000" dirty="0"/>
          </a:p>
        </p:txBody>
      </p:sp>
      <p:sp>
        <p:nvSpPr>
          <p:cNvPr id="14" name="Text 12"/>
          <p:cNvSpPr txBox="1"/>
          <p:nvPr/>
        </p:nvSpPr>
        <p:spPr>
          <a:xfrm>
            <a:off x="6568440" y="3529584"/>
            <a:ext cx="4389120" cy="365760"/>
          </a:xfrm>
          <a:prstGeom prst="rect">
            <a:avLst/>
          </a:prstGeom>
          <a:noFill/>
          <a:ln/>
        </p:spPr>
        <p:txBody>
          <a:bodyPr wrap="square" rtlCol="0" anchor="ctr"/>
          <a:lstStyle/>
          <a:p>
            <a:pPr indent="0" marL="0" rtl="1" algn="r">
              <a:buNone/>
            </a:pPr>
            <a:r>
              <a:rPr lang="en-US" sz="1600" b="1" dirty="0">
                <a:solidFill>
                  <a:srgbClr val="C3C0BC"/>
                </a:solidFill>
                <a:latin typeface="Cambria" pitchFamily="34" charset="0"/>
                <a:ea typeface="Cambria" pitchFamily="34" charset="-122"/>
                <a:cs typeface="B Titr" pitchFamily="34" charset="-120"/>
              </a:rPr>
              <a:t>روش پیشنهادی</a:t>
            </a:r>
            <a:endParaRPr lang="en-US" sz="1600" dirty="0"/>
          </a:p>
        </p:txBody>
      </p:sp>
      <p:sp>
        <p:nvSpPr>
          <p:cNvPr id="15" name="Text 13"/>
          <p:cNvSpPr txBox="1"/>
          <p:nvPr/>
        </p:nvSpPr>
        <p:spPr>
          <a:xfrm>
            <a:off x="6568440" y="3867912"/>
            <a:ext cx="4389120" cy="457200"/>
          </a:xfrm>
          <a:prstGeom prst="rect">
            <a:avLst/>
          </a:prstGeom>
          <a:noFill/>
          <a:ln/>
        </p:spPr>
        <p:txBody>
          <a:bodyPr wrap="square" rtlCol="0" anchor="ctr"/>
          <a:lstStyle/>
          <a:p>
            <a:pPr indent="0" marL="0" rtl="1" algn="r">
              <a:buNone/>
            </a:pPr>
            <a:r>
              <a:rPr lang="en-US" sz="1200" dirty="0">
                <a:solidFill>
                  <a:srgbClr val="CFCCC8"/>
                </a:solidFill>
                <a:latin typeface="Calibri" pitchFamily="34" charset="0"/>
                <a:ea typeface="Calibri" pitchFamily="34" charset="-122"/>
                <a:cs typeface="B Nazanin" pitchFamily="34" charset="-120"/>
              </a:rPr>
              <a:t>ساختار و مراحل سامانه</a:t>
            </a:r>
            <a:endParaRPr lang="en-US" sz="1200" dirty="0"/>
          </a:p>
        </p:txBody>
      </p:sp>
      <p:sp>
        <p:nvSpPr>
          <p:cNvPr id="16" name="Shape 14"/>
          <p:cNvSpPr/>
          <p:nvPr/>
        </p:nvSpPr>
        <p:spPr>
          <a:xfrm>
            <a:off x="11140440" y="4745736"/>
            <a:ext cx="502920" cy="502920"/>
          </a:xfrm>
          <a:prstGeom prst="ellipse">
            <a:avLst/>
          </a:prstGeom>
          <a:solidFill>
            <a:srgbClr val="DCD8D4"/>
          </a:solidFill>
          <a:ln/>
        </p:spPr>
      </p:sp>
      <p:sp>
        <p:nvSpPr>
          <p:cNvPr id="17" name="Text 15"/>
          <p:cNvSpPr txBox="1"/>
          <p:nvPr/>
        </p:nvSpPr>
        <p:spPr>
          <a:xfrm>
            <a:off x="11140440" y="4745736"/>
            <a:ext cx="502920" cy="50292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۴</a:t>
            </a:r>
            <a:endParaRPr lang="en-US" sz="2000" dirty="0"/>
          </a:p>
        </p:txBody>
      </p:sp>
      <p:sp>
        <p:nvSpPr>
          <p:cNvPr id="18" name="Text 16"/>
          <p:cNvSpPr txBox="1"/>
          <p:nvPr/>
        </p:nvSpPr>
        <p:spPr>
          <a:xfrm>
            <a:off x="6568440" y="4700016"/>
            <a:ext cx="4389120" cy="365760"/>
          </a:xfrm>
          <a:prstGeom prst="rect">
            <a:avLst/>
          </a:prstGeom>
          <a:noFill/>
          <a:ln/>
        </p:spPr>
        <p:txBody>
          <a:bodyPr wrap="square" rtlCol="0" anchor="ctr"/>
          <a:lstStyle/>
          <a:p>
            <a:pPr indent="0" marL="0" rtl="1" algn="r">
              <a:buNone/>
            </a:pPr>
            <a:r>
              <a:rPr lang="en-US" sz="1600" b="1" dirty="0">
                <a:solidFill>
                  <a:srgbClr val="C3C0BC"/>
                </a:solidFill>
                <a:latin typeface="Cambria" pitchFamily="34" charset="0"/>
                <a:ea typeface="Cambria" pitchFamily="34" charset="-122"/>
                <a:cs typeface="B Titr" pitchFamily="34" charset="-120"/>
              </a:rPr>
              <a:t>نتایج</a:t>
            </a:r>
            <a:endParaRPr lang="en-US" sz="1600" dirty="0"/>
          </a:p>
        </p:txBody>
      </p:sp>
      <p:sp>
        <p:nvSpPr>
          <p:cNvPr id="19" name="Text 17"/>
          <p:cNvSpPr txBox="1"/>
          <p:nvPr/>
        </p:nvSpPr>
        <p:spPr>
          <a:xfrm>
            <a:off x="6568440" y="5038344"/>
            <a:ext cx="4389120" cy="457200"/>
          </a:xfrm>
          <a:prstGeom prst="rect">
            <a:avLst/>
          </a:prstGeom>
          <a:noFill/>
          <a:ln/>
        </p:spPr>
        <p:txBody>
          <a:bodyPr wrap="square" rtlCol="0" anchor="ctr"/>
          <a:lstStyle/>
          <a:p>
            <a:pPr indent="0" marL="0" rtl="1" algn="r">
              <a:buNone/>
            </a:pPr>
            <a:r>
              <a:rPr lang="en-US" sz="1200" dirty="0">
                <a:solidFill>
                  <a:srgbClr val="CFCCC8"/>
                </a:solidFill>
                <a:latin typeface="Calibri" pitchFamily="34" charset="0"/>
                <a:ea typeface="Calibri" pitchFamily="34" charset="-122"/>
                <a:cs typeface="B Nazanin" pitchFamily="34" charset="-120"/>
              </a:rPr>
              <a:t>دقت اندازه‌گیری بر روی مجموعه مرجع</a:t>
            </a:r>
            <a:endParaRPr lang="en-US" sz="1200" dirty="0"/>
          </a:p>
        </p:txBody>
      </p:sp>
      <p:sp>
        <p:nvSpPr>
          <p:cNvPr id="20" name="Shape 18"/>
          <p:cNvSpPr/>
          <p:nvPr/>
        </p:nvSpPr>
        <p:spPr>
          <a:xfrm>
            <a:off x="5516880" y="1234440"/>
            <a:ext cx="502920" cy="502920"/>
          </a:xfrm>
          <a:prstGeom prst="ellipse">
            <a:avLst/>
          </a:prstGeom>
          <a:solidFill>
            <a:srgbClr val="DCD8D4"/>
          </a:solidFill>
          <a:ln/>
        </p:spPr>
      </p:sp>
      <p:sp>
        <p:nvSpPr>
          <p:cNvPr id="21" name="Text 19"/>
          <p:cNvSpPr txBox="1"/>
          <p:nvPr/>
        </p:nvSpPr>
        <p:spPr>
          <a:xfrm>
            <a:off x="5516880" y="1234440"/>
            <a:ext cx="502920" cy="50292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۵</a:t>
            </a:r>
            <a:endParaRPr lang="en-US" sz="2000" dirty="0"/>
          </a:p>
        </p:txBody>
      </p:sp>
      <p:sp>
        <p:nvSpPr>
          <p:cNvPr id="22" name="Text 20"/>
          <p:cNvSpPr txBox="1"/>
          <p:nvPr/>
        </p:nvSpPr>
        <p:spPr>
          <a:xfrm>
            <a:off x="944880" y="1188720"/>
            <a:ext cx="4389120" cy="365760"/>
          </a:xfrm>
          <a:prstGeom prst="rect">
            <a:avLst/>
          </a:prstGeom>
          <a:noFill/>
          <a:ln/>
        </p:spPr>
        <p:txBody>
          <a:bodyPr wrap="square" rtlCol="0" anchor="ctr"/>
          <a:lstStyle/>
          <a:p>
            <a:pPr indent="0" marL="0" rtl="1" algn="r">
              <a:buNone/>
            </a:pPr>
            <a:r>
              <a:rPr lang="en-US" sz="1600" b="1" dirty="0">
                <a:solidFill>
                  <a:srgbClr val="C3C0BC"/>
                </a:solidFill>
                <a:latin typeface="Cambria" pitchFamily="34" charset="0"/>
                <a:ea typeface="Cambria" pitchFamily="34" charset="-122"/>
                <a:cs typeface="B Titr" pitchFamily="34" charset="-120"/>
              </a:rPr>
              <a:t>تفسیر بالینی</a:t>
            </a:r>
            <a:endParaRPr lang="en-US" sz="1600" dirty="0"/>
          </a:p>
        </p:txBody>
      </p:sp>
      <p:sp>
        <p:nvSpPr>
          <p:cNvPr id="23" name="Text 21"/>
          <p:cNvSpPr txBox="1"/>
          <p:nvPr/>
        </p:nvSpPr>
        <p:spPr>
          <a:xfrm>
            <a:off x="944880" y="1527048"/>
            <a:ext cx="4389120" cy="457200"/>
          </a:xfrm>
          <a:prstGeom prst="rect">
            <a:avLst/>
          </a:prstGeom>
          <a:noFill/>
          <a:ln/>
        </p:spPr>
        <p:txBody>
          <a:bodyPr wrap="square" rtlCol="0" anchor="ctr"/>
          <a:lstStyle/>
          <a:p>
            <a:pPr indent="0" marL="0" rtl="1" algn="r">
              <a:buNone/>
            </a:pPr>
            <a:r>
              <a:rPr lang="en-US" sz="1200" dirty="0">
                <a:solidFill>
                  <a:srgbClr val="CFCCC8"/>
                </a:solidFill>
                <a:latin typeface="Calibri" pitchFamily="34" charset="0"/>
                <a:ea typeface="Calibri" pitchFamily="34" charset="-122"/>
                <a:cs typeface="B Nazanin" pitchFamily="34" charset="-120"/>
              </a:rPr>
              <a:t>معنای دقت به‌دست‌آمده برای تصمیم درمانی</a:t>
            </a:r>
            <a:endParaRPr lang="en-US" sz="1200" dirty="0"/>
          </a:p>
        </p:txBody>
      </p:sp>
      <p:sp>
        <p:nvSpPr>
          <p:cNvPr id="24" name="Shape 22"/>
          <p:cNvSpPr/>
          <p:nvPr/>
        </p:nvSpPr>
        <p:spPr>
          <a:xfrm>
            <a:off x="5516880" y="2404872"/>
            <a:ext cx="502920" cy="502920"/>
          </a:xfrm>
          <a:prstGeom prst="ellipse">
            <a:avLst/>
          </a:prstGeom>
          <a:solidFill>
            <a:srgbClr val="DCD8D4"/>
          </a:solidFill>
          <a:ln/>
        </p:spPr>
      </p:sp>
      <p:sp>
        <p:nvSpPr>
          <p:cNvPr id="25" name="Text 23"/>
          <p:cNvSpPr txBox="1"/>
          <p:nvPr/>
        </p:nvSpPr>
        <p:spPr>
          <a:xfrm>
            <a:off x="5516880" y="2404872"/>
            <a:ext cx="502920" cy="50292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۶</a:t>
            </a:r>
            <a:endParaRPr lang="en-US" sz="2000" dirty="0"/>
          </a:p>
        </p:txBody>
      </p:sp>
      <p:sp>
        <p:nvSpPr>
          <p:cNvPr id="26" name="Text 24"/>
          <p:cNvSpPr txBox="1"/>
          <p:nvPr/>
        </p:nvSpPr>
        <p:spPr>
          <a:xfrm>
            <a:off x="944880" y="2359152"/>
            <a:ext cx="4389120" cy="365760"/>
          </a:xfrm>
          <a:prstGeom prst="rect">
            <a:avLst/>
          </a:prstGeom>
          <a:noFill/>
          <a:ln/>
        </p:spPr>
        <p:txBody>
          <a:bodyPr wrap="square" rtlCol="0" anchor="ctr"/>
          <a:lstStyle/>
          <a:p>
            <a:pPr indent="0" marL="0" rtl="1" algn="r">
              <a:buNone/>
            </a:pPr>
            <a:r>
              <a:rPr lang="en-US" sz="1600" b="1" dirty="0">
                <a:solidFill>
                  <a:srgbClr val="C3C0BC"/>
                </a:solidFill>
                <a:latin typeface="Cambria" pitchFamily="34" charset="0"/>
                <a:ea typeface="Cambria" pitchFamily="34" charset="-122"/>
                <a:cs typeface="B Titr" pitchFamily="34" charset="-120"/>
              </a:rPr>
              <a:t>یافته اصلی</a:t>
            </a:r>
            <a:endParaRPr lang="en-US" sz="1600" dirty="0"/>
          </a:p>
        </p:txBody>
      </p:sp>
      <p:sp>
        <p:nvSpPr>
          <p:cNvPr id="27" name="Text 25"/>
          <p:cNvSpPr txBox="1"/>
          <p:nvPr/>
        </p:nvSpPr>
        <p:spPr>
          <a:xfrm>
            <a:off x="944880" y="2697480"/>
            <a:ext cx="4389120" cy="457200"/>
          </a:xfrm>
          <a:prstGeom prst="rect">
            <a:avLst/>
          </a:prstGeom>
          <a:noFill/>
          <a:ln/>
        </p:spPr>
        <p:txBody>
          <a:bodyPr wrap="square" rtlCol="0" anchor="ctr"/>
          <a:lstStyle/>
          <a:p>
            <a:pPr indent="0" marL="0" rtl="1" algn="r">
              <a:buNone/>
            </a:pPr>
            <a:r>
              <a:rPr lang="en-US" sz="1200" dirty="0">
                <a:solidFill>
                  <a:srgbClr val="CFCCC8"/>
                </a:solidFill>
                <a:latin typeface="Calibri" pitchFamily="34" charset="0"/>
                <a:ea typeface="Calibri" pitchFamily="34" charset="-122"/>
                <a:cs typeface="B Nazanin" pitchFamily="34" charset="-120"/>
              </a:rPr>
              <a:t>علت خطای باقی‌مانده</a:t>
            </a:r>
            <a:endParaRPr lang="en-US" sz="1200" dirty="0"/>
          </a:p>
        </p:txBody>
      </p:sp>
      <p:sp>
        <p:nvSpPr>
          <p:cNvPr id="28" name="Shape 26"/>
          <p:cNvSpPr/>
          <p:nvPr/>
        </p:nvSpPr>
        <p:spPr>
          <a:xfrm>
            <a:off x="5516880" y="3575304"/>
            <a:ext cx="502920" cy="502920"/>
          </a:xfrm>
          <a:prstGeom prst="ellipse">
            <a:avLst/>
          </a:prstGeom>
          <a:solidFill>
            <a:srgbClr val="DCD8D4"/>
          </a:solidFill>
          <a:ln/>
        </p:spPr>
      </p:sp>
      <p:sp>
        <p:nvSpPr>
          <p:cNvPr id="29" name="Text 27"/>
          <p:cNvSpPr txBox="1"/>
          <p:nvPr/>
        </p:nvSpPr>
        <p:spPr>
          <a:xfrm>
            <a:off x="5516880" y="3575304"/>
            <a:ext cx="502920" cy="50292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۷</a:t>
            </a:r>
            <a:endParaRPr lang="en-US" sz="2000" dirty="0"/>
          </a:p>
        </p:txBody>
      </p:sp>
      <p:sp>
        <p:nvSpPr>
          <p:cNvPr id="30" name="Text 28"/>
          <p:cNvSpPr txBox="1"/>
          <p:nvPr/>
        </p:nvSpPr>
        <p:spPr>
          <a:xfrm>
            <a:off x="944880" y="3529584"/>
            <a:ext cx="4389120" cy="365760"/>
          </a:xfrm>
          <a:prstGeom prst="rect">
            <a:avLst/>
          </a:prstGeom>
          <a:noFill/>
          <a:ln/>
        </p:spPr>
        <p:txBody>
          <a:bodyPr wrap="square" rtlCol="0" anchor="ctr"/>
          <a:lstStyle/>
          <a:p>
            <a:pPr indent="0" marL="0" rtl="1" algn="r">
              <a:buNone/>
            </a:pPr>
            <a:r>
              <a:rPr lang="en-US" sz="1600" b="1" dirty="0">
                <a:solidFill>
                  <a:srgbClr val="C3C0BC"/>
                </a:solidFill>
                <a:latin typeface="Cambria" pitchFamily="34" charset="0"/>
                <a:ea typeface="Cambria" pitchFamily="34" charset="-122"/>
                <a:cs typeface="B Titr" pitchFamily="34" charset="-120"/>
              </a:rPr>
              <a:t>محدودیت‌ها و جمع‌بندی</a:t>
            </a:r>
            <a:endParaRPr lang="en-US" sz="1600" dirty="0"/>
          </a:p>
        </p:txBody>
      </p:sp>
      <p:sp>
        <p:nvSpPr>
          <p:cNvPr id="31" name="Text 29"/>
          <p:cNvSpPr txBox="1"/>
          <p:nvPr/>
        </p:nvSpPr>
        <p:spPr>
          <a:xfrm>
            <a:off x="944880" y="3867912"/>
            <a:ext cx="4389120" cy="457200"/>
          </a:xfrm>
          <a:prstGeom prst="rect">
            <a:avLst/>
          </a:prstGeom>
          <a:noFill/>
          <a:ln/>
        </p:spPr>
        <p:txBody>
          <a:bodyPr wrap="square" rtlCol="0" anchor="ctr"/>
          <a:lstStyle/>
          <a:p>
            <a:pPr indent="0" marL="0" rtl="1" algn="r">
              <a:buNone/>
            </a:pPr>
            <a:r>
              <a:rPr lang="en-US" sz="1200" dirty="0">
                <a:solidFill>
                  <a:srgbClr val="CFCCC8"/>
                </a:solidFill>
                <a:latin typeface="Calibri" pitchFamily="34" charset="0"/>
                <a:ea typeface="Calibri" pitchFamily="34" charset="-122"/>
                <a:cs typeface="B Nazanin" pitchFamily="34" charset="-120"/>
              </a:rPr>
              <a:t>محدودیت‌ها، دستاوردها و کار آینده</a:t>
            </a:r>
            <a:endParaRPr lang="en-US" sz="1200" dirty="0"/>
          </a:p>
        </p:txBody>
      </p:sp>
      <p:sp>
        <p:nvSpPr>
          <p:cNvPr id="32" name="Text 30"/>
          <p:cNvSpPr txBox="1"/>
          <p:nvPr/>
        </p:nvSpPr>
        <p:spPr>
          <a:xfrm>
            <a:off x="4328160" y="6473952"/>
            <a:ext cx="7315200" cy="274320"/>
          </a:xfrm>
          <a:prstGeom prst="rect">
            <a:avLst/>
          </a:prstGeom>
          <a:noFill/>
          <a:ln/>
        </p:spPr>
        <p:txBody>
          <a:bodyPr wrap="square" rtlCol="0" anchor="ctr"/>
          <a:lstStyle/>
          <a:p>
            <a:pPr indent="0" marL="0" rtl="1" algn="r">
              <a:buNone/>
            </a:pPr>
            <a:r>
              <a:rPr lang="en-US" sz="900" spc="200" kern="0" dirty="0">
                <a:solidFill>
                  <a:srgbClr val="716E69"/>
                </a:solidFill>
                <a:latin typeface="Calibri" pitchFamily="34" charset="0"/>
                <a:ea typeface="Calibri" pitchFamily="34" charset="-122"/>
                <a:cs typeface="B Nazanin" pitchFamily="34" charset="-120"/>
              </a:rPr>
              <a:t>هدف و کارهای پیشین</a:t>
            </a:r>
            <a:endParaRPr lang="en-US" sz="900" dirty="0"/>
          </a:p>
        </p:txBody>
      </p:sp>
      <p:sp>
        <p:nvSpPr>
          <p:cNvPr id="33" name="Text 31"/>
          <p:cNvSpPr txBox="1"/>
          <p:nvPr/>
        </p:nvSpPr>
        <p:spPr>
          <a:xfrm>
            <a:off x="185928" y="6473952"/>
            <a:ext cx="457200" cy="274320"/>
          </a:xfrm>
          <a:prstGeom prst="rect">
            <a:avLst/>
          </a:prstGeom>
          <a:noFill/>
          <a:ln/>
        </p:spPr>
        <p:txBody>
          <a:bodyPr wrap="square" rtlCol="0" anchor="ctr"/>
          <a:lstStyle/>
          <a:p>
            <a:pPr algn="r" indent="0" marL="0" rtl="1">
              <a:buNone/>
            </a:pPr>
            <a:r>
              <a:rPr lang="en-US" sz="900" dirty="0">
                <a:solidFill>
                  <a:srgbClr val="716E69"/>
                </a:solidFill>
                <a:latin typeface="Calibri" pitchFamily="34" charset="0"/>
                <a:ea typeface="Calibri" pitchFamily="34" charset="-122"/>
                <a:cs typeface="B Nazanin" pitchFamily="34" charset="-120"/>
              </a:rPr>
              <a:t>۵ / ۲۴</a:t>
            </a:r>
            <a:endParaRPr lang="en-US" sz="900" dirty="0"/>
          </a:p>
        </p:txBody>
      </p:sp>
      <p:sp>
        <p:nvSpPr>
          <p:cNvPr id="9001" name="progress track"/>
          <p:cNvSpPr/>
          <p:nvPr/>
        </p:nvSpPr>
        <p:spPr>
          <a:xfrm>
            <a:off x="0" y="6803000"/>
            <a:ext cx="12192000" cy="55000"/>
          </a:xfrm>
          <a:prstGeom prst="rect">
            <a:avLst/>
          </a:prstGeom>
          <a:solidFill>
            <a:srgbClr val="EDE9E5"/>
          </a:solidFill>
          <a:ln>
            <a:noFill/>
          </a:ln>
        </p:spPr>
        <p:txBody>
          <a:bodyPr/>
          <a:lstStyle/>
          <a:p/>
        </p:txBody>
      </p:sp>
      <p:sp>
        <p:nvSpPr>
          <p:cNvPr id="9002" name="progress fill"/>
          <p:cNvSpPr/>
          <p:nvPr/>
        </p:nvSpPr>
        <p:spPr>
          <a:xfrm>
            <a:off x="9652000" y="6803000"/>
            <a:ext cx="2540000" cy="55000"/>
          </a:xfrm>
          <a:prstGeom prst="rect">
            <a:avLst/>
          </a:prstGeom>
          <a:solidFill>
            <a:srgbClr val="8C1515"/>
          </a:solidFill>
          <a:ln>
            <a:noFill/>
          </a:ln>
        </p:spPr>
        <p:txBody>
          <a:bodyPr/>
          <a:lstStyle/>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11442192" y="475488"/>
            <a:ext cx="201168" cy="201168"/>
          </a:xfrm>
          <a:prstGeom prst="ellipse">
            <a:avLst/>
          </a:prstGeom>
          <a:solidFill>
            <a:srgbClr val="E98300"/>
          </a:solidFill>
          <a:ln/>
        </p:spPr>
      </p:sp>
      <p:sp>
        <p:nvSpPr>
          <p:cNvPr id="3" name="Text 1"/>
          <p:cNvSpPr txBox="1"/>
          <p:nvPr/>
        </p:nvSpPr>
        <p:spPr>
          <a:xfrm>
            <a:off x="1694688" y="347472"/>
            <a:ext cx="9601200" cy="502920"/>
          </a:xfrm>
          <a:prstGeom prst="rect">
            <a:avLst/>
          </a:prstGeom>
          <a:noFill/>
          <a:ln/>
        </p:spPr>
        <p:txBody>
          <a:bodyPr wrap="square" rtlCol="0" anchor="ctr"/>
          <a:lstStyle/>
          <a:p>
            <a:pPr indent="0" marL="0" rtl="1" algn="r">
              <a:buNone/>
            </a:pPr>
            <a:r>
              <a:rPr lang="en-US" sz="3000" b="1" dirty="0">
                <a:solidFill>
                  <a:srgbClr val="8C1515"/>
                </a:solidFill>
                <a:latin typeface="Cambria" pitchFamily="34" charset="0"/>
                <a:ea typeface="Cambria" pitchFamily="34" charset="-122"/>
                <a:cs typeface="B Titr" pitchFamily="34" charset="-120"/>
              </a:rPr>
              <a:t>بخش ۳ از ۷ — حدود ۱۵ دقیقه تا پایان</a:t>
            </a:r>
            <a:endParaRPr lang="en-US" sz="3000" dirty="0"/>
          </a:p>
        </p:txBody>
      </p:sp>
      <p:sp>
        <p:nvSpPr>
          <p:cNvPr id="4" name="Shape 2"/>
          <p:cNvSpPr/>
          <p:nvPr/>
        </p:nvSpPr>
        <p:spPr>
          <a:xfrm>
            <a:off x="11140440" y="1234440"/>
            <a:ext cx="502920" cy="502920"/>
          </a:xfrm>
          <a:prstGeom prst="ellipse">
            <a:avLst/>
          </a:prstGeom>
          <a:solidFill>
            <a:srgbClr val="DCD8D4"/>
          </a:solidFill>
          <a:ln/>
        </p:spPr>
      </p:sp>
      <p:sp>
        <p:nvSpPr>
          <p:cNvPr id="5" name="Text 3"/>
          <p:cNvSpPr txBox="1"/>
          <p:nvPr/>
        </p:nvSpPr>
        <p:spPr>
          <a:xfrm>
            <a:off x="11140440" y="1234440"/>
            <a:ext cx="502920" cy="50292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۱</a:t>
            </a:r>
            <a:endParaRPr lang="en-US" sz="2000" dirty="0"/>
          </a:p>
        </p:txBody>
      </p:sp>
      <p:sp>
        <p:nvSpPr>
          <p:cNvPr id="6" name="Text 4"/>
          <p:cNvSpPr txBox="1"/>
          <p:nvPr/>
        </p:nvSpPr>
        <p:spPr>
          <a:xfrm>
            <a:off x="6568440" y="1188720"/>
            <a:ext cx="4389120" cy="365760"/>
          </a:xfrm>
          <a:prstGeom prst="rect">
            <a:avLst/>
          </a:prstGeom>
          <a:noFill/>
          <a:ln/>
        </p:spPr>
        <p:txBody>
          <a:bodyPr wrap="square" rtlCol="0" anchor="ctr"/>
          <a:lstStyle/>
          <a:p>
            <a:pPr indent="0" marL="0" rtl="1" algn="r">
              <a:buNone/>
            </a:pPr>
            <a:r>
              <a:rPr lang="en-US" sz="1600" b="1" dirty="0">
                <a:solidFill>
                  <a:srgbClr val="C3C0BC"/>
                </a:solidFill>
                <a:latin typeface="Cambria" pitchFamily="34" charset="0"/>
                <a:ea typeface="Cambria" pitchFamily="34" charset="-122"/>
                <a:cs typeface="B Titr" pitchFamily="34" charset="-120"/>
              </a:rPr>
              <a:t>مسئله و انگیزه</a:t>
            </a:r>
            <a:endParaRPr lang="en-US" sz="1600" dirty="0"/>
          </a:p>
        </p:txBody>
      </p:sp>
      <p:sp>
        <p:nvSpPr>
          <p:cNvPr id="7" name="Text 5"/>
          <p:cNvSpPr txBox="1"/>
          <p:nvPr/>
        </p:nvSpPr>
        <p:spPr>
          <a:xfrm>
            <a:off x="6568440" y="1527048"/>
            <a:ext cx="4389120" cy="457200"/>
          </a:xfrm>
          <a:prstGeom prst="rect">
            <a:avLst/>
          </a:prstGeom>
          <a:noFill/>
          <a:ln/>
        </p:spPr>
        <p:txBody>
          <a:bodyPr wrap="square" rtlCol="0" anchor="ctr"/>
          <a:lstStyle/>
          <a:p>
            <a:pPr indent="0" marL="0" rtl="1" algn="r">
              <a:buNone/>
            </a:pPr>
            <a:r>
              <a:rPr lang="en-US" sz="1200" dirty="0">
                <a:solidFill>
                  <a:srgbClr val="CFCCC8"/>
                </a:solidFill>
                <a:latin typeface="Calibri" pitchFamily="34" charset="0"/>
                <a:ea typeface="Calibri" pitchFamily="34" charset="-122"/>
                <a:cs typeface="B Nazanin" pitchFamily="34" charset="-120"/>
              </a:rPr>
              <a:t>ضرورت خودکارسازی این اندازه‌گیری</a:t>
            </a:r>
            <a:endParaRPr lang="en-US" sz="1200" dirty="0"/>
          </a:p>
        </p:txBody>
      </p:sp>
      <p:sp>
        <p:nvSpPr>
          <p:cNvPr id="8" name="Shape 6"/>
          <p:cNvSpPr/>
          <p:nvPr/>
        </p:nvSpPr>
        <p:spPr>
          <a:xfrm>
            <a:off x="11140440" y="2404872"/>
            <a:ext cx="502920" cy="502920"/>
          </a:xfrm>
          <a:prstGeom prst="ellipse">
            <a:avLst/>
          </a:prstGeom>
          <a:solidFill>
            <a:srgbClr val="DCD8D4"/>
          </a:solidFill>
          <a:ln/>
        </p:spPr>
      </p:sp>
      <p:sp>
        <p:nvSpPr>
          <p:cNvPr id="9" name="Text 7"/>
          <p:cNvSpPr txBox="1"/>
          <p:nvPr/>
        </p:nvSpPr>
        <p:spPr>
          <a:xfrm>
            <a:off x="11140440" y="2404872"/>
            <a:ext cx="502920" cy="50292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۲</a:t>
            </a:r>
            <a:endParaRPr lang="en-US" sz="2000" dirty="0"/>
          </a:p>
        </p:txBody>
      </p:sp>
      <p:sp>
        <p:nvSpPr>
          <p:cNvPr id="10" name="Text 8"/>
          <p:cNvSpPr txBox="1"/>
          <p:nvPr/>
        </p:nvSpPr>
        <p:spPr>
          <a:xfrm>
            <a:off x="6568440" y="2359152"/>
            <a:ext cx="4389120" cy="365760"/>
          </a:xfrm>
          <a:prstGeom prst="rect">
            <a:avLst/>
          </a:prstGeom>
          <a:noFill/>
          <a:ln/>
        </p:spPr>
        <p:txBody>
          <a:bodyPr wrap="square" rtlCol="0" anchor="ctr"/>
          <a:lstStyle/>
          <a:p>
            <a:pPr indent="0" marL="0" rtl="1" algn="r">
              <a:buNone/>
            </a:pPr>
            <a:r>
              <a:rPr lang="en-US" sz="1600" b="1" dirty="0">
                <a:solidFill>
                  <a:srgbClr val="C3C0BC"/>
                </a:solidFill>
                <a:latin typeface="Cambria" pitchFamily="34" charset="0"/>
                <a:ea typeface="Cambria" pitchFamily="34" charset="-122"/>
                <a:cs typeface="B Titr" pitchFamily="34" charset="-120"/>
              </a:rPr>
              <a:t>هدف و کارهای پیشین</a:t>
            </a:r>
            <a:endParaRPr lang="en-US" sz="1600" dirty="0"/>
          </a:p>
        </p:txBody>
      </p:sp>
      <p:sp>
        <p:nvSpPr>
          <p:cNvPr id="11" name="Text 9"/>
          <p:cNvSpPr txBox="1"/>
          <p:nvPr/>
        </p:nvSpPr>
        <p:spPr>
          <a:xfrm>
            <a:off x="6568440" y="2697480"/>
            <a:ext cx="4389120" cy="457200"/>
          </a:xfrm>
          <a:prstGeom prst="rect">
            <a:avLst/>
          </a:prstGeom>
          <a:noFill/>
          <a:ln/>
        </p:spPr>
        <p:txBody>
          <a:bodyPr wrap="square" rtlCol="0" anchor="ctr"/>
          <a:lstStyle/>
          <a:p>
            <a:pPr indent="0" marL="0" rtl="1" algn="r">
              <a:buNone/>
            </a:pPr>
            <a:r>
              <a:rPr lang="en-US" sz="1200" dirty="0">
                <a:solidFill>
                  <a:srgbClr val="CFCCC8"/>
                </a:solidFill>
                <a:latin typeface="Calibri" pitchFamily="34" charset="0"/>
                <a:ea typeface="Calibri" pitchFamily="34" charset="-122"/>
                <a:cs typeface="B Nazanin" pitchFamily="34" charset="-120"/>
              </a:rPr>
              <a:t>اهداف پژوهش و جایگاه آن در ادبیات</a:t>
            </a:r>
            <a:endParaRPr lang="en-US" sz="1200" dirty="0"/>
          </a:p>
        </p:txBody>
      </p:sp>
      <p:sp>
        <p:nvSpPr>
          <p:cNvPr id="12" name="Shape 10"/>
          <p:cNvSpPr/>
          <p:nvPr/>
        </p:nvSpPr>
        <p:spPr>
          <a:xfrm>
            <a:off x="11140440" y="3575304"/>
            <a:ext cx="502920" cy="502920"/>
          </a:xfrm>
          <a:prstGeom prst="ellipse">
            <a:avLst/>
          </a:prstGeom>
          <a:solidFill>
            <a:srgbClr val="8C1515"/>
          </a:solidFill>
          <a:ln/>
        </p:spPr>
      </p:sp>
      <p:sp>
        <p:nvSpPr>
          <p:cNvPr id="13" name="Text 11"/>
          <p:cNvSpPr txBox="1"/>
          <p:nvPr/>
        </p:nvSpPr>
        <p:spPr>
          <a:xfrm>
            <a:off x="11140440" y="3575304"/>
            <a:ext cx="502920" cy="50292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۳</a:t>
            </a:r>
            <a:endParaRPr lang="en-US" sz="2000" dirty="0"/>
          </a:p>
        </p:txBody>
      </p:sp>
      <p:sp>
        <p:nvSpPr>
          <p:cNvPr id="14" name="Text 12"/>
          <p:cNvSpPr txBox="1"/>
          <p:nvPr/>
        </p:nvSpPr>
        <p:spPr>
          <a:xfrm>
            <a:off x="6568440" y="3529584"/>
            <a:ext cx="4389120" cy="365760"/>
          </a:xfrm>
          <a:prstGeom prst="rect">
            <a:avLst/>
          </a:prstGeom>
          <a:noFill/>
          <a:ln/>
        </p:spPr>
        <p:txBody>
          <a:bodyPr wrap="square" rtlCol="0" anchor="ctr"/>
          <a:lstStyle/>
          <a:p>
            <a:pPr indent="0" marL="0" rtl="1" algn="r">
              <a:buNone/>
            </a:pPr>
            <a:r>
              <a:rPr lang="en-US" sz="1600" b="1" dirty="0">
                <a:solidFill>
                  <a:srgbClr val="2E2D29"/>
                </a:solidFill>
                <a:latin typeface="Cambria" pitchFamily="34" charset="0"/>
                <a:ea typeface="Cambria" pitchFamily="34" charset="-122"/>
                <a:cs typeface="B Titr" pitchFamily="34" charset="-120"/>
              </a:rPr>
              <a:t>روش پیشنهادی</a:t>
            </a:r>
            <a:endParaRPr lang="en-US" sz="1600" dirty="0"/>
          </a:p>
        </p:txBody>
      </p:sp>
      <p:sp>
        <p:nvSpPr>
          <p:cNvPr id="15" name="Text 13"/>
          <p:cNvSpPr txBox="1"/>
          <p:nvPr/>
        </p:nvSpPr>
        <p:spPr>
          <a:xfrm>
            <a:off x="6568440" y="3867912"/>
            <a:ext cx="4389120" cy="457200"/>
          </a:xfrm>
          <a:prstGeom prst="rect">
            <a:avLst/>
          </a:prstGeom>
          <a:noFill/>
          <a:ln/>
        </p:spPr>
        <p:txBody>
          <a:bodyPr wrap="square" rtlCol="0" anchor="ctr"/>
          <a:lstStyle/>
          <a:p>
            <a:pPr indent="0" marL="0" rtl="1" algn="r">
              <a:buNone/>
            </a:pPr>
            <a:r>
              <a:rPr lang="en-US" sz="1200" dirty="0">
                <a:solidFill>
                  <a:srgbClr val="716E69"/>
                </a:solidFill>
                <a:latin typeface="Calibri" pitchFamily="34" charset="0"/>
                <a:ea typeface="Calibri" pitchFamily="34" charset="-122"/>
                <a:cs typeface="B Nazanin" pitchFamily="34" charset="-120"/>
              </a:rPr>
              <a:t>ساختار و مراحل سامانه</a:t>
            </a:r>
            <a:endParaRPr lang="en-US" sz="1200" dirty="0"/>
          </a:p>
        </p:txBody>
      </p:sp>
      <p:sp>
        <p:nvSpPr>
          <p:cNvPr id="16" name="Shape 14"/>
          <p:cNvSpPr/>
          <p:nvPr/>
        </p:nvSpPr>
        <p:spPr>
          <a:xfrm>
            <a:off x="11140440" y="4745736"/>
            <a:ext cx="502920" cy="502920"/>
          </a:xfrm>
          <a:prstGeom prst="ellipse">
            <a:avLst/>
          </a:prstGeom>
          <a:solidFill>
            <a:srgbClr val="DCD8D4"/>
          </a:solidFill>
          <a:ln/>
        </p:spPr>
      </p:sp>
      <p:sp>
        <p:nvSpPr>
          <p:cNvPr id="17" name="Text 15"/>
          <p:cNvSpPr txBox="1"/>
          <p:nvPr/>
        </p:nvSpPr>
        <p:spPr>
          <a:xfrm>
            <a:off x="11140440" y="4745736"/>
            <a:ext cx="502920" cy="50292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۴</a:t>
            </a:r>
            <a:endParaRPr lang="en-US" sz="2000" dirty="0"/>
          </a:p>
        </p:txBody>
      </p:sp>
      <p:sp>
        <p:nvSpPr>
          <p:cNvPr id="18" name="Text 16"/>
          <p:cNvSpPr txBox="1"/>
          <p:nvPr/>
        </p:nvSpPr>
        <p:spPr>
          <a:xfrm>
            <a:off x="6568440" y="4700016"/>
            <a:ext cx="4389120" cy="365760"/>
          </a:xfrm>
          <a:prstGeom prst="rect">
            <a:avLst/>
          </a:prstGeom>
          <a:noFill/>
          <a:ln/>
        </p:spPr>
        <p:txBody>
          <a:bodyPr wrap="square" rtlCol="0" anchor="ctr"/>
          <a:lstStyle/>
          <a:p>
            <a:pPr indent="0" marL="0" rtl="1" algn="r">
              <a:buNone/>
            </a:pPr>
            <a:r>
              <a:rPr lang="en-US" sz="1600" b="1" dirty="0">
                <a:solidFill>
                  <a:srgbClr val="C3C0BC"/>
                </a:solidFill>
                <a:latin typeface="Cambria" pitchFamily="34" charset="0"/>
                <a:ea typeface="Cambria" pitchFamily="34" charset="-122"/>
                <a:cs typeface="B Titr" pitchFamily="34" charset="-120"/>
              </a:rPr>
              <a:t>نتایج</a:t>
            </a:r>
            <a:endParaRPr lang="en-US" sz="1600" dirty="0"/>
          </a:p>
        </p:txBody>
      </p:sp>
      <p:sp>
        <p:nvSpPr>
          <p:cNvPr id="19" name="Text 17"/>
          <p:cNvSpPr txBox="1"/>
          <p:nvPr/>
        </p:nvSpPr>
        <p:spPr>
          <a:xfrm>
            <a:off x="6568440" y="5038344"/>
            <a:ext cx="4389120" cy="457200"/>
          </a:xfrm>
          <a:prstGeom prst="rect">
            <a:avLst/>
          </a:prstGeom>
          <a:noFill/>
          <a:ln/>
        </p:spPr>
        <p:txBody>
          <a:bodyPr wrap="square" rtlCol="0" anchor="ctr"/>
          <a:lstStyle/>
          <a:p>
            <a:pPr indent="0" marL="0" rtl="1" algn="r">
              <a:buNone/>
            </a:pPr>
            <a:r>
              <a:rPr lang="en-US" sz="1200" dirty="0">
                <a:solidFill>
                  <a:srgbClr val="CFCCC8"/>
                </a:solidFill>
                <a:latin typeface="Calibri" pitchFamily="34" charset="0"/>
                <a:ea typeface="Calibri" pitchFamily="34" charset="-122"/>
                <a:cs typeface="B Nazanin" pitchFamily="34" charset="-120"/>
              </a:rPr>
              <a:t>دقت اندازه‌گیری بر روی مجموعه مرجع</a:t>
            </a:r>
            <a:endParaRPr lang="en-US" sz="1200" dirty="0"/>
          </a:p>
        </p:txBody>
      </p:sp>
      <p:sp>
        <p:nvSpPr>
          <p:cNvPr id="20" name="Shape 18"/>
          <p:cNvSpPr/>
          <p:nvPr/>
        </p:nvSpPr>
        <p:spPr>
          <a:xfrm>
            <a:off x="5516880" y="1234440"/>
            <a:ext cx="502920" cy="502920"/>
          </a:xfrm>
          <a:prstGeom prst="ellipse">
            <a:avLst/>
          </a:prstGeom>
          <a:solidFill>
            <a:srgbClr val="DCD8D4"/>
          </a:solidFill>
          <a:ln/>
        </p:spPr>
      </p:sp>
      <p:sp>
        <p:nvSpPr>
          <p:cNvPr id="21" name="Text 19"/>
          <p:cNvSpPr txBox="1"/>
          <p:nvPr/>
        </p:nvSpPr>
        <p:spPr>
          <a:xfrm>
            <a:off x="5516880" y="1234440"/>
            <a:ext cx="502920" cy="50292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۵</a:t>
            </a:r>
            <a:endParaRPr lang="en-US" sz="2000" dirty="0"/>
          </a:p>
        </p:txBody>
      </p:sp>
      <p:sp>
        <p:nvSpPr>
          <p:cNvPr id="22" name="Text 20"/>
          <p:cNvSpPr txBox="1"/>
          <p:nvPr/>
        </p:nvSpPr>
        <p:spPr>
          <a:xfrm>
            <a:off x="944880" y="1188720"/>
            <a:ext cx="4389120" cy="365760"/>
          </a:xfrm>
          <a:prstGeom prst="rect">
            <a:avLst/>
          </a:prstGeom>
          <a:noFill/>
          <a:ln/>
        </p:spPr>
        <p:txBody>
          <a:bodyPr wrap="square" rtlCol="0" anchor="ctr"/>
          <a:lstStyle/>
          <a:p>
            <a:pPr indent="0" marL="0" rtl="1" algn="r">
              <a:buNone/>
            </a:pPr>
            <a:r>
              <a:rPr lang="en-US" sz="1600" b="1" dirty="0">
                <a:solidFill>
                  <a:srgbClr val="C3C0BC"/>
                </a:solidFill>
                <a:latin typeface="Cambria" pitchFamily="34" charset="0"/>
                <a:ea typeface="Cambria" pitchFamily="34" charset="-122"/>
                <a:cs typeface="B Titr" pitchFamily="34" charset="-120"/>
              </a:rPr>
              <a:t>تفسیر بالینی</a:t>
            </a:r>
            <a:endParaRPr lang="en-US" sz="1600" dirty="0"/>
          </a:p>
        </p:txBody>
      </p:sp>
      <p:sp>
        <p:nvSpPr>
          <p:cNvPr id="23" name="Text 21"/>
          <p:cNvSpPr txBox="1"/>
          <p:nvPr/>
        </p:nvSpPr>
        <p:spPr>
          <a:xfrm>
            <a:off x="944880" y="1527048"/>
            <a:ext cx="4389120" cy="457200"/>
          </a:xfrm>
          <a:prstGeom prst="rect">
            <a:avLst/>
          </a:prstGeom>
          <a:noFill/>
          <a:ln/>
        </p:spPr>
        <p:txBody>
          <a:bodyPr wrap="square" rtlCol="0" anchor="ctr"/>
          <a:lstStyle/>
          <a:p>
            <a:pPr indent="0" marL="0" rtl="1" algn="r">
              <a:buNone/>
            </a:pPr>
            <a:r>
              <a:rPr lang="en-US" sz="1200" dirty="0">
                <a:solidFill>
                  <a:srgbClr val="CFCCC8"/>
                </a:solidFill>
                <a:latin typeface="Calibri" pitchFamily="34" charset="0"/>
                <a:ea typeface="Calibri" pitchFamily="34" charset="-122"/>
                <a:cs typeface="B Nazanin" pitchFamily="34" charset="-120"/>
              </a:rPr>
              <a:t>معنای دقت به‌دست‌آمده برای تصمیم درمانی</a:t>
            </a:r>
            <a:endParaRPr lang="en-US" sz="1200" dirty="0"/>
          </a:p>
        </p:txBody>
      </p:sp>
      <p:sp>
        <p:nvSpPr>
          <p:cNvPr id="24" name="Shape 22"/>
          <p:cNvSpPr/>
          <p:nvPr/>
        </p:nvSpPr>
        <p:spPr>
          <a:xfrm>
            <a:off x="5516880" y="2404872"/>
            <a:ext cx="502920" cy="502920"/>
          </a:xfrm>
          <a:prstGeom prst="ellipse">
            <a:avLst/>
          </a:prstGeom>
          <a:solidFill>
            <a:srgbClr val="DCD8D4"/>
          </a:solidFill>
          <a:ln/>
        </p:spPr>
      </p:sp>
      <p:sp>
        <p:nvSpPr>
          <p:cNvPr id="25" name="Text 23"/>
          <p:cNvSpPr txBox="1"/>
          <p:nvPr/>
        </p:nvSpPr>
        <p:spPr>
          <a:xfrm>
            <a:off x="5516880" y="2404872"/>
            <a:ext cx="502920" cy="50292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۶</a:t>
            </a:r>
            <a:endParaRPr lang="en-US" sz="2000" dirty="0"/>
          </a:p>
        </p:txBody>
      </p:sp>
      <p:sp>
        <p:nvSpPr>
          <p:cNvPr id="26" name="Text 24"/>
          <p:cNvSpPr txBox="1"/>
          <p:nvPr/>
        </p:nvSpPr>
        <p:spPr>
          <a:xfrm>
            <a:off x="944880" y="2359152"/>
            <a:ext cx="4389120" cy="365760"/>
          </a:xfrm>
          <a:prstGeom prst="rect">
            <a:avLst/>
          </a:prstGeom>
          <a:noFill/>
          <a:ln/>
        </p:spPr>
        <p:txBody>
          <a:bodyPr wrap="square" rtlCol="0" anchor="ctr"/>
          <a:lstStyle/>
          <a:p>
            <a:pPr indent="0" marL="0" rtl="1" algn="r">
              <a:buNone/>
            </a:pPr>
            <a:r>
              <a:rPr lang="en-US" sz="1600" b="1" dirty="0">
                <a:solidFill>
                  <a:srgbClr val="C3C0BC"/>
                </a:solidFill>
                <a:latin typeface="Cambria" pitchFamily="34" charset="0"/>
                <a:ea typeface="Cambria" pitchFamily="34" charset="-122"/>
                <a:cs typeface="B Titr" pitchFamily="34" charset="-120"/>
              </a:rPr>
              <a:t>یافته اصلی</a:t>
            </a:r>
            <a:endParaRPr lang="en-US" sz="1600" dirty="0"/>
          </a:p>
        </p:txBody>
      </p:sp>
      <p:sp>
        <p:nvSpPr>
          <p:cNvPr id="27" name="Text 25"/>
          <p:cNvSpPr txBox="1"/>
          <p:nvPr/>
        </p:nvSpPr>
        <p:spPr>
          <a:xfrm>
            <a:off x="944880" y="2697480"/>
            <a:ext cx="4389120" cy="457200"/>
          </a:xfrm>
          <a:prstGeom prst="rect">
            <a:avLst/>
          </a:prstGeom>
          <a:noFill/>
          <a:ln/>
        </p:spPr>
        <p:txBody>
          <a:bodyPr wrap="square" rtlCol="0" anchor="ctr"/>
          <a:lstStyle/>
          <a:p>
            <a:pPr indent="0" marL="0" rtl="1" algn="r">
              <a:buNone/>
            </a:pPr>
            <a:r>
              <a:rPr lang="en-US" sz="1200" dirty="0">
                <a:solidFill>
                  <a:srgbClr val="CFCCC8"/>
                </a:solidFill>
                <a:latin typeface="Calibri" pitchFamily="34" charset="0"/>
                <a:ea typeface="Calibri" pitchFamily="34" charset="-122"/>
                <a:cs typeface="B Nazanin" pitchFamily="34" charset="-120"/>
              </a:rPr>
              <a:t>علت خطای باقی‌مانده</a:t>
            </a:r>
            <a:endParaRPr lang="en-US" sz="1200" dirty="0"/>
          </a:p>
        </p:txBody>
      </p:sp>
      <p:sp>
        <p:nvSpPr>
          <p:cNvPr id="28" name="Shape 26"/>
          <p:cNvSpPr/>
          <p:nvPr/>
        </p:nvSpPr>
        <p:spPr>
          <a:xfrm>
            <a:off x="5516880" y="3575304"/>
            <a:ext cx="502920" cy="502920"/>
          </a:xfrm>
          <a:prstGeom prst="ellipse">
            <a:avLst/>
          </a:prstGeom>
          <a:solidFill>
            <a:srgbClr val="DCD8D4"/>
          </a:solidFill>
          <a:ln/>
        </p:spPr>
      </p:sp>
      <p:sp>
        <p:nvSpPr>
          <p:cNvPr id="29" name="Text 27"/>
          <p:cNvSpPr txBox="1"/>
          <p:nvPr/>
        </p:nvSpPr>
        <p:spPr>
          <a:xfrm>
            <a:off x="5516880" y="3575304"/>
            <a:ext cx="502920" cy="50292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۷</a:t>
            </a:r>
            <a:endParaRPr lang="en-US" sz="2000" dirty="0"/>
          </a:p>
        </p:txBody>
      </p:sp>
      <p:sp>
        <p:nvSpPr>
          <p:cNvPr id="30" name="Text 28"/>
          <p:cNvSpPr txBox="1"/>
          <p:nvPr/>
        </p:nvSpPr>
        <p:spPr>
          <a:xfrm>
            <a:off x="944880" y="3529584"/>
            <a:ext cx="4389120" cy="365760"/>
          </a:xfrm>
          <a:prstGeom prst="rect">
            <a:avLst/>
          </a:prstGeom>
          <a:noFill/>
          <a:ln/>
        </p:spPr>
        <p:txBody>
          <a:bodyPr wrap="square" rtlCol="0" anchor="ctr"/>
          <a:lstStyle/>
          <a:p>
            <a:pPr indent="0" marL="0" rtl="1" algn="r">
              <a:buNone/>
            </a:pPr>
            <a:r>
              <a:rPr lang="en-US" sz="1600" b="1" dirty="0">
                <a:solidFill>
                  <a:srgbClr val="C3C0BC"/>
                </a:solidFill>
                <a:latin typeface="Cambria" pitchFamily="34" charset="0"/>
                <a:ea typeface="Cambria" pitchFamily="34" charset="-122"/>
                <a:cs typeface="B Titr" pitchFamily="34" charset="-120"/>
              </a:rPr>
              <a:t>محدودیت‌ها و جمع‌بندی</a:t>
            </a:r>
            <a:endParaRPr lang="en-US" sz="1600" dirty="0"/>
          </a:p>
        </p:txBody>
      </p:sp>
      <p:sp>
        <p:nvSpPr>
          <p:cNvPr id="31" name="Text 29"/>
          <p:cNvSpPr txBox="1"/>
          <p:nvPr/>
        </p:nvSpPr>
        <p:spPr>
          <a:xfrm>
            <a:off x="944880" y="3867912"/>
            <a:ext cx="4389120" cy="457200"/>
          </a:xfrm>
          <a:prstGeom prst="rect">
            <a:avLst/>
          </a:prstGeom>
          <a:noFill/>
          <a:ln/>
        </p:spPr>
        <p:txBody>
          <a:bodyPr wrap="square" rtlCol="0" anchor="ctr"/>
          <a:lstStyle/>
          <a:p>
            <a:pPr indent="0" marL="0" rtl="1" algn="r">
              <a:buNone/>
            </a:pPr>
            <a:r>
              <a:rPr lang="en-US" sz="1200" dirty="0">
                <a:solidFill>
                  <a:srgbClr val="CFCCC8"/>
                </a:solidFill>
                <a:latin typeface="Calibri" pitchFamily="34" charset="0"/>
                <a:ea typeface="Calibri" pitchFamily="34" charset="-122"/>
                <a:cs typeface="B Nazanin" pitchFamily="34" charset="-120"/>
              </a:rPr>
              <a:t>محدودیت‌ها، دستاوردها و کار آینده</a:t>
            </a:r>
            <a:endParaRPr lang="en-US" sz="1200" dirty="0"/>
          </a:p>
        </p:txBody>
      </p:sp>
      <p:sp>
        <p:nvSpPr>
          <p:cNvPr id="32" name="Text 30"/>
          <p:cNvSpPr txBox="1"/>
          <p:nvPr/>
        </p:nvSpPr>
        <p:spPr>
          <a:xfrm>
            <a:off x="4328160" y="6473952"/>
            <a:ext cx="7315200" cy="274320"/>
          </a:xfrm>
          <a:prstGeom prst="rect">
            <a:avLst/>
          </a:prstGeom>
          <a:noFill/>
          <a:ln/>
        </p:spPr>
        <p:txBody>
          <a:bodyPr wrap="square" rtlCol="0" anchor="ctr"/>
          <a:lstStyle/>
          <a:p>
            <a:pPr indent="0" marL="0" rtl="1" algn="r">
              <a:buNone/>
            </a:pPr>
            <a:r>
              <a:rPr lang="en-US" sz="900" spc="200" kern="0" dirty="0">
                <a:solidFill>
                  <a:srgbClr val="716E69"/>
                </a:solidFill>
                <a:latin typeface="Calibri" pitchFamily="34" charset="0"/>
                <a:ea typeface="Calibri" pitchFamily="34" charset="-122"/>
                <a:cs typeface="B Nazanin" pitchFamily="34" charset="-120"/>
              </a:rPr>
              <a:t>روش پیشنهادی</a:t>
            </a:r>
            <a:endParaRPr lang="en-US" sz="900" dirty="0"/>
          </a:p>
        </p:txBody>
      </p:sp>
      <p:sp>
        <p:nvSpPr>
          <p:cNvPr id="33" name="Text 31"/>
          <p:cNvSpPr txBox="1"/>
          <p:nvPr/>
        </p:nvSpPr>
        <p:spPr>
          <a:xfrm>
            <a:off x="185928" y="6473952"/>
            <a:ext cx="457200" cy="274320"/>
          </a:xfrm>
          <a:prstGeom prst="rect">
            <a:avLst/>
          </a:prstGeom>
          <a:noFill/>
          <a:ln/>
        </p:spPr>
        <p:txBody>
          <a:bodyPr wrap="square" rtlCol="0" anchor="ctr"/>
          <a:lstStyle/>
          <a:p>
            <a:pPr algn="r" indent="0" marL="0" rtl="1">
              <a:buNone/>
            </a:pPr>
            <a:r>
              <a:rPr lang="en-US" sz="900" dirty="0">
                <a:solidFill>
                  <a:srgbClr val="716E69"/>
                </a:solidFill>
                <a:latin typeface="Calibri" pitchFamily="34" charset="0"/>
                <a:ea typeface="Calibri" pitchFamily="34" charset="-122"/>
                <a:cs typeface="B Nazanin" pitchFamily="34" charset="-120"/>
              </a:rPr>
              <a:t>۸ / ۲۴</a:t>
            </a:r>
            <a:endParaRPr lang="en-US" sz="900" dirty="0"/>
          </a:p>
        </p:txBody>
      </p:sp>
      <p:sp>
        <p:nvSpPr>
          <p:cNvPr id="9001" name="progress track"/>
          <p:cNvSpPr/>
          <p:nvPr/>
        </p:nvSpPr>
        <p:spPr>
          <a:xfrm>
            <a:off x="0" y="6803000"/>
            <a:ext cx="12192000" cy="55000"/>
          </a:xfrm>
          <a:prstGeom prst="rect">
            <a:avLst/>
          </a:prstGeom>
          <a:solidFill>
            <a:srgbClr val="EDE9E5"/>
          </a:solidFill>
          <a:ln>
            <a:noFill/>
          </a:ln>
        </p:spPr>
        <p:txBody>
          <a:bodyPr/>
          <a:lstStyle/>
          <a:p/>
        </p:txBody>
      </p:sp>
      <p:sp>
        <p:nvSpPr>
          <p:cNvPr id="9002" name="progress fill"/>
          <p:cNvSpPr/>
          <p:nvPr/>
        </p:nvSpPr>
        <p:spPr>
          <a:xfrm>
            <a:off x="8128000" y="6803000"/>
            <a:ext cx="4064000" cy="55000"/>
          </a:xfrm>
          <a:prstGeom prst="rect">
            <a:avLst/>
          </a:prstGeom>
          <a:solidFill>
            <a:srgbClr val="8C1515"/>
          </a:solidFill>
          <a:ln>
            <a:noFill/>
          </a:ln>
        </p:spPr>
        <p:txBody>
          <a:bodyPr/>
          <a:lstStyle/>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11442192" y="475488"/>
            <a:ext cx="201168" cy="201168"/>
          </a:xfrm>
          <a:prstGeom prst="ellipse">
            <a:avLst/>
          </a:prstGeom>
          <a:solidFill>
            <a:srgbClr val="E98300"/>
          </a:solidFill>
          <a:ln/>
        </p:spPr>
      </p:sp>
      <p:sp>
        <p:nvSpPr>
          <p:cNvPr id="3" name="Text 1"/>
          <p:cNvSpPr txBox="1"/>
          <p:nvPr/>
        </p:nvSpPr>
        <p:spPr>
          <a:xfrm>
            <a:off x="1694688" y="347472"/>
            <a:ext cx="9601200" cy="502920"/>
          </a:xfrm>
          <a:prstGeom prst="rect">
            <a:avLst/>
          </a:prstGeom>
          <a:noFill/>
          <a:ln/>
        </p:spPr>
        <p:txBody>
          <a:bodyPr wrap="square" rtlCol="0" anchor="ctr"/>
          <a:lstStyle/>
          <a:p>
            <a:pPr indent="0" marL="0" rtl="1" algn="r">
              <a:buNone/>
            </a:pPr>
            <a:r>
              <a:rPr lang="en-US" sz="3000" b="1" dirty="0">
                <a:solidFill>
                  <a:srgbClr val="8C1515"/>
                </a:solidFill>
                <a:latin typeface="Cambria" pitchFamily="34" charset="0"/>
                <a:ea typeface="Cambria" pitchFamily="34" charset="-122"/>
                <a:cs typeface="B Titr" pitchFamily="34" charset="-120"/>
              </a:rPr>
              <a:t>بخش ۴ از ۷ — حدود ۱۱ دقیقه و ۳۰ ثانیه تا پایان</a:t>
            </a:r>
            <a:endParaRPr lang="en-US" sz="3000" dirty="0"/>
          </a:p>
        </p:txBody>
      </p:sp>
      <p:sp>
        <p:nvSpPr>
          <p:cNvPr id="4" name="Shape 2"/>
          <p:cNvSpPr/>
          <p:nvPr/>
        </p:nvSpPr>
        <p:spPr>
          <a:xfrm>
            <a:off x="11140440" y="1234440"/>
            <a:ext cx="502920" cy="502920"/>
          </a:xfrm>
          <a:prstGeom prst="ellipse">
            <a:avLst/>
          </a:prstGeom>
          <a:solidFill>
            <a:srgbClr val="DCD8D4"/>
          </a:solidFill>
          <a:ln/>
        </p:spPr>
      </p:sp>
      <p:sp>
        <p:nvSpPr>
          <p:cNvPr id="5" name="Text 3"/>
          <p:cNvSpPr txBox="1"/>
          <p:nvPr/>
        </p:nvSpPr>
        <p:spPr>
          <a:xfrm>
            <a:off x="11140440" y="1234440"/>
            <a:ext cx="502920" cy="50292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۱</a:t>
            </a:r>
            <a:endParaRPr lang="en-US" sz="2000" dirty="0"/>
          </a:p>
        </p:txBody>
      </p:sp>
      <p:sp>
        <p:nvSpPr>
          <p:cNvPr id="6" name="Text 4"/>
          <p:cNvSpPr txBox="1"/>
          <p:nvPr/>
        </p:nvSpPr>
        <p:spPr>
          <a:xfrm>
            <a:off x="6568440" y="1188720"/>
            <a:ext cx="4389120" cy="365760"/>
          </a:xfrm>
          <a:prstGeom prst="rect">
            <a:avLst/>
          </a:prstGeom>
          <a:noFill/>
          <a:ln/>
        </p:spPr>
        <p:txBody>
          <a:bodyPr wrap="square" rtlCol="0" anchor="ctr"/>
          <a:lstStyle/>
          <a:p>
            <a:pPr indent="0" marL="0" rtl="1" algn="r">
              <a:buNone/>
            </a:pPr>
            <a:r>
              <a:rPr lang="en-US" sz="1600" b="1" dirty="0">
                <a:solidFill>
                  <a:srgbClr val="C3C0BC"/>
                </a:solidFill>
                <a:latin typeface="Cambria" pitchFamily="34" charset="0"/>
                <a:ea typeface="Cambria" pitchFamily="34" charset="-122"/>
                <a:cs typeface="B Titr" pitchFamily="34" charset="-120"/>
              </a:rPr>
              <a:t>مسئله و انگیزه</a:t>
            </a:r>
            <a:endParaRPr lang="en-US" sz="1600" dirty="0"/>
          </a:p>
        </p:txBody>
      </p:sp>
      <p:sp>
        <p:nvSpPr>
          <p:cNvPr id="7" name="Text 5"/>
          <p:cNvSpPr txBox="1"/>
          <p:nvPr/>
        </p:nvSpPr>
        <p:spPr>
          <a:xfrm>
            <a:off x="6568440" y="1527048"/>
            <a:ext cx="4389120" cy="457200"/>
          </a:xfrm>
          <a:prstGeom prst="rect">
            <a:avLst/>
          </a:prstGeom>
          <a:noFill/>
          <a:ln/>
        </p:spPr>
        <p:txBody>
          <a:bodyPr wrap="square" rtlCol="0" anchor="ctr"/>
          <a:lstStyle/>
          <a:p>
            <a:pPr indent="0" marL="0" rtl="1" algn="r">
              <a:buNone/>
            </a:pPr>
            <a:r>
              <a:rPr lang="en-US" sz="1200" dirty="0">
                <a:solidFill>
                  <a:srgbClr val="CFCCC8"/>
                </a:solidFill>
                <a:latin typeface="Calibri" pitchFamily="34" charset="0"/>
                <a:ea typeface="Calibri" pitchFamily="34" charset="-122"/>
                <a:cs typeface="B Nazanin" pitchFamily="34" charset="-120"/>
              </a:rPr>
              <a:t>ضرورت خودکارسازی این اندازه‌گیری</a:t>
            </a:r>
            <a:endParaRPr lang="en-US" sz="1200" dirty="0"/>
          </a:p>
        </p:txBody>
      </p:sp>
      <p:sp>
        <p:nvSpPr>
          <p:cNvPr id="8" name="Shape 6"/>
          <p:cNvSpPr/>
          <p:nvPr/>
        </p:nvSpPr>
        <p:spPr>
          <a:xfrm>
            <a:off x="11140440" y="2404872"/>
            <a:ext cx="502920" cy="502920"/>
          </a:xfrm>
          <a:prstGeom prst="ellipse">
            <a:avLst/>
          </a:prstGeom>
          <a:solidFill>
            <a:srgbClr val="DCD8D4"/>
          </a:solidFill>
          <a:ln/>
        </p:spPr>
      </p:sp>
      <p:sp>
        <p:nvSpPr>
          <p:cNvPr id="9" name="Text 7"/>
          <p:cNvSpPr txBox="1"/>
          <p:nvPr/>
        </p:nvSpPr>
        <p:spPr>
          <a:xfrm>
            <a:off x="11140440" y="2404872"/>
            <a:ext cx="502920" cy="50292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۲</a:t>
            </a:r>
            <a:endParaRPr lang="en-US" sz="2000" dirty="0"/>
          </a:p>
        </p:txBody>
      </p:sp>
      <p:sp>
        <p:nvSpPr>
          <p:cNvPr id="10" name="Text 8"/>
          <p:cNvSpPr txBox="1"/>
          <p:nvPr/>
        </p:nvSpPr>
        <p:spPr>
          <a:xfrm>
            <a:off x="6568440" y="2359152"/>
            <a:ext cx="4389120" cy="365760"/>
          </a:xfrm>
          <a:prstGeom prst="rect">
            <a:avLst/>
          </a:prstGeom>
          <a:noFill/>
          <a:ln/>
        </p:spPr>
        <p:txBody>
          <a:bodyPr wrap="square" rtlCol="0" anchor="ctr"/>
          <a:lstStyle/>
          <a:p>
            <a:pPr indent="0" marL="0" rtl="1" algn="r">
              <a:buNone/>
            </a:pPr>
            <a:r>
              <a:rPr lang="en-US" sz="1600" b="1" dirty="0">
                <a:solidFill>
                  <a:srgbClr val="C3C0BC"/>
                </a:solidFill>
                <a:latin typeface="Cambria" pitchFamily="34" charset="0"/>
                <a:ea typeface="Cambria" pitchFamily="34" charset="-122"/>
                <a:cs typeface="B Titr" pitchFamily="34" charset="-120"/>
              </a:rPr>
              <a:t>هدف و کارهای پیشین</a:t>
            </a:r>
            <a:endParaRPr lang="en-US" sz="1600" dirty="0"/>
          </a:p>
        </p:txBody>
      </p:sp>
      <p:sp>
        <p:nvSpPr>
          <p:cNvPr id="11" name="Text 9"/>
          <p:cNvSpPr txBox="1"/>
          <p:nvPr/>
        </p:nvSpPr>
        <p:spPr>
          <a:xfrm>
            <a:off x="6568440" y="2697480"/>
            <a:ext cx="4389120" cy="457200"/>
          </a:xfrm>
          <a:prstGeom prst="rect">
            <a:avLst/>
          </a:prstGeom>
          <a:noFill/>
          <a:ln/>
        </p:spPr>
        <p:txBody>
          <a:bodyPr wrap="square" rtlCol="0" anchor="ctr"/>
          <a:lstStyle/>
          <a:p>
            <a:pPr indent="0" marL="0" rtl="1" algn="r">
              <a:buNone/>
            </a:pPr>
            <a:r>
              <a:rPr lang="en-US" sz="1200" dirty="0">
                <a:solidFill>
                  <a:srgbClr val="CFCCC8"/>
                </a:solidFill>
                <a:latin typeface="Calibri" pitchFamily="34" charset="0"/>
                <a:ea typeface="Calibri" pitchFamily="34" charset="-122"/>
                <a:cs typeface="B Nazanin" pitchFamily="34" charset="-120"/>
              </a:rPr>
              <a:t>اهداف پژوهش و جایگاه آن در ادبیات</a:t>
            </a:r>
            <a:endParaRPr lang="en-US" sz="1200" dirty="0"/>
          </a:p>
        </p:txBody>
      </p:sp>
      <p:sp>
        <p:nvSpPr>
          <p:cNvPr id="12" name="Shape 10"/>
          <p:cNvSpPr/>
          <p:nvPr/>
        </p:nvSpPr>
        <p:spPr>
          <a:xfrm>
            <a:off x="11140440" y="3575304"/>
            <a:ext cx="502920" cy="502920"/>
          </a:xfrm>
          <a:prstGeom prst="ellipse">
            <a:avLst/>
          </a:prstGeom>
          <a:solidFill>
            <a:srgbClr val="DCD8D4"/>
          </a:solidFill>
          <a:ln/>
        </p:spPr>
      </p:sp>
      <p:sp>
        <p:nvSpPr>
          <p:cNvPr id="13" name="Text 11"/>
          <p:cNvSpPr txBox="1"/>
          <p:nvPr/>
        </p:nvSpPr>
        <p:spPr>
          <a:xfrm>
            <a:off x="11140440" y="3575304"/>
            <a:ext cx="502920" cy="50292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۳</a:t>
            </a:r>
            <a:endParaRPr lang="en-US" sz="2000" dirty="0"/>
          </a:p>
        </p:txBody>
      </p:sp>
      <p:sp>
        <p:nvSpPr>
          <p:cNvPr id="14" name="Text 12"/>
          <p:cNvSpPr txBox="1"/>
          <p:nvPr/>
        </p:nvSpPr>
        <p:spPr>
          <a:xfrm>
            <a:off x="6568440" y="3529584"/>
            <a:ext cx="4389120" cy="365760"/>
          </a:xfrm>
          <a:prstGeom prst="rect">
            <a:avLst/>
          </a:prstGeom>
          <a:noFill/>
          <a:ln/>
        </p:spPr>
        <p:txBody>
          <a:bodyPr wrap="square" rtlCol="0" anchor="ctr"/>
          <a:lstStyle/>
          <a:p>
            <a:pPr indent="0" marL="0" rtl="1" algn="r">
              <a:buNone/>
            </a:pPr>
            <a:r>
              <a:rPr lang="en-US" sz="1600" b="1" dirty="0">
                <a:solidFill>
                  <a:srgbClr val="C3C0BC"/>
                </a:solidFill>
                <a:latin typeface="Cambria" pitchFamily="34" charset="0"/>
                <a:ea typeface="Cambria" pitchFamily="34" charset="-122"/>
                <a:cs typeface="B Titr" pitchFamily="34" charset="-120"/>
              </a:rPr>
              <a:t>روش پیشنهادی</a:t>
            </a:r>
            <a:endParaRPr lang="en-US" sz="1600" dirty="0"/>
          </a:p>
        </p:txBody>
      </p:sp>
      <p:sp>
        <p:nvSpPr>
          <p:cNvPr id="15" name="Text 13"/>
          <p:cNvSpPr txBox="1"/>
          <p:nvPr/>
        </p:nvSpPr>
        <p:spPr>
          <a:xfrm>
            <a:off x="6568440" y="3867912"/>
            <a:ext cx="4389120" cy="457200"/>
          </a:xfrm>
          <a:prstGeom prst="rect">
            <a:avLst/>
          </a:prstGeom>
          <a:noFill/>
          <a:ln/>
        </p:spPr>
        <p:txBody>
          <a:bodyPr wrap="square" rtlCol="0" anchor="ctr"/>
          <a:lstStyle/>
          <a:p>
            <a:pPr indent="0" marL="0" rtl="1" algn="r">
              <a:buNone/>
            </a:pPr>
            <a:r>
              <a:rPr lang="en-US" sz="1200" dirty="0">
                <a:solidFill>
                  <a:srgbClr val="CFCCC8"/>
                </a:solidFill>
                <a:latin typeface="Calibri" pitchFamily="34" charset="0"/>
                <a:ea typeface="Calibri" pitchFamily="34" charset="-122"/>
                <a:cs typeface="B Nazanin" pitchFamily="34" charset="-120"/>
              </a:rPr>
              <a:t>ساختار و مراحل سامانه</a:t>
            </a:r>
            <a:endParaRPr lang="en-US" sz="1200" dirty="0"/>
          </a:p>
        </p:txBody>
      </p:sp>
      <p:sp>
        <p:nvSpPr>
          <p:cNvPr id="16" name="Shape 14"/>
          <p:cNvSpPr/>
          <p:nvPr/>
        </p:nvSpPr>
        <p:spPr>
          <a:xfrm>
            <a:off x="11140440" y="4745736"/>
            <a:ext cx="502920" cy="502920"/>
          </a:xfrm>
          <a:prstGeom prst="ellipse">
            <a:avLst/>
          </a:prstGeom>
          <a:solidFill>
            <a:srgbClr val="E98300"/>
          </a:solidFill>
          <a:ln/>
        </p:spPr>
      </p:sp>
      <p:sp>
        <p:nvSpPr>
          <p:cNvPr id="17" name="Text 15"/>
          <p:cNvSpPr txBox="1"/>
          <p:nvPr/>
        </p:nvSpPr>
        <p:spPr>
          <a:xfrm>
            <a:off x="11140440" y="4745736"/>
            <a:ext cx="502920" cy="50292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۴</a:t>
            </a:r>
            <a:endParaRPr lang="en-US" sz="2000" dirty="0"/>
          </a:p>
        </p:txBody>
      </p:sp>
      <p:sp>
        <p:nvSpPr>
          <p:cNvPr id="18" name="Text 16"/>
          <p:cNvSpPr txBox="1"/>
          <p:nvPr/>
        </p:nvSpPr>
        <p:spPr>
          <a:xfrm>
            <a:off x="6568440" y="4700016"/>
            <a:ext cx="4389120" cy="365760"/>
          </a:xfrm>
          <a:prstGeom prst="rect">
            <a:avLst/>
          </a:prstGeom>
          <a:noFill/>
          <a:ln/>
        </p:spPr>
        <p:txBody>
          <a:bodyPr wrap="square" rtlCol="0" anchor="ctr"/>
          <a:lstStyle/>
          <a:p>
            <a:pPr indent="0" marL="0" rtl="1" algn="r">
              <a:buNone/>
            </a:pPr>
            <a:r>
              <a:rPr lang="en-US" sz="1600" b="1" dirty="0">
                <a:solidFill>
                  <a:srgbClr val="2E2D29"/>
                </a:solidFill>
                <a:latin typeface="Cambria" pitchFamily="34" charset="0"/>
                <a:ea typeface="Cambria" pitchFamily="34" charset="-122"/>
                <a:cs typeface="B Titr" pitchFamily="34" charset="-120"/>
              </a:rPr>
              <a:t>نتایج</a:t>
            </a:r>
            <a:endParaRPr lang="en-US" sz="1600" dirty="0"/>
          </a:p>
        </p:txBody>
      </p:sp>
      <p:sp>
        <p:nvSpPr>
          <p:cNvPr id="19" name="Text 17"/>
          <p:cNvSpPr txBox="1"/>
          <p:nvPr/>
        </p:nvSpPr>
        <p:spPr>
          <a:xfrm>
            <a:off x="6568440" y="5038344"/>
            <a:ext cx="4389120" cy="457200"/>
          </a:xfrm>
          <a:prstGeom prst="rect">
            <a:avLst/>
          </a:prstGeom>
          <a:noFill/>
          <a:ln/>
        </p:spPr>
        <p:txBody>
          <a:bodyPr wrap="square" rtlCol="0" anchor="ctr"/>
          <a:lstStyle/>
          <a:p>
            <a:pPr indent="0" marL="0" rtl="1" algn="r">
              <a:buNone/>
            </a:pPr>
            <a:r>
              <a:rPr lang="en-US" sz="1200" dirty="0">
                <a:solidFill>
                  <a:srgbClr val="716E69"/>
                </a:solidFill>
                <a:latin typeface="Calibri" pitchFamily="34" charset="0"/>
                <a:ea typeface="Calibri" pitchFamily="34" charset="-122"/>
                <a:cs typeface="B Nazanin" pitchFamily="34" charset="-120"/>
              </a:rPr>
              <a:t>دقت اندازه‌گیری بر روی مجموعه مرجع</a:t>
            </a:r>
            <a:endParaRPr lang="en-US" sz="1200" dirty="0"/>
          </a:p>
        </p:txBody>
      </p:sp>
      <p:sp>
        <p:nvSpPr>
          <p:cNvPr id="20" name="Shape 18"/>
          <p:cNvSpPr/>
          <p:nvPr/>
        </p:nvSpPr>
        <p:spPr>
          <a:xfrm>
            <a:off x="5516880" y="1234440"/>
            <a:ext cx="502920" cy="502920"/>
          </a:xfrm>
          <a:prstGeom prst="ellipse">
            <a:avLst/>
          </a:prstGeom>
          <a:solidFill>
            <a:srgbClr val="DCD8D4"/>
          </a:solidFill>
          <a:ln/>
        </p:spPr>
      </p:sp>
      <p:sp>
        <p:nvSpPr>
          <p:cNvPr id="21" name="Text 19"/>
          <p:cNvSpPr txBox="1"/>
          <p:nvPr/>
        </p:nvSpPr>
        <p:spPr>
          <a:xfrm>
            <a:off x="5516880" y="1234440"/>
            <a:ext cx="502920" cy="50292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۵</a:t>
            </a:r>
            <a:endParaRPr lang="en-US" sz="2000" dirty="0"/>
          </a:p>
        </p:txBody>
      </p:sp>
      <p:sp>
        <p:nvSpPr>
          <p:cNvPr id="22" name="Text 20"/>
          <p:cNvSpPr txBox="1"/>
          <p:nvPr/>
        </p:nvSpPr>
        <p:spPr>
          <a:xfrm>
            <a:off x="944880" y="1188720"/>
            <a:ext cx="4389120" cy="365760"/>
          </a:xfrm>
          <a:prstGeom prst="rect">
            <a:avLst/>
          </a:prstGeom>
          <a:noFill/>
          <a:ln/>
        </p:spPr>
        <p:txBody>
          <a:bodyPr wrap="square" rtlCol="0" anchor="ctr"/>
          <a:lstStyle/>
          <a:p>
            <a:pPr indent="0" marL="0" rtl="1" algn="r">
              <a:buNone/>
            </a:pPr>
            <a:r>
              <a:rPr lang="en-US" sz="1600" b="1" dirty="0">
                <a:solidFill>
                  <a:srgbClr val="C3C0BC"/>
                </a:solidFill>
                <a:latin typeface="Cambria" pitchFamily="34" charset="0"/>
                <a:ea typeface="Cambria" pitchFamily="34" charset="-122"/>
                <a:cs typeface="B Titr" pitchFamily="34" charset="-120"/>
              </a:rPr>
              <a:t>تفسیر بالینی</a:t>
            </a:r>
            <a:endParaRPr lang="en-US" sz="1600" dirty="0"/>
          </a:p>
        </p:txBody>
      </p:sp>
      <p:sp>
        <p:nvSpPr>
          <p:cNvPr id="23" name="Text 21"/>
          <p:cNvSpPr txBox="1"/>
          <p:nvPr/>
        </p:nvSpPr>
        <p:spPr>
          <a:xfrm>
            <a:off x="944880" y="1527048"/>
            <a:ext cx="4389120" cy="457200"/>
          </a:xfrm>
          <a:prstGeom prst="rect">
            <a:avLst/>
          </a:prstGeom>
          <a:noFill/>
          <a:ln/>
        </p:spPr>
        <p:txBody>
          <a:bodyPr wrap="square" rtlCol="0" anchor="ctr"/>
          <a:lstStyle/>
          <a:p>
            <a:pPr indent="0" marL="0" rtl="1" algn="r">
              <a:buNone/>
            </a:pPr>
            <a:r>
              <a:rPr lang="en-US" sz="1200" dirty="0">
                <a:solidFill>
                  <a:srgbClr val="CFCCC8"/>
                </a:solidFill>
                <a:latin typeface="Calibri" pitchFamily="34" charset="0"/>
                <a:ea typeface="Calibri" pitchFamily="34" charset="-122"/>
                <a:cs typeface="B Nazanin" pitchFamily="34" charset="-120"/>
              </a:rPr>
              <a:t>معنای دقت به‌دست‌آمده برای تصمیم درمانی</a:t>
            </a:r>
            <a:endParaRPr lang="en-US" sz="1200" dirty="0"/>
          </a:p>
        </p:txBody>
      </p:sp>
      <p:sp>
        <p:nvSpPr>
          <p:cNvPr id="24" name="Shape 22"/>
          <p:cNvSpPr/>
          <p:nvPr/>
        </p:nvSpPr>
        <p:spPr>
          <a:xfrm>
            <a:off x="5516880" y="2404872"/>
            <a:ext cx="502920" cy="502920"/>
          </a:xfrm>
          <a:prstGeom prst="ellipse">
            <a:avLst/>
          </a:prstGeom>
          <a:solidFill>
            <a:srgbClr val="DCD8D4"/>
          </a:solidFill>
          <a:ln/>
        </p:spPr>
      </p:sp>
      <p:sp>
        <p:nvSpPr>
          <p:cNvPr id="25" name="Text 23"/>
          <p:cNvSpPr txBox="1"/>
          <p:nvPr/>
        </p:nvSpPr>
        <p:spPr>
          <a:xfrm>
            <a:off x="5516880" y="2404872"/>
            <a:ext cx="502920" cy="50292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۶</a:t>
            </a:r>
            <a:endParaRPr lang="en-US" sz="2000" dirty="0"/>
          </a:p>
        </p:txBody>
      </p:sp>
      <p:sp>
        <p:nvSpPr>
          <p:cNvPr id="26" name="Text 24"/>
          <p:cNvSpPr txBox="1"/>
          <p:nvPr/>
        </p:nvSpPr>
        <p:spPr>
          <a:xfrm>
            <a:off x="944880" y="2359152"/>
            <a:ext cx="4389120" cy="365760"/>
          </a:xfrm>
          <a:prstGeom prst="rect">
            <a:avLst/>
          </a:prstGeom>
          <a:noFill/>
          <a:ln/>
        </p:spPr>
        <p:txBody>
          <a:bodyPr wrap="square" rtlCol="0" anchor="ctr"/>
          <a:lstStyle/>
          <a:p>
            <a:pPr indent="0" marL="0" rtl="1" algn="r">
              <a:buNone/>
            </a:pPr>
            <a:r>
              <a:rPr lang="en-US" sz="1600" b="1" dirty="0">
                <a:solidFill>
                  <a:srgbClr val="C3C0BC"/>
                </a:solidFill>
                <a:latin typeface="Cambria" pitchFamily="34" charset="0"/>
                <a:ea typeface="Cambria" pitchFamily="34" charset="-122"/>
                <a:cs typeface="B Titr" pitchFamily="34" charset="-120"/>
              </a:rPr>
              <a:t>یافته اصلی</a:t>
            </a:r>
            <a:endParaRPr lang="en-US" sz="1600" dirty="0"/>
          </a:p>
        </p:txBody>
      </p:sp>
      <p:sp>
        <p:nvSpPr>
          <p:cNvPr id="27" name="Text 25"/>
          <p:cNvSpPr txBox="1"/>
          <p:nvPr/>
        </p:nvSpPr>
        <p:spPr>
          <a:xfrm>
            <a:off x="944880" y="2697480"/>
            <a:ext cx="4389120" cy="457200"/>
          </a:xfrm>
          <a:prstGeom prst="rect">
            <a:avLst/>
          </a:prstGeom>
          <a:noFill/>
          <a:ln/>
        </p:spPr>
        <p:txBody>
          <a:bodyPr wrap="square" rtlCol="0" anchor="ctr"/>
          <a:lstStyle/>
          <a:p>
            <a:pPr indent="0" marL="0" rtl="1" algn="r">
              <a:buNone/>
            </a:pPr>
            <a:r>
              <a:rPr lang="en-US" sz="1200" dirty="0">
                <a:solidFill>
                  <a:srgbClr val="CFCCC8"/>
                </a:solidFill>
                <a:latin typeface="Calibri" pitchFamily="34" charset="0"/>
                <a:ea typeface="Calibri" pitchFamily="34" charset="-122"/>
                <a:cs typeface="B Nazanin" pitchFamily="34" charset="-120"/>
              </a:rPr>
              <a:t>علت خطای باقی‌مانده</a:t>
            </a:r>
            <a:endParaRPr lang="en-US" sz="1200" dirty="0"/>
          </a:p>
        </p:txBody>
      </p:sp>
      <p:sp>
        <p:nvSpPr>
          <p:cNvPr id="28" name="Shape 26"/>
          <p:cNvSpPr/>
          <p:nvPr/>
        </p:nvSpPr>
        <p:spPr>
          <a:xfrm>
            <a:off x="5516880" y="3575304"/>
            <a:ext cx="502920" cy="502920"/>
          </a:xfrm>
          <a:prstGeom prst="ellipse">
            <a:avLst/>
          </a:prstGeom>
          <a:solidFill>
            <a:srgbClr val="DCD8D4"/>
          </a:solidFill>
          <a:ln/>
        </p:spPr>
      </p:sp>
      <p:sp>
        <p:nvSpPr>
          <p:cNvPr id="29" name="Text 27"/>
          <p:cNvSpPr txBox="1"/>
          <p:nvPr/>
        </p:nvSpPr>
        <p:spPr>
          <a:xfrm>
            <a:off x="5516880" y="3575304"/>
            <a:ext cx="502920" cy="50292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۷</a:t>
            </a:r>
            <a:endParaRPr lang="en-US" sz="2000" dirty="0"/>
          </a:p>
        </p:txBody>
      </p:sp>
      <p:sp>
        <p:nvSpPr>
          <p:cNvPr id="30" name="Text 28"/>
          <p:cNvSpPr txBox="1"/>
          <p:nvPr/>
        </p:nvSpPr>
        <p:spPr>
          <a:xfrm>
            <a:off x="944880" y="3529584"/>
            <a:ext cx="4389120" cy="365760"/>
          </a:xfrm>
          <a:prstGeom prst="rect">
            <a:avLst/>
          </a:prstGeom>
          <a:noFill/>
          <a:ln/>
        </p:spPr>
        <p:txBody>
          <a:bodyPr wrap="square" rtlCol="0" anchor="ctr"/>
          <a:lstStyle/>
          <a:p>
            <a:pPr indent="0" marL="0" rtl="1" algn="r">
              <a:buNone/>
            </a:pPr>
            <a:r>
              <a:rPr lang="en-US" sz="1600" b="1" dirty="0">
                <a:solidFill>
                  <a:srgbClr val="C3C0BC"/>
                </a:solidFill>
                <a:latin typeface="Cambria" pitchFamily="34" charset="0"/>
                <a:ea typeface="Cambria" pitchFamily="34" charset="-122"/>
                <a:cs typeface="B Titr" pitchFamily="34" charset="-120"/>
              </a:rPr>
              <a:t>محدودیت‌ها و جمع‌بندی</a:t>
            </a:r>
            <a:endParaRPr lang="en-US" sz="1600" dirty="0"/>
          </a:p>
        </p:txBody>
      </p:sp>
      <p:sp>
        <p:nvSpPr>
          <p:cNvPr id="31" name="Text 29"/>
          <p:cNvSpPr txBox="1"/>
          <p:nvPr/>
        </p:nvSpPr>
        <p:spPr>
          <a:xfrm>
            <a:off x="944880" y="3867912"/>
            <a:ext cx="4389120" cy="457200"/>
          </a:xfrm>
          <a:prstGeom prst="rect">
            <a:avLst/>
          </a:prstGeom>
          <a:noFill/>
          <a:ln/>
        </p:spPr>
        <p:txBody>
          <a:bodyPr wrap="square" rtlCol="0" anchor="ctr"/>
          <a:lstStyle/>
          <a:p>
            <a:pPr indent="0" marL="0" rtl="1" algn="r">
              <a:buNone/>
            </a:pPr>
            <a:r>
              <a:rPr lang="en-US" sz="1200" dirty="0">
                <a:solidFill>
                  <a:srgbClr val="CFCCC8"/>
                </a:solidFill>
                <a:latin typeface="Calibri" pitchFamily="34" charset="0"/>
                <a:ea typeface="Calibri" pitchFamily="34" charset="-122"/>
                <a:cs typeface="B Nazanin" pitchFamily="34" charset="-120"/>
              </a:rPr>
              <a:t>محدودیت‌ها، دستاوردها و کار آینده</a:t>
            </a:r>
            <a:endParaRPr lang="en-US" sz="1200" dirty="0"/>
          </a:p>
        </p:txBody>
      </p:sp>
      <p:sp>
        <p:nvSpPr>
          <p:cNvPr id="32" name="Text 30"/>
          <p:cNvSpPr txBox="1"/>
          <p:nvPr/>
        </p:nvSpPr>
        <p:spPr>
          <a:xfrm>
            <a:off x="4328160" y="6473952"/>
            <a:ext cx="7315200" cy="274320"/>
          </a:xfrm>
          <a:prstGeom prst="rect">
            <a:avLst/>
          </a:prstGeom>
          <a:noFill/>
          <a:ln/>
        </p:spPr>
        <p:txBody>
          <a:bodyPr wrap="square" rtlCol="0" anchor="ctr"/>
          <a:lstStyle/>
          <a:p>
            <a:pPr indent="0" marL="0" rtl="1" algn="r">
              <a:buNone/>
            </a:pPr>
            <a:r>
              <a:rPr lang="en-US" sz="900" spc="200" kern="0" dirty="0">
                <a:solidFill>
                  <a:srgbClr val="716E69"/>
                </a:solidFill>
                <a:latin typeface="Calibri" pitchFamily="34" charset="0"/>
                <a:ea typeface="Calibri" pitchFamily="34" charset="-122"/>
                <a:cs typeface="B Nazanin" pitchFamily="34" charset="-120"/>
              </a:rPr>
              <a:t>نتایج</a:t>
            </a:r>
            <a:endParaRPr lang="en-US" sz="900" dirty="0"/>
          </a:p>
        </p:txBody>
      </p:sp>
      <p:sp>
        <p:nvSpPr>
          <p:cNvPr id="33" name="Text 31"/>
          <p:cNvSpPr txBox="1"/>
          <p:nvPr/>
        </p:nvSpPr>
        <p:spPr>
          <a:xfrm>
            <a:off x="185928" y="6473952"/>
            <a:ext cx="457200" cy="274320"/>
          </a:xfrm>
          <a:prstGeom prst="rect">
            <a:avLst/>
          </a:prstGeom>
          <a:noFill/>
          <a:ln/>
        </p:spPr>
        <p:txBody>
          <a:bodyPr wrap="square" rtlCol="0" anchor="ctr"/>
          <a:lstStyle/>
          <a:p>
            <a:pPr algn="r" indent="0" marL="0" rtl="1">
              <a:buNone/>
            </a:pPr>
            <a:r>
              <a:rPr lang="en-US" sz="900" dirty="0">
                <a:solidFill>
                  <a:srgbClr val="716E69"/>
                </a:solidFill>
                <a:latin typeface="Calibri" pitchFamily="34" charset="0"/>
                <a:ea typeface="Calibri" pitchFamily="34" charset="-122"/>
                <a:cs typeface="B Nazanin" pitchFamily="34" charset="-120"/>
              </a:rPr>
              <a:t>۱۱ / ۲۴</a:t>
            </a:r>
            <a:endParaRPr lang="en-US" sz="900" dirty="0"/>
          </a:p>
        </p:txBody>
      </p:sp>
      <p:sp>
        <p:nvSpPr>
          <p:cNvPr id="9001" name="progress track"/>
          <p:cNvSpPr/>
          <p:nvPr/>
        </p:nvSpPr>
        <p:spPr>
          <a:xfrm>
            <a:off x="0" y="6803000"/>
            <a:ext cx="12192000" cy="55000"/>
          </a:xfrm>
          <a:prstGeom prst="rect">
            <a:avLst/>
          </a:prstGeom>
          <a:solidFill>
            <a:srgbClr val="EDE9E5"/>
          </a:solidFill>
          <a:ln>
            <a:noFill/>
          </a:ln>
        </p:spPr>
        <p:txBody>
          <a:bodyPr/>
          <a:lstStyle/>
          <a:p/>
        </p:txBody>
      </p:sp>
      <p:sp>
        <p:nvSpPr>
          <p:cNvPr id="9002" name="progress fill"/>
          <p:cNvSpPr/>
          <p:nvPr/>
        </p:nvSpPr>
        <p:spPr>
          <a:xfrm>
            <a:off x="6604000" y="6803000"/>
            <a:ext cx="5588000" cy="55000"/>
          </a:xfrm>
          <a:prstGeom prst="rect">
            <a:avLst/>
          </a:prstGeom>
          <a:solidFill>
            <a:srgbClr val="8C1515"/>
          </a:solidFill>
          <a:ln>
            <a:noFill/>
          </a:ln>
        </p:spPr>
        <p:txBody>
          <a:bodyPr/>
          <a:lstStyle/>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11442192" y="475488"/>
            <a:ext cx="201168" cy="201168"/>
          </a:xfrm>
          <a:prstGeom prst="ellipse">
            <a:avLst/>
          </a:prstGeom>
          <a:solidFill>
            <a:srgbClr val="E98300"/>
          </a:solidFill>
          <a:ln/>
        </p:spPr>
      </p:sp>
      <p:sp>
        <p:nvSpPr>
          <p:cNvPr id="3" name="Text 1"/>
          <p:cNvSpPr txBox="1"/>
          <p:nvPr/>
        </p:nvSpPr>
        <p:spPr>
          <a:xfrm>
            <a:off x="1694688" y="347472"/>
            <a:ext cx="9601200" cy="502920"/>
          </a:xfrm>
          <a:prstGeom prst="rect">
            <a:avLst/>
          </a:prstGeom>
          <a:noFill/>
          <a:ln/>
        </p:spPr>
        <p:txBody>
          <a:bodyPr wrap="square" rtlCol="0" anchor="ctr"/>
          <a:lstStyle/>
          <a:p>
            <a:pPr indent="0" marL="0" rtl="1" algn="r">
              <a:buNone/>
            </a:pPr>
            <a:r>
              <a:rPr lang="en-US" sz="3000" b="1" dirty="0">
                <a:solidFill>
                  <a:srgbClr val="8C1515"/>
                </a:solidFill>
                <a:latin typeface="Cambria" pitchFamily="34" charset="0"/>
                <a:ea typeface="Cambria" pitchFamily="34" charset="-122"/>
                <a:cs typeface="B Titr" pitchFamily="34" charset="-120"/>
              </a:rPr>
              <a:t>بخش ۵ از ۷ — حدود ۹ دقیقه تا پایان</a:t>
            </a:r>
            <a:endParaRPr lang="en-US" sz="3000" dirty="0"/>
          </a:p>
        </p:txBody>
      </p:sp>
      <p:sp>
        <p:nvSpPr>
          <p:cNvPr id="4" name="Shape 2"/>
          <p:cNvSpPr/>
          <p:nvPr/>
        </p:nvSpPr>
        <p:spPr>
          <a:xfrm>
            <a:off x="11140440" y="1234440"/>
            <a:ext cx="502920" cy="502920"/>
          </a:xfrm>
          <a:prstGeom prst="ellipse">
            <a:avLst/>
          </a:prstGeom>
          <a:solidFill>
            <a:srgbClr val="DCD8D4"/>
          </a:solidFill>
          <a:ln/>
        </p:spPr>
      </p:sp>
      <p:sp>
        <p:nvSpPr>
          <p:cNvPr id="5" name="Text 3"/>
          <p:cNvSpPr txBox="1"/>
          <p:nvPr/>
        </p:nvSpPr>
        <p:spPr>
          <a:xfrm>
            <a:off x="11140440" y="1234440"/>
            <a:ext cx="502920" cy="50292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۱</a:t>
            </a:r>
            <a:endParaRPr lang="en-US" sz="2000" dirty="0"/>
          </a:p>
        </p:txBody>
      </p:sp>
      <p:sp>
        <p:nvSpPr>
          <p:cNvPr id="6" name="Text 4"/>
          <p:cNvSpPr txBox="1"/>
          <p:nvPr/>
        </p:nvSpPr>
        <p:spPr>
          <a:xfrm>
            <a:off x="6568440" y="1188720"/>
            <a:ext cx="4389120" cy="365760"/>
          </a:xfrm>
          <a:prstGeom prst="rect">
            <a:avLst/>
          </a:prstGeom>
          <a:noFill/>
          <a:ln/>
        </p:spPr>
        <p:txBody>
          <a:bodyPr wrap="square" rtlCol="0" anchor="ctr"/>
          <a:lstStyle/>
          <a:p>
            <a:pPr indent="0" marL="0" rtl="1" algn="r">
              <a:buNone/>
            </a:pPr>
            <a:r>
              <a:rPr lang="en-US" sz="1600" b="1" dirty="0">
                <a:solidFill>
                  <a:srgbClr val="C3C0BC"/>
                </a:solidFill>
                <a:latin typeface="Cambria" pitchFamily="34" charset="0"/>
                <a:ea typeface="Cambria" pitchFamily="34" charset="-122"/>
                <a:cs typeface="B Titr" pitchFamily="34" charset="-120"/>
              </a:rPr>
              <a:t>مسئله و انگیزه</a:t>
            </a:r>
            <a:endParaRPr lang="en-US" sz="1600" dirty="0"/>
          </a:p>
        </p:txBody>
      </p:sp>
      <p:sp>
        <p:nvSpPr>
          <p:cNvPr id="7" name="Text 5"/>
          <p:cNvSpPr txBox="1"/>
          <p:nvPr/>
        </p:nvSpPr>
        <p:spPr>
          <a:xfrm>
            <a:off x="6568440" y="1527048"/>
            <a:ext cx="4389120" cy="457200"/>
          </a:xfrm>
          <a:prstGeom prst="rect">
            <a:avLst/>
          </a:prstGeom>
          <a:noFill/>
          <a:ln/>
        </p:spPr>
        <p:txBody>
          <a:bodyPr wrap="square" rtlCol="0" anchor="ctr"/>
          <a:lstStyle/>
          <a:p>
            <a:pPr indent="0" marL="0" rtl="1" algn="r">
              <a:buNone/>
            </a:pPr>
            <a:r>
              <a:rPr lang="en-US" sz="1200" dirty="0">
                <a:solidFill>
                  <a:srgbClr val="CFCCC8"/>
                </a:solidFill>
                <a:latin typeface="Calibri" pitchFamily="34" charset="0"/>
                <a:ea typeface="Calibri" pitchFamily="34" charset="-122"/>
                <a:cs typeface="B Nazanin" pitchFamily="34" charset="-120"/>
              </a:rPr>
              <a:t>ضرورت خودکارسازی این اندازه‌گیری</a:t>
            </a:r>
            <a:endParaRPr lang="en-US" sz="1200" dirty="0"/>
          </a:p>
        </p:txBody>
      </p:sp>
      <p:sp>
        <p:nvSpPr>
          <p:cNvPr id="8" name="Shape 6"/>
          <p:cNvSpPr/>
          <p:nvPr/>
        </p:nvSpPr>
        <p:spPr>
          <a:xfrm>
            <a:off x="11140440" y="2404872"/>
            <a:ext cx="502920" cy="502920"/>
          </a:xfrm>
          <a:prstGeom prst="ellipse">
            <a:avLst/>
          </a:prstGeom>
          <a:solidFill>
            <a:srgbClr val="DCD8D4"/>
          </a:solidFill>
          <a:ln/>
        </p:spPr>
      </p:sp>
      <p:sp>
        <p:nvSpPr>
          <p:cNvPr id="9" name="Text 7"/>
          <p:cNvSpPr txBox="1"/>
          <p:nvPr/>
        </p:nvSpPr>
        <p:spPr>
          <a:xfrm>
            <a:off x="11140440" y="2404872"/>
            <a:ext cx="502920" cy="50292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۲</a:t>
            </a:r>
            <a:endParaRPr lang="en-US" sz="2000" dirty="0"/>
          </a:p>
        </p:txBody>
      </p:sp>
      <p:sp>
        <p:nvSpPr>
          <p:cNvPr id="10" name="Text 8"/>
          <p:cNvSpPr txBox="1"/>
          <p:nvPr/>
        </p:nvSpPr>
        <p:spPr>
          <a:xfrm>
            <a:off x="6568440" y="2359152"/>
            <a:ext cx="4389120" cy="365760"/>
          </a:xfrm>
          <a:prstGeom prst="rect">
            <a:avLst/>
          </a:prstGeom>
          <a:noFill/>
          <a:ln/>
        </p:spPr>
        <p:txBody>
          <a:bodyPr wrap="square" rtlCol="0" anchor="ctr"/>
          <a:lstStyle/>
          <a:p>
            <a:pPr indent="0" marL="0" rtl="1" algn="r">
              <a:buNone/>
            </a:pPr>
            <a:r>
              <a:rPr lang="en-US" sz="1600" b="1" dirty="0">
                <a:solidFill>
                  <a:srgbClr val="C3C0BC"/>
                </a:solidFill>
                <a:latin typeface="Cambria" pitchFamily="34" charset="0"/>
                <a:ea typeface="Cambria" pitchFamily="34" charset="-122"/>
                <a:cs typeface="B Titr" pitchFamily="34" charset="-120"/>
              </a:rPr>
              <a:t>هدف و کارهای پیشین</a:t>
            </a:r>
            <a:endParaRPr lang="en-US" sz="1600" dirty="0"/>
          </a:p>
        </p:txBody>
      </p:sp>
      <p:sp>
        <p:nvSpPr>
          <p:cNvPr id="11" name="Text 9"/>
          <p:cNvSpPr txBox="1"/>
          <p:nvPr/>
        </p:nvSpPr>
        <p:spPr>
          <a:xfrm>
            <a:off x="6568440" y="2697480"/>
            <a:ext cx="4389120" cy="457200"/>
          </a:xfrm>
          <a:prstGeom prst="rect">
            <a:avLst/>
          </a:prstGeom>
          <a:noFill/>
          <a:ln/>
        </p:spPr>
        <p:txBody>
          <a:bodyPr wrap="square" rtlCol="0" anchor="ctr"/>
          <a:lstStyle/>
          <a:p>
            <a:pPr indent="0" marL="0" rtl="1" algn="r">
              <a:buNone/>
            </a:pPr>
            <a:r>
              <a:rPr lang="en-US" sz="1200" dirty="0">
                <a:solidFill>
                  <a:srgbClr val="CFCCC8"/>
                </a:solidFill>
                <a:latin typeface="Calibri" pitchFamily="34" charset="0"/>
                <a:ea typeface="Calibri" pitchFamily="34" charset="-122"/>
                <a:cs typeface="B Nazanin" pitchFamily="34" charset="-120"/>
              </a:rPr>
              <a:t>اهداف پژوهش و جایگاه آن در ادبیات</a:t>
            </a:r>
            <a:endParaRPr lang="en-US" sz="1200" dirty="0"/>
          </a:p>
        </p:txBody>
      </p:sp>
      <p:sp>
        <p:nvSpPr>
          <p:cNvPr id="12" name="Shape 10"/>
          <p:cNvSpPr/>
          <p:nvPr/>
        </p:nvSpPr>
        <p:spPr>
          <a:xfrm>
            <a:off x="11140440" y="3575304"/>
            <a:ext cx="502920" cy="502920"/>
          </a:xfrm>
          <a:prstGeom prst="ellipse">
            <a:avLst/>
          </a:prstGeom>
          <a:solidFill>
            <a:srgbClr val="DCD8D4"/>
          </a:solidFill>
          <a:ln/>
        </p:spPr>
      </p:sp>
      <p:sp>
        <p:nvSpPr>
          <p:cNvPr id="13" name="Text 11"/>
          <p:cNvSpPr txBox="1"/>
          <p:nvPr/>
        </p:nvSpPr>
        <p:spPr>
          <a:xfrm>
            <a:off x="11140440" y="3575304"/>
            <a:ext cx="502920" cy="50292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۳</a:t>
            </a:r>
            <a:endParaRPr lang="en-US" sz="2000" dirty="0"/>
          </a:p>
        </p:txBody>
      </p:sp>
      <p:sp>
        <p:nvSpPr>
          <p:cNvPr id="14" name="Text 12"/>
          <p:cNvSpPr txBox="1"/>
          <p:nvPr/>
        </p:nvSpPr>
        <p:spPr>
          <a:xfrm>
            <a:off x="6568440" y="3529584"/>
            <a:ext cx="4389120" cy="365760"/>
          </a:xfrm>
          <a:prstGeom prst="rect">
            <a:avLst/>
          </a:prstGeom>
          <a:noFill/>
          <a:ln/>
        </p:spPr>
        <p:txBody>
          <a:bodyPr wrap="square" rtlCol="0" anchor="ctr"/>
          <a:lstStyle/>
          <a:p>
            <a:pPr indent="0" marL="0" rtl="1" algn="r">
              <a:buNone/>
            </a:pPr>
            <a:r>
              <a:rPr lang="en-US" sz="1600" b="1" dirty="0">
                <a:solidFill>
                  <a:srgbClr val="C3C0BC"/>
                </a:solidFill>
                <a:latin typeface="Cambria" pitchFamily="34" charset="0"/>
                <a:ea typeface="Cambria" pitchFamily="34" charset="-122"/>
                <a:cs typeface="B Titr" pitchFamily="34" charset="-120"/>
              </a:rPr>
              <a:t>روش پیشنهادی</a:t>
            </a:r>
            <a:endParaRPr lang="en-US" sz="1600" dirty="0"/>
          </a:p>
        </p:txBody>
      </p:sp>
      <p:sp>
        <p:nvSpPr>
          <p:cNvPr id="15" name="Text 13"/>
          <p:cNvSpPr txBox="1"/>
          <p:nvPr/>
        </p:nvSpPr>
        <p:spPr>
          <a:xfrm>
            <a:off x="6568440" y="3867912"/>
            <a:ext cx="4389120" cy="457200"/>
          </a:xfrm>
          <a:prstGeom prst="rect">
            <a:avLst/>
          </a:prstGeom>
          <a:noFill/>
          <a:ln/>
        </p:spPr>
        <p:txBody>
          <a:bodyPr wrap="square" rtlCol="0" anchor="ctr"/>
          <a:lstStyle/>
          <a:p>
            <a:pPr indent="0" marL="0" rtl="1" algn="r">
              <a:buNone/>
            </a:pPr>
            <a:r>
              <a:rPr lang="en-US" sz="1200" dirty="0">
                <a:solidFill>
                  <a:srgbClr val="CFCCC8"/>
                </a:solidFill>
                <a:latin typeface="Calibri" pitchFamily="34" charset="0"/>
                <a:ea typeface="Calibri" pitchFamily="34" charset="-122"/>
                <a:cs typeface="B Nazanin" pitchFamily="34" charset="-120"/>
              </a:rPr>
              <a:t>ساختار و مراحل سامانه</a:t>
            </a:r>
            <a:endParaRPr lang="en-US" sz="1200" dirty="0"/>
          </a:p>
        </p:txBody>
      </p:sp>
      <p:sp>
        <p:nvSpPr>
          <p:cNvPr id="16" name="Shape 14"/>
          <p:cNvSpPr/>
          <p:nvPr/>
        </p:nvSpPr>
        <p:spPr>
          <a:xfrm>
            <a:off x="11140440" y="4745736"/>
            <a:ext cx="502920" cy="502920"/>
          </a:xfrm>
          <a:prstGeom prst="ellipse">
            <a:avLst/>
          </a:prstGeom>
          <a:solidFill>
            <a:srgbClr val="DCD8D4"/>
          </a:solidFill>
          <a:ln/>
        </p:spPr>
      </p:sp>
      <p:sp>
        <p:nvSpPr>
          <p:cNvPr id="17" name="Text 15"/>
          <p:cNvSpPr txBox="1"/>
          <p:nvPr/>
        </p:nvSpPr>
        <p:spPr>
          <a:xfrm>
            <a:off x="11140440" y="4745736"/>
            <a:ext cx="502920" cy="50292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۴</a:t>
            </a:r>
            <a:endParaRPr lang="en-US" sz="2000" dirty="0"/>
          </a:p>
        </p:txBody>
      </p:sp>
      <p:sp>
        <p:nvSpPr>
          <p:cNvPr id="18" name="Text 16"/>
          <p:cNvSpPr txBox="1"/>
          <p:nvPr/>
        </p:nvSpPr>
        <p:spPr>
          <a:xfrm>
            <a:off x="6568440" y="4700016"/>
            <a:ext cx="4389120" cy="365760"/>
          </a:xfrm>
          <a:prstGeom prst="rect">
            <a:avLst/>
          </a:prstGeom>
          <a:noFill/>
          <a:ln/>
        </p:spPr>
        <p:txBody>
          <a:bodyPr wrap="square" rtlCol="0" anchor="ctr"/>
          <a:lstStyle/>
          <a:p>
            <a:pPr indent="0" marL="0" rtl="1" algn="r">
              <a:buNone/>
            </a:pPr>
            <a:r>
              <a:rPr lang="en-US" sz="1600" b="1" dirty="0">
                <a:solidFill>
                  <a:srgbClr val="C3C0BC"/>
                </a:solidFill>
                <a:latin typeface="Cambria" pitchFamily="34" charset="0"/>
                <a:ea typeface="Cambria" pitchFamily="34" charset="-122"/>
                <a:cs typeface="B Titr" pitchFamily="34" charset="-120"/>
              </a:rPr>
              <a:t>نتایج</a:t>
            </a:r>
            <a:endParaRPr lang="en-US" sz="1600" dirty="0"/>
          </a:p>
        </p:txBody>
      </p:sp>
      <p:sp>
        <p:nvSpPr>
          <p:cNvPr id="19" name="Text 17"/>
          <p:cNvSpPr txBox="1"/>
          <p:nvPr/>
        </p:nvSpPr>
        <p:spPr>
          <a:xfrm>
            <a:off x="6568440" y="5038344"/>
            <a:ext cx="4389120" cy="457200"/>
          </a:xfrm>
          <a:prstGeom prst="rect">
            <a:avLst/>
          </a:prstGeom>
          <a:noFill/>
          <a:ln/>
        </p:spPr>
        <p:txBody>
          <a:bodyPr wrap="square" rtlCol="0" anchor="ctr"/>
          <a:lstStyle/>
          <a:p>
            <a:pPr indent="0" marL="0" rtl="1" algn="r">
              <a:buNone/>
            </a:pPr>
            <a:r>
              <a:rPr lang="en-US" sz="1200" dirty="0">
                <a:solidFill>
                  <a:srgbClr val="CFCCC8"/>
                </a:solidFill>
                <a:latin typeface="Calibri" pitchFamily="34" charset="0"/>
                <a:ea typeface="Calibri" pitchFamily="34" charset="-122"/>
                <a:cs typeface="B Nazanin" pitchFamily="34" charset="-120"/>
              </a:rPr>
              <a:t>دقت اندازه‌گیری بر روی مجموعه مرجع</a:t>
            </a:r>
            <a:endParaRPr lang="en-US" sz="1200" dirty="0"/>
          </a:p>
        </p:txBody>
      </p:sp>
      <p:sp>
        <p:nvSpPr>
          <p:cNvPr id="20" name="Shape 18"/>
          <p:cNvSpPr/>
          <p:nvPr/>
        </p:nvSpPr>
        <p:spPr>
          <a:xfrm>
            <a:off x="5516880" y="1234440"/>
            <a:ext cx="502920" cy="502920"/>
          </a:xfrm>
          <a:prstGeom prst="ellipse">
            <a:avLst/>
          </a:prstGeom>
          <a:solidFill>
            <a:srgbClr val="8C1515"/>
          </a:solidFill>
          <a:ln/>
        </p:spPr>
      </p:sp>
      <p:sp>
        <p:nvSpPr>
          <p:cNvPr id="21" name="Text 19"/>
          <p:cNvSpPr txBox="1"/>
          <p:nvPr/>
        </p:nvSpPr>
        <p:spPr>
          <a:xfrm>
            <a:off x="5516880" y="1234440"/>
            <a:ext cx="502920" cy="50292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۵</a:t>
            </a:r>
            <a:endParaRPr lang="en-US" sz="2000" dirty="0"/>
          </a:p>
        </p:txBody>
      </p:sp>
      <p:sp>
        <p:nvSpPr>
          <p:cNvPr id="22" name="Text 20"/>
          <p:cNvSpPr txBox="1"/>
          <p:nvPr/>
        </p:nvSpPr>
        <p:spPr>
          <a:xfrm>
            <a:off x="944880" y="1188720"/>
            <a:ext cx="4389120" cy="365760"/>
          </a:xfrm>
          <a:prstGeom prst="rect">
            <a:avLst/>
          </a:prstGeom>
          <a:noFill/>
          <a:ln/>
        </p:spPr>
        <p:txBody>
          <a:bodyPr wrap="square" rtlCol="0" anchor="ctr"/>
          <a:lstStyle/>
          <a:p>
            <a:pPr indent="0" marL="0" rtl="1" algn="r">
              <a:buNone/>
            </a:pPr>
            <a:r>
              <a:rPr lang="en-US" sz="1600" b="1" dirty="0">
                <a:solidFill>
                  <a:srgbClr val="2E2D29"/>
                </a:solidFill>
                <a:latin typeface="Cambria" pitchFamily="34" charset="0"/>
                <a:ea typeface="Cambria" pitchFamily="34" charset="-122"/>
                <a:cs typeface="B Titr" pitchFamily="34" charset="-120"/>
              </a:rPr>
              <a:t>تفسیر بالینی</a:t>
            </a:r>
            <a:endParaRPr lang="en-US" sz="1600" dirty="0"/>
          </a:p>
        </p:txBody>
      </p:sp>
      <p:sp>
        <p:nvSpPr>
          <p:cNvPr id="23" name="Text 21"/>
          <p:cNvSpPr txBox="1"/>
          <p:nvPr/>
        </p:nvSpPr>
        <p:spPr>
          <a:xfrm>
            <a:off x="944880" y="1527048"/>
            <a:ext cx="4389120" cy="457200"/>
          </a:xfrm>
          <a:prstGeom prst="rect">
            <a:avLst/>
          </a:prstGeom>
          <a:noFill/>
          <a:ln/>
        </p:spPr>
        <p:txBody>
          <a:bodyPr wrap="square" rtlCol="0" anchor="ctr"/>
          <a:lstStyle/>
          <a:p>
            <a:pPr indent="0" marL="0" rtl="1" algn="r">
              <a:buNone/>
            </a:pPr>
            <a:r>
              <a:rPr lang="en-US" sz="1200" dirty="0">
                <a:solidFill>
                  <a:srgbClr val="716E69"/>
                </a:solidFill>
                <a:latin typeface="Calibri" pitchFamily="34" charset="0"/>
                <a:ea typeface="Calibri" pitchFamily="34" charset="-122"/>
                <a:cs typeface="B Nazanin" pitchFamily="34" charset="-120"/>
              </a:rPr>
              <a:t>معنای دقت به‌دست‌آمده برای تصمیم درمانی</a:t>
            </a:r>
            <a:endParaRPr lang="en-US" sz="1200" dirty="0"/>
          </a:p>
        </p:txBody>
      </p:sp>
      <p:sp>
        <p:nvSpPr>
          <p:cNvPr id="24" name="Shape 22"/>
          <p:cNvSpPr/>
          <p:nvPr/>
        </p:nvSpPr>
        <p:spPr>
          <a:xfrm>
            <a:off x="5516880" y="2404872"/>
            <a:ext cx="502920" cy="502920"/>
          </a:xfrm>
          <a:prstGeom prst="ellipse">
            <a:avLst/>
          </a:prstGeom>
          <a:solidFill>
            <a:srgbClr val="DCD8D4"/>
          </a:solidFill>
          <a:ln/>
        </p:spPr>
      </p:sp>
      <p:sp>
        <p:nvSpPr>
          <p:cNvPr id="25" name="Text 23"/>
          <p:cNvSpPr txBox="1"/>
          <p:nvPr/>
        </p:nvSpPr>
        <p:spPr>
          <a:xfrm>
            <a:off x="5516880" y="2404872"/>
            <a:ext cx="502920" cy="50292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۶</a:t>
            </a:r>
            <a:endParaRPr lang="en-US" sz="2000" dirty="0"/>
          </a:p>
        </p:txBody>
      </p:sp>
      <p:sp>
        <p:nvSpPr>
          <p:cNvPr id="26" name="Text 24"/>
          <p:cNvSpPr txBox="1"/>
          <p:nvPr/>
        </p:nvSpPr>
        <p:spPr>
          <a:xfrm>
            <a:off x="944880" y="2359152"/>
            <a:ext cx="4389120" cy="365760"/>
          </a:xfrm>
          <a:prstGeom prst="rect">
            <a:avLst/>
          </a:prstGeom>
          <a:noFill/>
          <a:ln/>
        </p:spPr>
        <p:txBody>
          <a:bodyPr wrap="square" rtlCol="0" anchor="ctr"/>
          <a:lstStyle/>
          <a:p>
            <a:pPr indent="0" marL="0" rtl="1" algn="r">
              <a:buNone/>
            </a:pPr>
            <a:r>
              <a:rPr lang="en-US" sz="1600" b="1" dirty="0">
                <a:solidFill>
                  <a:srgbClr val="C3C0BC"/>
                </a:solidFill>
                <a:latin typeface="Cambria" pitchFamily="34" charset="0"/>
                <a:ea typeface="Cambria" pitchFamily="34" charset="-122"/>
                <a:cs typeface="B Titr" pitchFamily="34" charset="-120"/>
              </a:rPr>
              <a:t>یافته اصلی</a:t>
            </a:r>
            <a:endParaRPr lang="en-US" sz="1600" dirty="0"/>
          </a:p>
        </p:txBody>
      </p:sp>
      <p:sp>
        <p:nvSpPr>
          <p:cNvPr id="27" name="Text 25"/>
          <p:cNvSpPr txBox="1"/>
          <p:nvPr/>
        </p:nvSpPr>
        <p:spPr>
          <a:xfrm>
            <a:off x="944880" y="2697480"/>
            <a:ext cx="4389120" cy="457200"/>
          </a:xfrm>
          <a:prstGeom prst="rect">
            <a:avLst/>
          </a:prstGeom>
          <a:noFill/>
          <a:ln/>
        </p:spPr>
        <p:txBody>
          <a:bodyPr wrap="square" rtlCol="0" anchor="ctr"/>
          <a:lstStyle/>
          <a:p>
            <a:pPr indent="0" marL="0" rtl="1" algn="r">
              <a:buNone/>
            </a:pPr>
            <a:r>
              <a:rPr lang="en-US" sz="1200" dirty="0">
                <a:solidFill>
                  <a:srgbClr val="CFCCC8"/>
                </a:solidFill>
                <a:latin typeface="Calibri" pitchFamily="34" charset="0"/>
                <a:ea typeface="Calibri" pitchFamily="34" charset="-122"/>
                <a:cs typeface="B Nazanin" pitchFamily="34" charset="-120"/>
              </a:rPr>
              <a:t>علت خطای باقی‌مانده</a:t>
            </a:r>
            <a:endParaRPr lang="en-US" sz="1200" dirty="0"/>
          </a:p>
        </p:txBody>
      </p:sp>
      <p:sp>
        <p:nvSpPr>
          <p:cNvPr id="28" name="Shape 26"/>
          <p:cNvSpPr/>
          <p:nvPr/>
        </p:nvSpPr>
        <p:spPr>
          <a:xfrm>
            <a:off x="5516880" y="3575304"/>
            <a:ext cx="502920" cy="502920"/>
          </a:xfrm>
          <a:prstGeom prst="ellipse">
            <a:avLst/>
          </a:prstGeom>
          <a:solidFill>
            <a:srgbClr val="DCD8D4"/>
          </a:solidFill>
          <a:ln/>
        </p:spPr>
      </p:sp>
      <p:sp>
        <p:nvSpPr>
          <p:cNvPr id="29" name="Text 27"/>
          <p:cNvSpPr txBox="1"/>
          <p:nvPr/>
        </p:nvSpPr>
        <p:spPr>
          <a:xfrm>
            <a:off x="5516880" y="3575304"/>
            <a:ext cx="502920" cy="50292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۷</a:t>
            </a:r>
            <a:endParaRPr lang="en-US" sz="2000" dirty="0"/>
          </a:p>
        </p:txBody>
      </p:sp>
      <p:sp>
        <p:nvSpPr>
          <p:cNvPr id="30" name="Text 28"/>
          <p:cNvSpPr txBox="1"/>
          <p:nvPr/>
        </p:nvSpPr>
        <p:spPr>
          <a:xfrm>
            <a:off x="944880" y="3529584"/>
            <a:ext cx="4389120" cy="365760"/>
          </a:xfrm>
          <a:prstGeom prst="rect">
            <a:avLst/>
          </a:prstGeom>
          <a:noFill/>
          <a:ln/>
        </p:spPr>
        <p:txBody>
          <a:bodyPr wrap="square" rtlCol="0" anchor="ctr"/>
          <a:lstStyle/>
          <a:p>
            <a:pPr indent="0" marL="0" rtl="1" algn="r">
              <a:buNone/>
            </a:pPr>
            <a:r>
              <a:rPr lang="en-US" sz="1600" b="1" dirty="0">
                <a:solidFill>
                  <a:srgbClr val="C3C0BC"/>
                </a:solidFill>
                <a:latin typeface="Cambria" pitchFamily="34" charset="0"/>
                <a:ea typeface="Cambria" pitchFamily="34" charset="-122"/>
                <a:cs typeface="B Titr" pitchFamily="34" charset="-120"/>
              </a:rPr>
              <a:t>محدودیت‌ها و جمع‌بندی</a:t>
            </a:r>
            <a:endParaRPr lang="en-US" sz="1600" dirty="0"/>
          </a:p>
        </p:txBody>
      </p:sp>
      <p:sp>
        <p:nvSpPr>
          <p:cNvPr id="31" name="Text 29"/>
          <p:cNvSpPr txBox="1"/>
          <p:nvPr/>
        </p:nvSpPr>
        <p:spPr>
          <a:xfrm>
            <a:off x="944880" y="3867912"/>
            <a:ext cx="4389120" cy="457200"/>
          </a:xfrm>
          <a:prstGeom prst="rect">
            <a:avLst/>
          </a:prstGeom>
          <a:noFill/>
          <a:ln/>
        </p:spPr>
        <p:txBody>
          <a:bodyPr wrap="square" rtlCol="0" anchor="ctr"/>
          <a:lstStyle/>
          <a:p>
            <a:pPr indent="0" marL="0" rtl="1" algn="r">
              <a:buNone/>
            </a:pPr>
            <a:r>
              <a:rPr lang="en-US" sz="1200" dirty="0">
                <a:solidFill>
                  <a:srgbClr val="CFCCC8"/>
                </a:solidFill>
                <a:latin typeface="Calibri" pitchFamily="34" charset="0"/>
                <a:ea typeface="Calibri" pitchFamily="34" charset="-122"/>
                <a:cs typeface="B Nazanin" pitchFamily="34" charset="-120"/>
              </a:rPr>
              <a:t>محدودیت‌ها، دستاوردها و کار آینده</a:t>
            </a:r>
            <a:endParaRPr lang="en-US" sz="1200" dirty="0"/>
          </a:p>
        </p:txBody>
      </p:sp>
      <p:sp>
        <p:nvSpPr>
          <p:cNvPr id="32" name="Text 30"/>
          <p:cNvSpPr txBox="1"/>
          <p:nvPr/>
        </p:nvSpPr>
        <p:spPr>
          <a:xfrm>
            <a:off x="4328160" y="6473952"/>
            <a:ext cx="7315200" cy="274320"/>
          </a:xfrm>
          <a:prstGeom prst="rect">
            <a:avLst/>
          </a:prstGeom>
          <a:noFill/>
          <a:ln/>
        </p:spPr>
        <p:txBody>
          <a:bodyPr wrap="square" rtlCol="0" anchor="ctr"/>
          <a:lstStyle/>
          <a:p>
            <a:pPr indent="0" marL="0" rtl="1" algn="r">
              <a:buNone/>
            </a:pPr>
            <a:r>
              <a:rPr lang="en-US" sz="900" spc="200" kern="0" dirty="0">
                <a:solidFill>
                  <a:srgbClr val="716E69"/>
                </a:solidFill>
                <a:latin typeface="Calibri" pitchFamily="34" charset="0"/>
                <a:ea typeface="Calibri" pitchFamily="34" charset="-122"/>
                <a:cs typeface="B Nazanin" pitchFamily="34" charset="-120"/>
              </a:rPr>
              <a:t>تفسیر بالینی</a:t>
            </a:r>
            <a:endParaRPr lang="en-US" sz="900" dirty="0"/>
          </a:p>
        </p:txBody>
      </p:sp>
      <p:sp>
        <p:nvSpPr>
          <p:cNvPr id="33" name="Text 31"/>
          <p:cNvSpPr txBox="1"/>
          <p:nvPr/>
        </p:nvSpPr>
        <p:spPr>
          <a:xfrm>
            <a:off x="185928" y="6473952"/>
            <a:ext cx="457200" cy="274320"/>
          </a:xfrm>
          <a:prstGeom prst="rect">
            <a:avLst/>
          </a:prstGeom>
          <a:noFill/>
          <a:ln/>
        </p:spPr>
        <p:txBody>
          <a:bodyPr wrap="square" rtlCol="0" anchor="ctr"/>
          <a:lstStyle/>
          <a:p>
            <a:pPr algn="r" indent="0" marL="0" rtl="1">
              <a:buNone/>
            </a:pPr>
            <a:r>
              <a:rPr lang="en-US" sz="900" dirty="0">
                <a:solidFill>
                  <a:srgbClr val="716E69"/>
                </a:solidFill>
                <a:latin typeface="Calibri" pitchFamily="34" charset="0"/>
                <a:ea typeface="Calibri" pitchFamily="34" charset="-122"/>
                <a:cs typeface="B Nazanin" pitchFamily="34" charset="-120"/>
              </a:rPr>
              <a:t>۱۴ / ۲۴</a:t>
            </a:r>
            <a:endParaRPr lang="en-US" sz="900" dirty="0"/>
          </a:p>
        </p:txBody>
      </p:sp>
      <p:sp>
        <p:nvSpPr>
          <p:cNvPr id="9001" name="progress track"/>
          <p:cNvSpPr/>
          <p:nvPr/>
        </p:nvSpPr>
        <p:spPr>
          <a:xfrm>
            <a:off x="0" y="6803000"/>
            <a:ext cx="12192000" cy="55000"/>
          </a:xfrm>
          <a:prstGeom prst="rect">
            <a:avLst/>
          </a:prstGeom>
          <a:solidFill>
            <a:srgbClr val="EDE9E5"/>
          </a:solidFill>
          <a:ln>
            <a:noFill/>
          </a:ln>
        </p:spPr>
        <p:txBody>
          <a:bodyPr/>
          <a:lstStyle/>
          <a:p/>
        </p:txBody>
      </p:sp>
      <p:sp>
        <p:nvSpPr>
          <p:cNvPr id="9002" name="progress fill"/>
          <p:cNvSpPr/>
          <p:nvPr/>
        </p:nvSpPr>
        <p:spPr>
          <a:xfrm>
            <a:off x="5080000" y="6803000"/>
            <a:ext cx="7112000" cy="55000"/>
          </a:xfrm>
          <a:prstGeom prst="rect">
            <a:avLst/>
          </a:prstGeom>
          <a:solidFill>
            <a:srgbClr val="8C1515"/>
          </a:solidFill>
          <a:ln>
            <a:noFill/>
          </a:ln>
        </p:spPr>
        <p:txBody>
          <a:bodyPr/>
          <a:lstStyle/>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11442192" y="475488"/>
            <a:ext cx="201168" cy="201168"/>
          </a:xfrm>
          <a:prstGeom prst="ellipse">
            <a:avLst/>
          </a:prstGeom>
          <a:solidFill>
            <a:srgbClr val="E98300"/>
          </a:solidFill>
          <a:ln/>
        </p:spPr>
      </p:sp>
      <p:sp>
        <p:nvSpPr>
          <p:cNvPr id="3" name="Text 1"/>
          <p:cNvSpPr txBox="1"/>
          <p:nvPr/>
        </p:nvSpPr>
        <p:spPr>
          <a:xfrm>
            <a:off x="1694688" y="347472"/>
            <a:ext cx="9601200" cy="502920"/>
          </a:xfrm>
          <a:prstGeom prst="rect">
            <a:avLst/>
          </a:prstGeom>
          <a:noFill/>
          <a:ln/>
        </p:spPr>
        <p:txBody>
          <a:bodyPr wrap="square" rtlCol="0" anchor="ctr"/>
          <a:lstStyle/>
          <a:p>
            <a:pPr indent="0" marL="0" rtl="1" algn="r">
              <a:buNone/>
            </a:pPr>
            <a:r>
              <a:rPr lang="en-US" sz="3000" b="1" dirty="0">
                <a:solidFill>
                  <a:srgbClr val="8C1515"/>
                </a:solidFill>
                <a:latin typeface="Cambria" pitchFamily="34" charset="0"/>
                <a:ea typeface="Cambria" pitchFamily="34" charset="-122"/>
                <a:cs typeface="B Titr" pitchFamily="34" charset="-120"/>
              </a:rPr>
              <a:t>بخش ۶ از ۷ — حدود ۵ دقیقه و ۳۰ ثانیه تا پایان</a:t>
            </a:r>
            <a:endParaRPr lang="en-US" sz="3000" dirty="0"/>
          </a:p>
        </p:txBody>
      </p:sp>
      <p:sp>
        <p:nvSpPr>
          <p:cNvPr id="4" name="Shape 2"/>
          <p:cNvSpPr/>
          <p:nvPr/>
        </p:nvSpPr>
        <p:spPr>
          <a:xfrm>
            <a:off x="11140440" y="1234440"/>
            <a:ext cx="502920" cy="502920"/>
          </a:xfrm>
          <a:prstGeom prst="ellipse">
            <a:avLst/>
          </a:prstGeom>
          <a:solidFill>
            <a:srgbClr val="DCD8D4"/>
          </a:solidFill>
          <a:ln/>
        </p:spPr>
      </p:sp>
      <p:sp>
        <p:nvSpPr>
          <p:cNvPr id="5" name="Text 3"/>
          <p:cNvSpPr txBox="1"/>
          <p:nvPr/>
        </p:nvSpPr>
        <p:spPr>
          <a:xfrm>
            <a:off x="11140440" y="1234440"/>
            <a:ext cx="502920" cy="50292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۱</a:t>
            </a:r>
            <a:endParaRPr lang="en-US" sz="2000" dirty="0"/>
          </a:p>
        </p:txBody>
      </p:sp>
      <p:sp>
        <p:nvSpPr>
          <p:cNvPr id="6" name="Text 4"/>
          <p:cNvSpPr txBox="1"/>
          <p:nvPr/>
        </p:nvSpPr>
        <p:spPr>
          <a:xfrm>
            <a:off x="6568440" y="1188720"/>
            <a:ext cx="4389120" cy="365760"/>
          </a:xfrm>
          <a:prstGeom prst="rect">
            <a:avLst/>
          </a:prstGeom>
          <a:noFill/>
          <a:ln/>
        </p:spPr>
        <p:txBody>
          <a:bodyPr wrap="square" rtlCol="0" anchor="ctr"/>
          <a:lstStyle/>
          <a:p>
            <a:pPr indent="0" marL="0" rtl="1" algn="r">
              <a:buNone/>
            </a:pPr>
            <a:r>
              <a:rPr lang="en-US" sz="1600" b="1" dirty="0">
                <a:solidFill>
                  <a:srgbClr val="C3C0BC"/>
                </a:solidFill>
                <a:latin typeface="Cambria" pitchFamily="34" charset="0"/>
                <a:ea typeface="Cambria" pitchFamily="34" charset="-122"/>
                <a:cs typeface="B Titr" pitchFamily="34" charset="-120"/>
              </a:rPr>
              <a:t>مسئله و انگیزه</a:t>
            </a:r>
            <a:endParaRPr lang="en-US" sz="1600" dirty="0"/>
          </a:p>
        </p:txBody>
      </p:sp>
      <p:sp>
        <p:nvSpPr>
          <p:cNvPr id="7" name="Text 5"/>
          <p:cNvSpPr txBox="1"/>
          <p:nvPr/>
        </p:nvSpPr>
        <p:spPr>
          <a:xfrm>
            <a:off x="6568440" y="1527048"/>
            <a:ext cx="4389120" cy="457200"/>
          </a:xfrm>
          <a:prstGeom prst="rect">
            <a:avLst/>
          </a:prstGeom>
          <a:noFill/>
          <a:ln/>
        </p:spPr>
        <p:txBody>
          <a:bodyPr wrap="square" rtlCol="0" anchor="ctr"/>
          <a:lstStyle/>
          <a:p>
            <a:pPr indent="0" marL="0" rtl="1" algn="r">
              <a:buNone/>
            </a:pPr>
            <a:r>
              <a:rPr lang="en-US" sz="1200" dirty="0">
                <a:solidFill>
                  <a:srgbClr val="CFCCC8"/>
                </a:solidFill>
                <a:latin typeface="Calibri" pitchFamily="34" charset="0"/>
                <a:ea typeface="Calibri" pitchFamily="34" charset="-122"/>
                <a:cs typeface="B Nazanin" pitchFamily="34" charset="-120"/>
              </a:rPr>
              <a:t>ضرورت خودکارسازی این اندازه‌گیری</a:t>
            </a:r>
            <a:endParaRPr lang="en-US" sz="1200" dirty="0"/>
          </a:p>
        </p:txBody>
      </p:sp>
      <p:sp>
        <p:nvSpPr>
          <p:cNvPr id="8" name="Shape 6"/>
          <p:cNvSpPr/>
          <p:nvPr/>
        </p:nvSpPr>
        <p:spPr>
          <a:xfrm>
            <a:off x="11140440" y="2404872"/>
            <a:ext cx="502920" cy="502920"/>
          </a:xfrm>
          <a:prstGeom prst="ellipse">
            <a:avLst/>
          </a:prstGeom>
          <a:solidFill>
            <a:srgbClr val="DCD8D4"/>
          </a:solidFill>
          <a:ln/>
        </p:spPr>
      </p:sp>
      <p:sp>
        <p:nvSpPr>
          <p:cNvPr id="9" name="Text 7"/>
          <p:cNvSpPr txBox="1"/>
          <p:nvPr/>
        </p:nvSpPr>
        <p:spPr>
          <a:xfrm>
            <a:off x="11140440" y="2404872"/>
            <a:ext cx="502920" cy="50292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۲</a:t>
            </a:r>
            <a:endParaRPr lang="en-US" sz="2000" dirty="0"/>
          </a:p>
        </p:txBody>
      </p:sp>
      <p:sp>
        <p:nvSpPr>
          <p:cNvPr id="10" name="Text 8"/>
          <p:cNvSpPr txBox="1"/>
          <p:nvPr/>
        </p:nvSpPr>
        <p:spPr>
          <a:xfrm>
            <a:off x="6568440" y="2359152"/>
            <a:ext cx="4389120" cy="365760"/>
          </a:xfrm>
          <a:prstGeom prst="rect">
            <a:avLst/>
          </a:prstGeom>
          <a:noFill/>
          <a:ln/>
        </p:spPr>
        <p:txBody>
          <a:bodyPr wrap="square" rtlCol="0" anchor="ctr"/>
          <a:lstStyle/>
          <a:p>
            <a:pPr indent="0" marL="0" rtl="1" algn="r">
              <a:buNone/>
            </a:pPr>
            <a:r>
              <a:rPr lang="en-US" sz="1600" b="1" dirty="0">
                <a:solidFill>
                  <a:srgbClr val="C3C0BC"/>
                </a:solidFill>
                <a:latin typeface="Cambria" pitchFamily="34" charset="0"/>
                <a:ea typeface="Cambria" pitchFamily="34" charset="-122"/>
                <a:cs typeface="B Titr" pitchFamily="34" charset="-120"/>
              </a:rPr>
              <a:t>هدف و کارهای پیشین</a:t>
            </a:r>
            <a:endParaRPr lang="en-US" sz="1600" dirty="0"/>
          </a:p>
        </p:txBody>
      </p:sp>
      <p:sp>
        <p:nvSpPr>
          <p:cNvPr id="11" name="Text 9"/>
          <p:cNvSpPr txBox="1"/>
          <p:nvPr/>
        </p:nvSpPr>
        <p:spPr>
          <a:xfrm>
            <a:off x="6568440" y="2697480"/>
            <a:ext cx="4389120" cy="457200"/>
          </a:xfrm>
          <a:prstGeom prst="rect">
            <a:avLst/>
          </a:prstGeom>
          <a:noFill/>
          <a:ln/>
        </p:spPr>
        <p:txBody>
          <a:bodyPr wrap="square" rtlCol="0" anchor="ctr"/>
          <a:lstStyle/>
          <a:p>
            <a:pPr indent="0" marL="0" rtl="1" algn="r">
              <a:buNone/>
            </a:pPr>
            <a:r>
              <a:rPr lang="en-US" sz="1200" dirty="0">
                <a:solidFill>
                  <a:srgbClr val="CFCCC8"/>
                </a:solidFill>
                <a:latin typeface="Calibri" pitchFamily="34" charset="0"/>
                <a:ea typeface="Calibri" pitchFamily="34" charset="-122"/>
                <a:cs typeface="B Nazanin" pitchFamily="34" charset="-120"/>
              </a:rPr>
              <a:t>اهداف پژوهش و جایگاه آن در ادبیات</a:t>
            </a:r>
            <a:endParaRPr lang="en-US" sz="1200" dirty="0"/>
          </a:p>
        </p:txBody>
      </p:sp>
      <p:sp>
        <p:nvSpPr>
          <p:cNvPr id="12" name="Shape 10"/>
          <p:cNvSpPr/>
          <p:nvPr/>
        </p:nvSpPr>
        <p:spPr>
          <a:xfrm>
            <a:off x="11140440" y="3575304"/>
            <a:ext cx="502920" cy="502920"/>
          </a:xfrm>
          <a:prstGeom prst="ellipse">
            <a:avLst/>
          </a:prstGeom>
          <a:solidFill>
            <a:srgbClr val="DCD8D4"/>
          </a:solidFill>
          <a:ln/>
        </p:spPr>
      </p:sp>
      <p:sp>
        <p:nvSpPr>
          <p:cNvPr id="13" name="Text 11"/>
          <p:cNvSpPr txBox="1"/>
          <p:nvPr/>
        </p:nvSpPr>
        <p:spPr>
          <a:xfrm>
            <a:off x="11140440" y="3575304"/>
            <a:ext cx="502920" cy="50292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۳</a:t>
            </a:r>
            <a:endParaRPr lang="en-US" sz="2000" dirty="0"/>
          </a:p>
        </p:txBody>
      </p:sp>
      <p:sp>
        <p:nvSpPr>
          <p:cNvPr id="14" name="Text 12"/>
          <p:cNvSpPr txBox="1"/>
          <p:nvPr/>
        </p:nvSpPr>
        <p:spPr>
          <a:xfrm>
            <a:off x="6568440" y="3529584"/>
            <a:ext cx="4389120" cy="365760"/>
          </a:xfrm>
          <a:prstGeom prst="rect">
            <a:avLst/>
          </a:prstGeom>
          <a:noFill/>
          <a:ln/>
        </p:spPr>
        <p:txBody>
          <a:bodyPr wrap="square" rtlCol="0" anchor="ctr"/>
          <a:lstStyle/>
          <a:p>
            <a:pPr indent="0" marL="0" rtl="1" algn="r">
              <a:buNone/>
            </a:pPr>
            <a:r>
              <a:rPr lang="en-US" sz="1600" b="1" dirty="0">
                <a:solidFill>
                  <a:srgbClr val="C3C0BC"/>
                </a:solidFill>
                <a:latin typeface="Cambria" pitchFamily="34" charset="0"/>
                <a:ea typeface="Cambria" pitchFamily="34" charset="-122"/>
                <a:cs typeface="B Titr" pitchFamily="34" charset="-120"/>
              </a:rPr>
              <a:t>روش پیشنهادی</a:t>
            </a:r>
            <a:endParaRPr lang="en-US" sz="1600" dirty="0"/>
          </a:p>
        </p:txBody>
      </p:sp>
      <p:sp>
        <p:nvSpPr>
          <p:cNvPr id="15" name="Text 13"/>
          <p:cNvSpPr txBox="1"/>
          <p:nvPr/>
        </p:nvSpPr>
        <p:spPr>
          <a:xfrm>
            <a:off x="6568440" y="3867912"/>
            <a:ext cx="4389120" cy="457200"/>
          </a:xfrm>
          <a:prstGeom prst="rect">
            <a:avLst/>
          </a:prstGeom>
          <a:noFill/>
          <a:ln/>
        </p:spPr>
        <p:txBody>
          <a:bodyPr wrap="square" rtlCol="0" anchor="ctr"/>
          <a:lstStyle/>
          <a:p>
            <a:pPr indent="0" marL="0" rtl="1" algn="r">
              <a:buNone/>
            </a:pPr>
            <a:r>
              <a:rPr lang="en-US" sz="1200" dirty="0">
                <a:solidFill>
                  <a:srgbClr val="CFCCC8"/>
                </a:solidFill>
                <a:latin typeface="Calibri" pitchFamily="34" charset="0"/>
                <a:ea typeface="Calibri" pitchFamily="34" charset="-122"/>
                <a:cs typeface="B Nazanin" pitchFamily="34" charset="-120"/>
              </a:rPr>
              <a:t>ساختار و مراحل سامانه</a:t>
            </a:r>
            <a:endParaRPr lang="en-US" sz="1200" dirty="0"/>
          </a:p>
        </p:txBody>
      </p:sp>
      <p:sp>
        <p:nvSpPr>
          <p:cNvPr id="16" name="Shape 14"/>
          <p:cNvSpPr/>
          <p:nvPr/>
        </p:nvSpPr>
        <p:spPr>
          <a:xfrm>
            <a:off x="11140440" y="4745736"/>
            <a:ext cx="502920" cy="502920"/>
          </a:xfrm>
          <a:prstGeom prst="ellipse">
            <a:avLst/>
          </a:prstGeom>
          <a:solidFill>
            <a:srgbClr val="DCD8D4"/>
          </a:solidFill>
          <a:ln/>
        </p:spPr>
      </p:sp>
      <p:sp>
        <p:nvSpPr>
          <p:cNvPr id="17" name="Text 15"/>
          <p:cNvSpPr txBox="1"/>
          <p:nvPr/>
        </p:nvSpPr>
        <p:spPr>
          <a:xfrm>
            <a:off x="11140440" y="4745736"/>
            <a:ext cx="502920" cy="50292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۴</a:t>
            </a:r>
            <a:endParaRPr lang="en-US" sz="2000" dirty="0"/>
          </a:p>
        </p:txBody>
      </p:sp>
      <p:sp>
        <p:nvSpPr>
          <p:cNvPr id="18" name="Text 16"/>
          <p:cNvSpPr txBox="1"/>
          <p:nvPr/>
        </p:nvSpPr>
        <p:spPr>
          <a:xfrm>
            <a:off x="6568440" y="4700016"/>
            <a:ext cx="4389120" cy="365760"/>
          </a:xfrm>
          <a:prstGeom prst="rect">
            <a:avLst/>
          </a:prstGeom>
          <a:noFill/>
          <a:ln/>
        </p:spPr>
        <p:txBody>
          <a:bodyPr wrap="square" rtlCol="0" anchor="ctr"/>
          <a:lstStyle/>
          <a:p>
            <a:pPr indent="0" marL="0" rtl="1" algn="r">
              <a:buNone/>
            </a:pPr>
            <a:r>
              <a:rPr lang="en-US" sz="1600" b="1" dirty="0">
                <a:solidFill>
                  <a:srgbClr val="C3C0BC"/>
                </a:solidFill>
                <a:latin typeface="Cambria" pitchFamily="34" charset="0"/>
                <a:ea typeface="Cambria" pitchFamily="34" charset="-122"/>
                <a:cs typeface="B Titr" pitchFamily="34" charset="-120"/>
              </a:rPr>
              <a:t>نتایج</a:t>
            </a:r>
            <a:endParaRPr lang="en-US" sz="1600" dirty="0"/>
          </a:p>
        </p:txBody>
      </p:sp>
      <p:sp>
        <p:nvSpPr>
          <p:cNvPr id="19" name="Text 17"/>
          <p:cNvSpPr txBox="1"/>
          <p:nvPr/>
        </p:nvSpPr>
        <p:spPr>
          <a:xfrm>
            <a:off x="6568440" y="5038344"/>
            <a:ext cx="4389120" cy="457200"/>
          </a:xfrm>
          <a:prstGeom prst="rect">
            <a:avLst/>
          </a:prstGeom>
          <a:noFill/>
          <a:ln/>
        </p:spPr>
        <p:txBody>
          <a:bodyPr wrap="square" rtlCol="0" anchor="ctr"/>
          <a:lstStyle/>
          <a:p>
            <a:pPr indent="0" marL="0" rtl="1" algn="r">
              <a:buNone/>
            </a:pPr>
            <a:r>
              <a:rPr lang="en-US" sz="1200" dirty="0">
                <a:solidFill>
                  <a:srgbClr val="CFCCC8"/>
                </a:solidFill>
                <a:latin typeface="Calibri" pitchFamily="34" charset="0"/>
                <a:ea typeface="Calibri" pitchFamily="34" charset="-122"/>
                <a:cs typeface="B Nazanin" pitchFamily="34" charset="-120"/>
              </a:rPr>
              <a:t>دقت اندازه‌گیری بر روی مجموعه مرجع</a:t>
            </a:r>
            <a:endParaRPr lang="en-US" sz="1200" dirty="0"/>
          </a:p>
        </p:txBody>
      </p:sp>
      <p:sp>
        <p:nvSpPr>
          <p:cNvPr id="20" name="Shape 18"/>
          <p:cNvSpPr/>
          <p:nvPr/>
        </p:nvSpPr>
        <p:spPr>
          <a:xfrm>
            <a:off x="5516880" y="1234440"/>
            <a:ext cx="502920" cy="502920"/>
          </a:xfrm>
          <a:prstGeom prst="ellipse">
            <a:avLst/>
          </a:prstGeom>
          <a:solidFill>
            <a:srgbClr val="DCD8D4"/>
          </a:solidFill>
          <a:ln/>
        </p:spPr>
      </p:sp>
      <p:sp>
        <p:nvSpPr>
          <p:cNvPr id="21" name="Text 19"/>
          <p:cNvSpPr txBox="1"/>
          <p:nvPr/>
        </p:nvSpPr>
        <p:spPr>
          <a:xfrm>
            <a:off x="5516880" y="1234440"/>
            <a:ext cx="502920" cy="50292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۵</a:t>
            </a:r>
            <a:endParaRPr lang="en-US" sz="2000" dirty="0"/>
          </a:p>
        </p:txBody>
      </p:sp>
      <p:sp>
        <p:nvSpPr>
          <p:cNvPr id="22" name="Text 20"/>
          <p:cNvSpPr txBox="1"/>
          <p:nvPr/>
        </p:nvSpPr>
        <p:spPr>
          <a:xfrm>
            <a:off x="944880" y="1188720"/>
            <a:ext cx="4389120" cy="365760"/>
          </a:xfrm>
          <a:prstGeom prst="rect">
            <a:avLst/>
          </a:prstGeom>
          <a:noFill/>
          <a:ln/>
        </p:spPr>
        <p:txBody>
          <a:bodyPr wrap="square" rtlCol="0" anchor="ctr"/>
          <a:lstStyle/>
          <a:p>
            <a:pPr indent="0" marL="0" rtl="1" algn="r">
              <a:buNone/>
            </a:pPr>
            <a:r>
              <a:rPr lang="en-US" sz="1600" b="1" dirty="0">
                <a:solidFill>
                  <a:srgbClr val="C3C0BC"/>
                </a:solidFill>
                <a:latin typeface="Cambria" pitchFamily="34" charset="0"/>
                <a:ea typeface="Cambria" pitchFamily="34" charset="-122"/>
                <a:cs typeface="B Titr" pitchFamily="34" charset="-120"/>
              </a:rPr>
              <a:t>تفسیر بالینی</a:t>
            </a:r>
            <a:endParaRPr lang="en-US" sz="1600" dirty="0"/>
          </a:p>
        </p:txBody>
      </p:sp>
      <p:sp>
        <p:nvSpPr>
          <p:cNvPr id="23" name="Text 21"/>
          <p:cNvSpPr txBox="1"/>
          <p:nvPr/>
        </p:nvSpPr>
        <p:spPr>
          <a:xfrm>
            <a:off x="944880" y="1527048"/>
            <a:ext cx="4389120" cy="457200"/>
          </a:xfrm>
          <a:prstGeom prst="rect">
            <a:avLst/>
          </a:prstGeom>
          <a:noFill/>
          <a:ln/>
        </p:spPr>
        <p:txBody>
          <a:bodyPr wrap="square" rtlCol="0" anchor="ctr"/>
          <a:lstStyle/>
          <a:p>
            <a:pPr indent="0" marL="0" rtl="1" algn="r">
              <a:buNone/>
            </a:pPr>
            <a:r>
              <a:rPr lang="en-US" sz="1200" dirty="0">
                <a:solidFill>
                  <a:srgbClr val="CFCCC8"/>
                </a:solidFill>
                <a:latin typeface="Calibri" pitchFamily="34" charset="0"/>
                <a:ea typeface="Calibri" pitchFamily="34" charset="-122"/>
                <a:cs typeface="B Nazanin" pitchFamily="34" charset="-120"/>
              </a:rPr>
              <a:t>معنای دقت به‌دست‌آمده برای تصمیم درمانی</a:t>
            </a:r>
            <a:endParaRPr lang="en-US" sz="1200" dirty="0"/>
          </a:p>
        </p:txBody>
      </p:sp>
      <p:sp>
        <p:nvSpPr>
          <p:cNvPr id="24" name="Shape 22"/>
          <p:cNvSpPr/>
          <p:nvPr/>
        </p:nvSpPr>
        <p:spPr>
          <a:xfrm>
            <a:off x="5516880" y="2404872"/>
            <a:ext cx="502920" cy="502920"/>
          </a:xfrm>
          <a:prstGeom prst="ellipse">
            <a:avLst/>
          </a:prstGeom>
          <a:solidFill>
            <a:srgbClr val="E98300"/>
          </a:solidFill>
          <a:ln/>
        </p:spPr>
      </p:sp>
      <p:sp>
        <p:nvSpPr>
          <p:cNvPr id="25" name="Text 23"/>
          <p:cNvSpPr txBox="1"/>
          <p:nvPr/>
        </p:nvSpPr>
        <p:spPr>
          <a:xfrm>
            <a:off x="5516880" y="2404872"/>
            <a:ext cx="502920" cy="50292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۶</a:t>
            </a:r>
            <a:endParaRPr lang="en-US" sz="2000" dirty="0"/>
          </a:p>
        </p:txBody>
      </p:sp>
      <p:sp>
        <p:nvSpPr>
          <p:cNvPr id="26" name="Text 24"/>
          <p:cNvSpPr txBox="1"/>
          <p:nvPr/>
        </p:nvSpPr>
        <p:spPr>
          <a:xfrm>
            <a:off x="944880" y="2359152"/>
            <a:ext cx="4389120" cy="365760"/>
          </a:xfrm>
          <a:prstGeom prst="rect">
            <a:avLst/>
          </a:prstGeom>
          <a:noFill/>
          <a:ln/>
        </p:spPr>
        <p:txBody>
          <a:bodyPr wrap="square" rtlCol="0" anchor="ctr"/>
          <a:lstStyle/>
          <a:p>
            <a:pPr indent="0" marL="0" rtl="1" algn="r">
              <a:buNone/>
            </a:pPr>
            <a:r>
              <a:rPr lang="en-US" sz="1600" b="1" dirty="0">
                <a:solidFill>
                  <a:srgbClr val="2E2D29"/>
                </a:solidFill>
                <a:latin typeface="Cambria" pitchFamily="34" charset="0"/>
                <a:ea typeface="Cambria" pitchFamily="34" charset="-122"/>
                <a:cs typeface="B Titr" pitchFamily="34" charset="-120"/>
              </a:rPr>
              <a:t>یافته اصلی</a:t>
            </a:r>
            <a:endParaRPr lang="en-US" sz="1600" dirty="0"/>
          </a:p>
        </p:txBody>
      </p:sp>
      <p:sp>
        <p:nvSpPr>
          <p:cNvPr id="27" name="Text 25"/>
          <p:cNvSpPr txBox="1"/>
          <p:nvPr/>
        </p:nvSpPr>
        <p:spPr>
          <a:xfrm>
            <a:off x="944880" y="2697480"/>
            <a:ext cx="4389120" cy="457200"/>
          </a:xfrm>
          <a:prstGeom prst="rect">
            <a:avLst/>
          </a:prstGeom>
          <a:noFill/>
          <a:ln/>
        </p:spPr>
        <p:txBody>
          <a:bodyPr wrap="square" rtlCol="0" anchor="ctr"/>
          <a:lstStyle/>
          <a:p>
            <a:pPr indent="0" marL="0" rtl="1" algn="r">
              <a:buNone/>
            </a:pPr>
            <a:r>
              <a:rPr lang="en-US" sz="1200" dirty="0">
                <a:solidFill>
                  <a:srgbClr val="716E69"/>
                </a:solidFill>
                <a:latin typeface="Calibri" pitchFamily="34" charset="0"/>
                <a:ea typeface="Calibri" pitchFamily="34" charset="-122"/>
                <a:cs typeface="B Nazanin" pitchFamily="34" charset="-120"/>
              </a:rPr>
              <a:t>علت خطای باقی‌مانده</a:t>
            </a:r>
            <a:endParaRPr lang="en-US" sz="1200" dirty="0"/>
          </a:p>
        </p:txBody>
      </p:sp>
      <p:sp>
        <p:nvSpPr>
          <p:cNvPr id="28" name="Shape 26"/>
          <p:cNvSpPr/>
          <p:nvPr/>
        </p:nvSpPr>
        <p:spPr>
          <a:xfrm>
            <a:off x="5516880" y="3575304"/>
            <a:ext cx="502920" cy="502920"/>
          </a:xfrm>
          <a:prstGeom prst="ellipse">
            <a:avLst/>
          </a:prstGeom>
          <a:solidFill>
            <a:srgbClr val="DCD8D4"/>
          </a:solidFill>
          <a:ln/>
        </p:spPr>
      </p:sp>
      <p:sp>
        <p:nvSpPr>
          <p:cNvPr id="29" name="Text 27"/>
          <p:cNvSpPr txBox="1"/>
          <p:nvPr/>
        </p:nvSpPr>
        <p:spPr>
          <a:xfrm>
            <a:off x="5516880" y="3575304"/>
            <a:ext cx="502920" cy="50292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۷</a:t>
            </a:r>
            <a:endParaRPr lang="en-US" sz="2000" dirty="0"/>
          </a:p>
        </p:txBody>
      </p:sp>
      <p:sp>
        <p:nvSpPr>
          <p:cNvPr id="30" name="Text 28"/>
          <p:cNvSpPr txBox="1"/>
          <p:nvPr/>
        </p:nvSpPr>
        <p:spPr>
          <a:xfrm>
            <a:off x="944880" y="3529584"/>
            <a:ext cx="4389120" cy="365760"/>
          </a:xfrm>
          <a:prstGeom prst="rect">
            <a:avLst/>
          </a:prstGeom>
          <a:noFill/>
          <a:ln/>
        </p:spPr>
        <p:txBody>
          <a:bodyPr wrap="square" rtlCol="0" anchor="ctr"/>
          <a:lstStyle/>
          <a:p>
            <a:pPr indent="0" marL="0" rtl="1" algn="r">
              <a:buNone/>
            </a:pPr>
            <a:r>
              <a:rPr lang="en-US" sz="1600" b="1" dirty="0">
                <a:solidFill>
                  <a:srgbClr val="C3C0BC"/>
                </a:solidFill>
                <a:latin typeface="Cambria" pitchFamily="34" charset="0"/>
                <a:ea typeface="Cambria" pitchFamily="34" charset="-122"/>
                <a:cs typeface="B Titr" pitchFamily="34" charset="-120"/>
              </a:rPr>
              <a:t>محدودیت‌ها و جمع‌بندی</a:t>
            </a:r>
            <a:endParaRPr lang="en-US" sz="1600" dirty="0"/>
          </a:p>
        </p:txBody>
      </p:sp>
      <p:sp>
        <p:nvSpPr>
          <p:cNvPr id="31" name="Text 29"/>
          <p:cNvSpPr txBox="1"/>
          <p:nvPr/>
        </p:nvSpPr>
        <p:spPr>
          <a:xfrm>
            <a:off x="944880" y="3867912"/>
            <a:ext cx="4389120" cy="457200"/>
          </a:xfrm>
          <a:prstGeom prst="rect">
            <a:avLst/>
          </a:prstGeom>
          <a:noFill/>
          <a:ln/>
        </p:spPr>
        <p:txBody>
          <a:bodyPr wrap="square" rtlCol="0" anchor="ctr"/>
          <a:lstStyle/>
          <a:p>
            <a:pPr indent="0" marL="0" rtl="1" algn="r">
              <a:buNone/>
            </a:pPr>
            <a:r>
              <a:rPr lang="en-US" sz="1200" dirty="0">
                <a:solidFill>
                  <a:srgbClr val="CFCCC8"/>
                </a:solidFill>
                <a:latin typeface="Calibri" pitchFamily="34" charset="0"/>
                <a:ea typeface="Calibri" pitchFamily="34" charset="-122"/>
                <a:cs typeface="B Nazanin" pitchFamily="34" charset="-120"/>
              </a:rPr>
              <a:t>محدودیت‌ها، دستاوردها و کار آینده</a:t>
            </a:r>
            <a:endParaRPr lang="en-US" sz="1200" dirty="0"/>
          </a:p>
        </p:txBody>
      </p:sp>
      <p:sp>
        <p:nvSpPr>
          <p:cNvPr id="32" name="Text 30"/>
          <p:cNvSpPr txBox="1"/>
          <p:nvPr/>
        </p:nvSpPr>
        <p:spPr>
          <a:xfrm>
            <a:off x="4328160" y="6473952"/>
            <a:ext cx="7315200" cy="274320"/>
          </a:xfrm>
          <a:prstGeom prst="rect">
            <a:avLst/>
          </a:prstGeom>
          <a:noFill/>
          <a:ln/>
        </p:spPr>
        <p:txBody>
          <a:bodyPr wrap="square" rtlCol="0" anchor="ctr"/>
          <a:lstStyle/>
          <a:p>
            <a:pPr indent="0" marL="0" rtl="1" algn="r">
              <a:buNone/>
            </a:pPr>
            <a:r>
              <a:rPr lang="en-US" sz="900" spc="200" kern="0" dirty="0">
                <a:solidFill>
                  <a:srgbClr val="716E69"/>
                </a:solidFill>
                <a:latin typeface="Calibri" pitchFamily="34" charset="0"/>
                <a:ea typeface="Calibri" pitchFamily="34" charset="-122"/>
                <a:cs typeface="B Nazanin" pitchFamily="34" charset="-120"/>
              </a:rPr>
              <a:t>یافته اصلی</a:t>
            </a:r>
            <a:endParaRPr lang="en-US" sz="900" dirty="0"/>
          </a:p>
        </p:txBody>
      </p:sp>
      <p:sp>
        <p:nvSpPr>
          <p:cNvPr id="33" name="Text 31"/>
          <p:cNvSpPr txBox="1"/>
          <p:nvPr/>
        </p:nvSpPr>
        <p:spPr>
          <a:xfrm>
            <a:off x="185928" y="6473952"/>
            <a:ext cx="457200" cy="274320"/>
          </a:xfrm>
          <a:prstGeom prst="rect">
            <a:avLst/>
          </a:prstGeom>
          <a:noFill/>
          <a:ln/>
        </p:spPr>
        <p:txBody>
          <a:bodyPr wrap="square" rtlCol="0" anchor="ctr"/>
          <a:lstStyle/>
          <a:p>
            <a:pPr algn="r" indent="0" marL="0" rtl="1">
              <a:buNone/>
            </a:pPr>
            <a:r>
              <a:rPr lang="en-US" sz="900" dirty="0">
                <a:solidFill>
                  <a:srgbClr val="716E69"/>
                </a:solidFill>
                <a:latin typeface="Calibri" pitchFamily="34" charset="0"/>
                <a:ea typeface="Calibri" pitchFamily="34" charset="-122"/>
                <a:cs typeface="B Nazanin" pitchFamily="34" charset="-120"/>
              </a:rPr>
              <a:t>۱۷ / ۲۴</a:t>
            </a:r>
            <a:endParaRPr lang="en-US" sz="900" dirty="0"/>
          </a:p>
        </p:txBody>
      </p:sp>
      <p:sp>
        <p:nvSpPr>
          <p:cNvPr id="9001" name="progress track"/>
          <p:cNvSpPr/>
          <p:nvPr/>
        </p:nvSpPr>
        <p:spPr>
          <a:xfrm>
            <a:off x="0" y="6803000"/>
            <a:ext cx="12192000" cy="55000"/>
          </a:xfrm>
          <a:prstGeom prst="rect">
            <a:avLst/>
          </a:prstGeom>
          <a:solidFill>
            <a:srgbClr val="EDE9E5"/>
          </a:solidFill>
          <a:ln>
            <a:noFill/>
          </a:ln>
        </p:spPr>
        <p:txBody>
          <a:bodyPr/>
          <a:lstStyle/>
          <a:p/>
        </p:txBody>
      </p:sp>
      <p:sp>
        <p:nvSpPr>
          <p:cNvPr id="9002" name="progress fill"/>
          <p:cNvSpPr/>
          <p:nvPr/>
        </p:nvSpPr>
        <p:spPr>
          <a:xfrm>
            <a:off x="3556000" y="6803000"/>
            <a:ext cx="8636000" cy="55000"/>
          </a:xfrm>
          <a:prstGeom prst="rect">
            <a:avLst/>
          </a:prstGeom>
          <a:solidFill>
            <a:srgbClr val="8C1515"/>
          </a:solidFill>
          <a:ln>
            <a:noFill/>
          </a:ln>
        </p:spPr>
        <p:txBody>
          <a:bodyPr/>
          <a:lstStyle/>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11442192" y="475488"/>
            <a:ext cx="201168" cy="201168"/>
          </a:xfrm>
          <a:prstGeom prst="ellipse">
            <a:avLst/>
          </a:prstGeom>
          <a:solidFill>
            <a:srgbClr val="E98300"/>
          </a:solidFill>
          <a:ln/>
        </p:spPr>
      </p:sp>
      <p:sp>
        <p:nvSpPr>
          <p:cNvPr id="3" name="Text 1"/>
          <p:cNvSpPr txBox="1"/>
          <p:nvPr/>
        </p:nvSpPr>
        <p:spPr>
          <a:xfrm>
            <a:off x="1694688" y="347472"/>
            <a:ext cx="9601200" cy="502920"/>
          </a:xfrm>
          <a:prstGeom prst="rect">
            <a:avLst/>
          </a:prstGeom>
          <a:noFill/>
          <a:ln/>
        </p:spPr>
        <p:txBody>
          <a:bodyPr wrap="square" rtlCol="0" anchor="ctr"/>
          <a:lstStyle/>
          <a:p>
            <a:pPr indent="0" marL="0" rtl="1" algn="r">
              <a:buNone/>
            </a:pPr>
            <a:r>
              <a:rPr lang="en-US" sz="3000" b="1" dirty="0">
                <a:solidFill>
                  <a:srgbClr val="8C1515"/>
                </a:solidFill>
                <a:latin typeface="Cambria" pitchFamily="34" charset="0"/>
                <a:ea typeface="Cambria" pitchFamily="34" charset="-122"/>
                <a:cs typeface="B Titr" pitchFamily="34" charset="-120"/>
              </a:rPr>
              <a:t>بخش ۷ از ۷ — حدود ۳ دقیقه تا پایان</a:t>
            </a:r>
            <a:endParaRPr lang="en-US" sz="3000" dirty="0"/>
          </a:p>
        </p:txBody>
      </p:sp>
      <p:sp>
        <p:nvSpPr>
          <p:cNvPr id="4" name="Shape 2"/>
          <p:cNvSpPr/>
          <p:nvPr/>
        </p:nvSpPr>
        <p:spPr>
          <a:xfrm>
            <a:off x="11140440" y="1234440"/>
            <a:ext cx="502920" cy="502920"/>
          </a:xfrm>
          <a:prstGeom prst="ellipse">
            <a:avLst/>
          </a:prstGeom>
          <a:solidFill>
            <a:srgbClr val="DCD8D4"/>
          </a:solidFill>
          <a:ln/>
        </p:spPr>
      </p:sp>
      <p:sp>
        <p:nvSpPr>
          <p:cNvPr id="5" name="Text 3"/>
          <p:cNvSpPr txBox="1"/>
          <p:nvPr/>
        </p:nvSpPr>
        <p:spPr>
          <a:xfrm>
            <a:off x="11140440" y="1234440"/>
            <a:ext cx="502920" cy="50292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۱</a:t>
            </a:r>
            <a:endParaRPr lang="en-US" sz="2000" dirty="0"/>
          </a:p>
        </p:txBody>
      </p:sp>
      <p:sp>
        <p:nvSpPr>
          <p:cNvPr id="6" name="Text 4"/>
          <p:cNvSpPr txBox="1"/>
          <p:nvPr/>
        </p:nvSpPr>
        <p:spPr>
          <a:xfrm>
            <a:off x="6568440" y="1188720"/>
            <a:ext cx="4389120" cy="365760"/>
          </a:xfrm>
          <a:prstGeom prst="rect">
            <a:avLst/>
          </a:prstGeom>
          <a:noFill/>
          <a:ln/>
        </p:spPr>
        <p:txBody>
          <a:bodyPr wrap="square" rtlCol="0" anchor="ctr"/>
          <a:lstStyle/>
          <a:p>
            <a:pPr indent="0" marL="0" rtl="1" algn="r">
              <a:buNone/>
            </a:pPr>
            <a:r>
              <a:rPr lang="en-US" sz="1600" b="1" dirty="0">
                <a:solidFill>
                  <a:srgbClr val="C3C0BC"/>
                </a:solidFill>
                <a:latin typeface="Cambria" pitchFamily="34" charset="0"/>
                <a:ea typeface="Cambria" pitchFamily="34" charset="-122"/>
                <a:cs typeface="B Titr" pitchFamily="34" charset="-120"/>
              </a:rPr>
              <a:t>مسئله و انگیزه</a:t>
            </a:r>
            <a:endParaRPr lang="en-US" sz="1600" dirty="0"/>
          </a:p>
        </p:txBody>
      </p:sp>
      <p:sp>
        <p:nvSpPr>
          <p:cNvPr id="7" name="Text 5"/>
          <p:cNvSpPr txBox="1"/>
          <p:nvPr/>
        </p:nvSpPr>
        <p:spPr>
          <a:xfrm>
            <a:off x="6568440" y="1527048"/>
            <a:ext cx="4389120" cy="457200"/>
          </a:xfrm>
          <a:prstGeom prst="rect">
            <a:avLst/>
          </a:prstGeom>
          <a:noFill/>
          <a:ln/>
        </p:spPr>
        <p:txBody>
          <a:bodyPr wrap="square" rtlCol="0" anchor="ctr"/>
          <a:lstStyle/>
          <a:p>
            <a:pPr indent="0" marL="0" rtl="1" algn="r">
              <a:buNone/>
            </a:pPr>
            <a:r>
              <a:rPr lang="en-US" sz="1200" dirty="0">
                <a:solidFill>
                  <a:srgbClr val="CFCCC8"/>
                </a:solidFill>
                <a:latin typeface="Calibri" pitchFamily="34" charset="0"/>
                <a:ea typeface="Calibri" pitchFamily="34" charset="-122"/>
                <a:cs typeface="B Nazanin" pitchFamily="34" charset="-120"/>
              </a:rPr>
              <a:t>ضرورت خودکارسازی این اندازه‌گیری</a:t>
            </a:r>
            <a:endParaRPr lang="en-US" sz="1200" dirty="0"/>
          </a:p>
        </p:txBody>
      </p:sp>
      <p:sp>
        <p:nvSpPr>
          <p:cNvPr id="8" name="Shape 6"/>
          <p:cNvSpPr/>
          <p:nvPr/>
        </p:nvSpPr>
        <p:spPr>
          <a:xfrm>
            <a:off x="11140440" y="2404872"/>
            <a:ext cx="502920" cy="502920"/>
          </a:xfrm>
          <a:prstGeom prst="ellipse">
            <a:avLst/>
          </a:prstGeom>
          <a:solidFill>
            <a:srgbClr val="DCD8D4"/>
          </a:solidFill>
          <a:ln/>
        </p:spPr>
      </p:sp>
      <p:sp>
        <p:nvSpPr>
          <p:cNvPr id="9" name="Text 7"/>
          <p:cNvSpPr txBox="1"/>
          <p:nvPr/>
        </p:nvSpPr>
        <p:spPr>
          <a:xfrm>
            <a:off x="11140440" y="2404872"/>
            <a:ext cx="502920" cy="50292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۲</a:t>
            </a:r>
            <a:endParaRPr lang="en-US" sz="2000" dirty="0"/>
          </a:p>
        </p:txBody>
      </p:sp>
      <p:sp>
        <p:nvSpPr>
          <p:cNvPr id="10" name="Text 8"/>
          <p:cNvSpPr txBox="1"/>
          <p:nvPr/>
        </p:nvSpPr>
        <p:spPr>
          <a:xfrm>
            <a:off x="6568440" y="2359152"/>
            <a:ext cx="4389120" cy="365760"/>
          </a:xfrm>
          <a:prstGeom prst="rect">
            <a:avLst/>
          </a:prstGeom>
          <a:noFill/>
          <a:ln/>
        </p:spPr>
        <p:txBody>
          <a:bodyPr wrap="square" rtlCol="0" anchor="ctr"/>
          <a:lstStyle/>
          <a:p>
            <a:pPr indent="0" marL="0" rtl="1" algn="r">
              <a:buNone/>
            </a:pPr>
            <a:r>
              <a:rPr lang="en-US" sz="1600" b="1" dirty="0">
                <a:solidFill>
                  <a:srgbClr val="C3C0BC"/>
                </a:solidFill>
                <a:latin typeface="Cambria" pitchFamily="34" charset="0"/>
                <a:ea typeface="Cambria" pitchFamily="34" charset="-122"/>
                <a:cs typeface="B Titr" pitchFamily="34" charset="-120"/>
              </a:rPr>
              <a:t>هدف و کارهای پیشین</a:t>
            </a:r>
            <a:endParaRPr lang="en-US" sz="1600" dirty="0"/>
          </a:p>
        </p:txBody>
      </p:sp>
      <p:sp>
        <p:nvSpPr>
          <p:cNvPr id="11" name="Text 9"/>
          <p:cNvSpPr txBox="1"/>
          <p:nvPr/>
        </p:nvSpPr>
        <p:spPr>
          <a:xfrm>
            <a:off x="6568440" y="2697480"/>
            <a:ext cx="4389120" cy="457200"/>
          </a:xfrm>
          <a:prstGeom prst="rect">
            <a:avLst/>
          </a:prstGeom>
          <a:noFill/>
          <a:ln/>
        </p:spPr>
        <p:txBody>
          <a:bodyPr wrap="square" rtlCol="0" anchor="ctr"/>
          <a:lstStyle/>
          <a:p>
            <a:pPr indent="0" marL="0" rtl="1" algn="r">
              <a:buNone/>
            </a:pPr>
            <a:r>
              <a:rPr lang="en-US" sz="1200" dirty="0">
                <a:solidFill>
                  <a:srgbClr val="CFCCC8"/>
                </a:solidFill>
                <a:latin typeface="Calibri" pitchFamily="34" charset="0"/>
                <a:ea typeface="Calibri" pitchFamily="34" charset="-122"/>
                <a:cs typeface="B Nazanin" pitchFamily="34" charset="-120"/>
              </a:rPr>
              <a:t>اهداف پژوهش و جایگاه آن در ادبیات</a:t>
            </a:r>
            <a:endParaRPr lang="en-US" sz="1200" dirty="0"/>
          </a:p>
        </p:txBody>
      </p:sp>
      <p:sp>
        <p:nvSpPr>
          <p:cNvPr id="12" name="Shape 10"/>
          <p:cNvSpPr/>
          <p:nvPr/>
        </p:nvSpPr>
        <p:spPr>
          <a:xfrm>
            <a:off x="11140440" y="3575304"/>
            <a:ext cx="502920" cy="502920"/>
          </a:xfrm>
          <a:prstGeom prst="ellipse">
            <a:avLst/>
          </a:prstGeom>
          <a:solidFill>
            <a:srgbClr val="DCD8D4"/>
          </a:solidFill>
          <a:ln/>
        </p:spPr>
      </p:sp>
      <p:sp>
        <p:nvSpPr>
          <p:cNvPr id="13" name="Text 11"/>
          <p:cNvSpPr txBox="1"/>
          <p:nvPr/>
        </p:nvSpPr>
        <p:spPr>
          <a:xfrm>
            <a:off x="11140440" y="3575304"/>
            <a:ext cx="502920" cy="50292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۳</a:t>
            </a:r>
            <a:endParaRPr lang="en-US" sz="2000" dirty="0"/>
          </a:p>
        </p:txBody>
      </p:sp>
      <p:sp>
        <p:nvSpPr>
          <p:cNvPr id="14" name="Text 12"/>
          <p:cNvSpPr txBox="1"/>
          <p:nvPr/>
        </p:nvSpPr>
        <p:spPr>
          <a:xfrm>
            <a:off x="6568440" y="3529584"/>
            <a:ext cx="4389120" cy="365760"/>
          </a:xfrm>
          <a:prstGeom prst="rect">
            <a:avLst/>
          </a:prstGeom>
          <a:noFill/>
          <a:ln/>
        </p:spPr>
        <p:txBody>
          <a:bodyPr wrap="square" rtlCol="0" anchor="ctr"/>
          <a:lstStyle/>
          <a:p>
            <a:pPr indent="0" marL="0" rtl="1" algn="r">
              <a:buNone/>
            </a:pPr>
            <a:r>
              <a:rPr lang="en-US" sz="1600" b="1" dirty="0">
                <a:solidFill>
                  <a:srgbClr val="C3C0BC"/>
                </a:solidFill>
                <a:latin typeface="Cambria" pitchFamily="34" charset="0"/>
                <a:ea typeface="Cambria" pitchFamily="34" charset="-122"/>
                <a:cs typeface="B Titr" pitchFamily="34" charset="-120"/>
              </a:rPr>
              <a:t>روش پیشنهادی</a:t>
            </a:r>
            <a:endParaRPr lang="en-US" sz="1600" dirty="0"/>
          </a:p>
        </p:txBody>
      </p:sp>
      <p:sp>
        <p:nvSpPr>
          <p:cNvPr id="15" name="Text 13"/>
          <p:cNvSpPr txBox="1"/>
          <p:nvPr/>
        </p:nvSpPr>
        <p:spPr>
          <a:xfrm>
            <a:off x="6568440" y="3867912"/>
            <a:ext cx="4389120" cy="457200"/>
          </a:xfrm>
          <a:prstGeom prst="rect">
            <a:avLst/>
          </a:prstGeom>
          <a:noFill/>
          <a:ln/>
        </p:spPr>
        <p:txBody>
          <a:bodyPr wrap="square" rtlCol="0" anchor="ctr"/>
          <a:lstStyle/>
          <a:p>
            <a:pPr indent="0" marL="0" rtl="1" algn="r">
              <a:buNone/>
            </a:pPr>
            <a:r>
              <a:rPr lang="en-US" sz="1200" dirty="0">
                <a:solidFill>
                  <a:srgbClr val="CFCCC8"/>
                </a:solidFill>
                <a:latin typeface="Calibri" pitchFamily="34" charset="0"/>
                <a:ea typeface="Calibri" pitchFamily="34" charset="-122"/>
                <a:cs typeface="B Nazanin" pitchFamily="34" charset="-120"/>
              </a:rPr>
              <a:t>ساختار و مراحل سامانه</a:t>
            </a:r>
            <a:endParaRPr lang="en-US" sz="1200" dirty="0"/>
          </a:p>
        </p:txBody>
      </p:sp>
      <p:sp>
        <p:nvSpPr>
          <p:cNvPr id="16" name="Shape 14"/>
          <p:cNvSpPr/>
          <p:nvPr/>
        </p:nvSpPr>
        <p:spPr>
          <a:xfrm>
            <a:off x="11140440" y="4745736"/>
            <a:ext cx="502920" cy="502920"/>
          </a:xfrm>
          <a:prstGeom prst="ellipse">
            <a:avLst/>
          </a:prstGeom>
          <a:solidFill>
            <a:srgbClr val="DCD8D4"/>
          </a:solidFill>
          <a:ln/>
        </p:spPr>
      </p:sp>
      <p:sp>
        <p:nvSpPr>
          <p:cNvPr id="17" name="Text 15"/>
          <p:cNvSpPr txBox="1"/>
          <p:nvPr/>
        </p:nvSpPr>
        <p:spPr>
          <a:xfrm>
            <a:off x="11140440" y="4745736"/>
            <a:ext cx="502920" cy="50292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۴</a:t>
            </a:r>
            <a:endParaRPr lang="en-US" sz="2000" dirty="0"/>
          </a:p>
        </p:txBody>
      </p:sp>
      <p:sp>
        <p:nvSpPr>
          <p:cNvPr id="18" name="Text 16"/>
          <p:cNvSpPr txBox="1"/>
          <p:nvPr/>
        </p:nvSpPr>
        <p:spPr>
          <a:xfrm>
            <a:off x="6568440" y="4700016"/>
            <a:ext cx="4389120" cy="365760"/>
          </a:xfrm>
          <a:prstGeom prst="rect">
            <a:avLst/>
          </a:prstGeom>
          <a:noFill/>
          <a:ln/>
        </p:spPr>
        <p:txBody>
          <a:bodyPr wrap="square" rtlCol="0" anchor="ctr"/>
          <a:lstStyle/>
          <a:p>
            <a:pPr indent="0" marL="0" rtl="1" algn="r">
              <a:buNone/>
            </a:pPr>
            <a:r>
              <a:rPr lang="en-US" sz="1600" b="1" dirty="0">
                <a:solidFill>
                  <a:srgbClr val="C3C0BC"/>
                </a:solidFill>
                <a:latin typeface="Cambria" pitchFamily="34" charset="0"/>
                <a:ea typeface="Cambria" pitchFamily="34" charset="-122"/>
                <a:cs typeface="B Titr" pitchFamily="34" charset="-120"/>
              </a:rPr>
              <a:t>نتایج</a:t>
            </a:r>
            <a:endParaRPr lang="en-US" sz="1600" dirty="0"/>
          </a:p>
        </p:txBody>
      </p:sp>
      <p:sp>
        <p:nvSpPr>
          <p:cNvPr id="19" name="Text 17"/>
          <p:cNvSpPr txBox="1"/>
          <p:nvPr/>
        </p:nvSpPr>
        <p:spPr>
          <a:xfrm>
            <a:off x="6568440" y="5038344"/>
            <a:ext cx="4389120" cy="457200"/>
          </a:xfrm>
          <a:prstGeom prst="rect">
            <a:avLst/>
          </a:prstGeom>
          <a:noFill/>
          <a:ln/>
        </p:spPr>
        <p:txBody>
          <a:bodyPr wrap="square" rtlCol="0" anchor="ctr"/>
          <a:lstStyle/>
          <a:p>
            <a:pPr indent="0" marL="0" rtl="1" algn="r">
              <a:buNone/>
            </a:pPr>
            <a:r>
              <a:rPr lang="en-US" sz="1200" dirty="0">
                <a:solidFill>
                  <a:srgbClr val="CFCCC8"/>
                </a:solidFill>
                <a:latin typeface="Calibri" pitchFamily="34" charset="0"/>
                <a:ea typeface="Calibri" pitchFamily="34" charset="-122"/>
                <a:cs typeface="B Nazanin" pitchFamily="34" charset="-120"/>
              </a:rPr>
              <a:t>دقت اندازه‌گیری بر روی مجموعه مرجع</a:t>
            </a:r>
            <a:endParaRPr lang="en-US" sz="1200" dirty="0"/>
          </a:p>
        </p:txBody>
      </p:sp>
      <p:sp>
        <p:nvSpPr>
          <p:cNvPr id="20" name="Shape 18"/>
          <p:cNvSpPr/>
          <p:nvPr/>
        </p:nvSpPr>
        <p:spPr>
          <a:xfrm>
            <a:off x="5516880" y="1234440"/>
            <a:ext cx="502920" cy="502920"/>
          </a:xfrm>
          <a:prstGeom prst="ellipse">
            <a:avLst/>
          </a:prstGeom>
          <a:solidFill>
            <a:srgbClr val="DCD8D4"/>
          </a:solidFill>
          <a:ln/>
        </p:spPr>
      </p:sp>
      <p:sp>
        <p:nvSpPr>
          <p:cNvPr id="21" name="Text 19"/>
          <p:cNvSpPr txBox="1"/>
          <p:nvPr/>
        </p:nvSpPr>
        <p:spPr>
          <a:xfrm>
            <a:off x="5516880" y="1234440"/>
            <a:ext cx="502920" cy="50292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۵</a:t>
            </a:r>
            <a:endParaRPr lang="en-US" sz="2000" dirty="0"/>
          </a:p>
        </p:txBody>
      </p:sp>
      <p:sp>
        <p:nvSpPr>
          <p:cNvPr id="22" name="Text 20"/>
          <p:cNvSpPr txBox="1"/>
          <p:nvPr/>
        </p:nvSpPr>
        <p:spPr>
          <a:xfrm>
            <a:off x="944880" y="1188720"/>
            <a:ext cx="4389120" cy="365760"/>
          </a:xfrm>
          <a:prstGeom prst="rect">
            <a:avLst/>
          </a:prstGeom>
          <a:noFill/>
          <a:ln/>
        </p:spPr>
        <p:txBody>
          <a:bodyPr wrap="square" rtlCol="0" anchor="ctr"/>
          <a:lstStyle/>
          <a:p>
            <a:pPr indent="0" marL="0" rtl="1" algn="r">
              <a:buNone/>
            </a:pPr>
            <a:r>
              <a:rPr lang="en-US" sz="1600" b="1" dirty="0">
                <a:solidFill>
                  <a:srgbClr val="C3C0BC"/>
                </a:solidFill>
                <a:latin typeface="Cambria" pitchFamily="34" charset="0"/>
                <a:ea typeface="Cambria" pitchFamily="34" charset="-122"/>
                <a:cs typeface="B Titr" pitchFamily="34" charset="-120"/>
              </a:rPr>
              <a:t>تفسیر بالینی</a:t>
            </a:r>
            <a:endParaRPr lang="en-US" sz="1600" dirty="0"/>
          </a:p>
        </p:txBody>
      </p:sp>
      <p:sp>
        <p:nvSpPr>
          <p:cNvPr id="23" name="Text 21"/>
          <p:cNvSpPr txBox="1"/>
          <p:nvPr/>
        </p:nvSpPr>
        <p:spPr>
          <a:xfrm>
            <a:off x="944880" y="1527048"/>
            <a:ext cx="4389120" cy="457200"/>
          </a:xfrm>
          <a:prstGeom prst="rect">
            <a:avLst/>
          </a:prstGeom>
          <a:noFill/>
          <a:ln/>
        </p:spPr>
        <p:txBody>
          <a:bodyPr wrap="square" rtlCol="0" anchor="ctr"/>
          <a:lstStyle/>
          <a:p>
            <a:pPr indent="0" marL="0" rtl="1" algn="r">
              <a:buNone/>
            </a:pPr>
            <a:r>
              <a:rPr lang="en-US" sz="1200" dirty="0">
                <a:solidFill>
                  <a:srgbClr val="CFCCC8"/>
                </a:solidFill>
                <a:latin typeface="Calibri" pitchFamily="34" charset="0"/>
                <a:ea typeface="Calibri" pitchFamily="34" charset="-122"/>
                <a:cs typeface="B Nazanin" pitchFamily="34" charset="-120"/>
              </a:rPr>
              <a:t>معنای دقت به‌دست‌آمده برای تصمیم درمانی</a:t>
            </a:r>
            <a:endParaRPr lang="en-US" sz="1200" dirty="0"/>
          </a:p>
        </p:txBody>
      </p:sp>
      <p:sp>
        <p:nvSpPr>
          <p:cNvPr id="24" name="Shape 22"/>
          <p:cNvSpPr/>
          <p:nvPr/>
        </p:nvSpPr>
        <p:spPr>
          <a:xfrm>
            <a:off x="5516880" y="2404872"/>
            <a:ext cx="502920" cy="502920"/>
          </a:xfrm>
          <a:prstGeom prst="ellipse">
            <a:avLst/>
          </a:prstGeom>
          <a:solidFill>
            <a:srgbClr val="DCD8D4"/>
          </a:solidFill>
          <a:ln/>
        </p:spPr>
      </p:sp>
      <p:sp>
        <p:nvSpPr>
          <p:cNvPr id="25" name="Text 23"/>
          <p:cNvSpPr txBox="1"/>
          <p:nvPr/>
        </p:nvSpPr>
        <p:spPr>
          <a:xfrm>
            <a:off x="5516880" y="2404872"/>
            <a:ext cx="502920" cy="50292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۶</a:t>
            </a:r>
            <a:endParaRPr lang="en-US" sz="2000" dirty="0"/>
          </a:p>
        </p:txBody>
      </p:sp>
      <p:sp>
        <p:nvSpPr>
          <p:cNvPr id="26" name="Text 24"/>
          <p:cNvSpPr txBox="1"/>
          <p:nvPr/>
        </p:nvSpPr>
        <p:spPr>
          <a:xfrm>
            <a:off x="944880" y="2359152"/>
            <a:ext cx="4389120" cy="365760"/>
          </a:xfrm>
          <a:prstGeom prst="rect">
            <a:avLst/>
          </a:prstGeom>
          <a:noFill/>
          <a:ln/>
        </p:spPr>
        <p:txBody>
          <a:bodyPr wrap="square" rtlCol="0" anchor="ctr"/>
          <a:lstStyle/>
          <a:p>
            <a:pPr indent="0" marL="0" rtl="1" algn="r">
              <a:buNone/>
            </a:pPr>
            <a:r>
              <a:rPr lang="en-US" sz="1600" b="1" dirty="0">
                <a:solidFill>
                  <a:srgbClr val="C3C0BC"/>
                </a:solidFill>
                <a:latin typeface="Cambria" pitchFamily="34" charset="0"/>
                <a:ea typeface="Cambria" pitchFamily="34" charset="-122"/>
                <a:cs typeface="B Titr" pitchFamily="34" charset="-120"/>
              </a:rPr>
              <a:t>یافته اصلی</a:t>
            </a:r>
            <a:endParaRPr lang="en-US" sz="1600" dirty="0"/>
          </a:p>
        </p:txBody>
      </p:sp>
      <p:sp>
        <p:nvSpPr>
          <p:cNvPr id="27" name="Text 25"/>
          <p:cNvSpPr txBox="1"/>
          <p:nvPr/>
        </p:nvSpPr>
        <p:spPr>
          <a:xfrm>
            <a:off x="944880" y="2697480"/>
            <a:ext cx="4389120" cy="457200"/>
          </a:xfrm>
          <a:prstGeom prst="rect">
            <a:avLst/>
          </a:prstGeom>
          <a:noFill/>
          <a:ln/>
        </p:spPr>
        <p:txBody>
          <a:bodyPr wrap="square" rtlCol="0" anchor="ctr"/>
          <a:lstStyle/>
          <a:p>
            <a:pPr indent="0" marL="0" rtl="1" algn="r">
              <a:buNone/>
            </a:pPr>
            <a:r>
              <a:rPr lang="en-US" sz="1200" dirty="0">
                <a:solidFill>
                  <a:srgbClr val="CFCCC8"/>
                </a:solidFill>
                <a:latin typeface="Calibri" pitchFamily="34" charset="0"/>
                <a:ea typeface="Calibri" pitchFamily="34" charset="-122"/>
                <a:cs typeface="B Nazanin" pitchFamily="34" charset="-120"/>
              </a:rPr>
              <a:t>علت خطای باقی‌مانده</a:t>
            </a:r>
            <a:endParaRPr lang="en-US" sz="1200" dirty="0"/>
          </a:p>
        </p:txBody>
      </p:sp>
      <p:sp>
        <p:nvSpPr>
          <p:cNvPr id="28" name="Shape 26"/>
          <p:cNvSpPr/>
          <p:nvPr/>
        </p:nvSpPr>
        <p:spPr>
          <a:xfrm>
            <a:off x="5516880" y="3575304"/>
            <a:ext cx="502920" cy="502920"/>
          </a:xfrm>
          <a:prstGeom prst="ellipse">
            <a:avLst/>
          </a:prstGeom>
          <a:solidFill>
            <a:srgbClr val="8C1515"/>
          </a:solidFill>
          <a:ln/>
        </p:spPr>
      </p:sp>
      <p:sp>
        <p:nvSpPr>
          <p:cNvPr id="29" name="Text 27"/>
          <p:cNvSpPr txBox="1"/>
          <p:nvPr/>
        </p:nvSpPr>
        <p:spPr>
          <a:xfrm>
            <a:off x="5516880" y="3575304"/>
            <a:ext cx="502920" cy="502920"/>
          </a:xfrm>
          <a:prstGeom prst="rect">
            <a:avLst/>
          </a:prstGeom>
          <a:noFill/>
          <a:ln/>
        </p:spPr>
        <p:txBody>
          <a:bodyPr wrap="square" rtlCol="0" anchor="ctr"/>
          <a:lstStyle/>
          <a:p>
            <a:pPr algn="ctr" indent="0" marL="0" rtl="1">
              <a:buNone/>
            </a:pPr>
            <a:r>
              <a:rPr lang="en-US" sz="2000" b="1" dirty="0">
                <a:solidFill>
                  <a:srgbClr val="FFFFFF"/>
                </a:solidFill>
                <a:latin typeface="Cambria" pitchFamily="34" charset="0"/>
                <a:ea typeface="Cambria" pitchFamily="34" charset="-122"/>
                <a:cs typeface="B Titr" pitchFamily="34" charset="-120"/>
              </a:rPr>
              <a:t>۷</a:t>
            </a:r>
            <a:endParaRPr lang="en-US" sz="2000" dirty="0"/>
          </a:p>
        </p:txBody>
      </p:sp>
      <p:sp>
        <p:nvSpPr>
          <p:cNvPr id="30" name="Text 28"/>
          <p:cNvSpPr txBox="1"/>
          <p:nvPr/>
        </p:nvSpPr>
        <p:spPr>
          <a:xfrm>
            <a:off x="944880" y="3529584"/>
            <a:ext cx="4389120" cy="365760"/>
          </a:xfrm>
          <a:prstGeom prst="rect">
            <a:avLst/>
          </a:prstGeom>
          <a:noFill/>
          <a:ln/>
        </p:spPr>
        <p:txBody>
          <a:bodyPr wrap="square" rtlCol="0" anchor="ctr"/>
          <a:lstStyle/>
          <a:p>
            <a:pPr indent="0" marL="0" rtl="1" algn="r">
              <a:buNone/>
            </a:pPr>
            <a:r>
              <a:rPr lang="en-US" sz="1600" b="1" dirty="0">
                <a:solidFill>
                  <a:srgbClr val="2E2D29"/>
                </a:solidFill>
                <a:latin typeface="Cambria" pitchFamily="34" charset="0"/>
                <a:ea typeface="Cambria" pitchFamily="34" charset="-122"/>
                <a:cs typeface="B Titr" pitchFamily="34" charset="-120"/>
              </a:rPr>
              <a:t>محدودیت‌ها و جمع‌بندی</a:t>
            </a:r>
            <a:endParaRPr lang="en-US" sz="1600" dirty="0"/>
          </a:p>
        </p:txBody>
      </p:sp>
      <p:sp>
        <p:nvSpPr>
          <p:cNvPr id="31" name="Text 29"/>
          <p:cNvSpPr txBox="1"/>
          <p:nvPr/>
        </p:nvSpPr>
        <p:spPr>
          <a:xfrm>
            <a:off x="944880" y="3867912"/>
            <a:ext cx="4389120" cy="457200"/>
          </a:xfrm>
          <a:prstGeom prst="rect">
            <a:avLst/>
          </a:prstGeom>
          <a:noFill/>
          <a:ln/>
        </p:spPr>
        <p:txBody>
          <a:bodyPr wrap="square" rtlCol="0" anchor="ctr"/>
          <a:lstStyle/>
          <a:p>
            <a:pPr indent="0" marL="0" rtl="1" algn="r">
              <a:buNone/>
            </a:pPr>
            <a:r>
              <a:rPr lang="en-US" sz="1200" dirty="0">
                <a:solidFill>
                  <a:srgbClr val="716E69"/>
                </a:solidFill>
                <a:latin typeface="Calibri" pitchFamily="34" charset="0"/>
                <a:ea typeface="Calibri" pitchFamily="34" charset="-122"/>
                <a:cs typeface="B Nazanin" pitchFamily="34" charset="-120"/>
              </a:rPr>
              <a:t>محدودیت‌ها، دستاوردها و کار آینده</a:t>
            </a:r>
            <a:endParaRPr lang="en-US" sz="1200" dirty="0"/>
          </a:p>
        </p:txBody>
      </p:sp>
      <p:sp>
        <p:nvSpPr>
          <p:cNvPr id="32" name="Text 30"/>
          <p:cNvSpPr txBox="1"/>
          <p:nvPr/>
        </p:nvSpPr>
        <p:spPr>
          <a:xfrm>
            <a:off x="4328160" y="6473952"/>
            <a:ext cx="7315200" cy="274320"/>
          </a:xfrm>
          <a:prstGeom prst="rect">
            <a:avLst/>
          </a:prstGeom>
          <a:noFill/>
          <a:ln/>
        </p:spPr>
        <p:txBody>
          <a:bodyPr wrap="square" rtlCol="0" anchor="ctr"/>
          <a:lstStyle/>
          <a:p>
            <a:pPr indent="0" marL="0" rtl="1" algn="r">
              <a:buNone/>
            </a:pPr>
            <a:r>
              <a:rPr lang="en-US" sz="900" spc="200" kern="0" dirty="0">
                <a:solidFill>
                  <a:srgbClr val="716E69"/>
                </a:solidFill>
                <a:latin typeface="Calibri" pitchFamily="34" charset="0"/>
                <a:ea typeface="Calibri" pitchFamily="34" charset="-122"/>
                <a:cs typeface="B Nazanin" pitchFamily="34" charset="-120"/>
              </a:rPr>
              <a:t>محدودیت‌ها و جمع‌بندی</a:t>
            </a:r>
            <a:endParaRPr lang="en-US" sz="900" dirty="0"/>
          </a:p>
        </p:txBody>
      </p:sp>
      <p:sp>
        <p:nvSpPr>
          <p:cNvPr id="33" name="Text 31"/>
          <p:cNvSpPr txBox="1"/>
          <p:nvPr/>
        </p:nvSpPr>
        <p:spPr>
          <a:xfrm>
            <a:off x="185928" y="6473952"/>
            <a:ext cx="457200" cy="274320"/>
          </a:xfrm>
          <a:prstGeom prst="rect">
            <a:avLst/>
          </a:prstGeom>
          <a:noFill/>
          <a:ln/>
        </p:spPr>
        <p:txBody>
          <a:bodyPr wrap="square" rtlCol="0" anchor="ctr"/>
          <a:lstStyle/>
          <a:p>
            <a:pPr algn="r" indent="0" marL="0" rtl="1">
              <a:buNone/>
            </a:pPr>
            <a:r>
              <a:rPr lang="en-US" sz="900" dirty="0">
                <a:solidFill>
                  <a:srgbClr val="716E69"/>
                </a:solidFill>
                <a:latin typeface="Calibri" pitchFamily="34" charset="0"/>
                <a:ea typeface="Calibri" pitchFamily="34" charset="-122"/>
                <a:cs typeface="B Nazanin" pitchFamily="34" charset="-120"/>
              </a:rPr>
              <a:t>۱۹ / ۲۴</a:t>
            </a:r>
            <a:endParaRPr lang="en-US" sz="900" dirty="0"/>
          </a:p>
        </p:txBody>
      </p:sp>
      <p:sp>
        <p:nvSpPr>
          <p:cNvPr id="9001" name="progress track"/>
          <p:cNvSpPr/>
          <p:nvPr/>
        </p:nvSpPr>
        <p:spPr>
          <a:xfrm>
            <a:off x="0" y="6803000"/>
            <a:ext cx="12192000" cy="55000"/>
          </a:xfrm>
          <a:prstGeom prst="rect">
            <a:avLst/>
          </a:prstGeom>
          <a:solidFill>
            <a:srgbClr val="EDE9E5"/>
          </a:solidFill>
          <a:ln>
            <a:noFill/>
          </a:ln>
        </p:spPr>
        <p:txBody>
          <a:bodyPr/>
          <a:lstStyle/>
          <a:p/>
        </p:txBody>
      </p:sp>
      <p:sp>
        <p:nvSpPr>
          <p:cNvPr id="9002" name="progress fill"/>
          <p:cNvSpPr/>
          <p:nvPr/>
        </p:nvSpPr>
        <p:spPr>
          <a:xfrm>
            <a:off x="2540000" y="6803000"/>
            <a:ext cx="9652000" cy="55000"/>
          </a:xfrm>
          <a:prstGeom prst="rect">
            <a:avLst/>
          </a:prstGeom>
          <a:solidFill>
            <a:srgbClr val="8C1515"/>
          </a:solidFill>
          <a:ln>
            <a:noFill/>
          </a:ln>
        </p:spPr>
        <p:txBody>
          <a:bodyPr/>
          <a:lstStyle/>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B Titr"/>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B Nazanin"/>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2026-09-06T06:46:28Z</dcterms:created>
  <dcterms:modified xsi:type="dcterms:W3CDTF">2026-09-06T06:46:28Z</dcterms:modified>
</cp:coreProperties>
</file>