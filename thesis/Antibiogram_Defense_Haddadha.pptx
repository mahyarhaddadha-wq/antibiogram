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23"/>
    <p:sldId id="263" r:id="rId21"/>
    <p:sldId id="264" r:id="rId9"/>
    <p:sldId id="265" r:id="rId8"/>
    <p:sldId id="266" r:id="rId22"/>
    <p:sldId id="267" r:id="rId10"/>
    <p:sldId id="268" r:id="rId11"/>
    <p:sldId id="269" r:id="rId12"/>
    <p:sldId id="270" r:id="rId13"/>
    <p:sldId id="271" r:id="rId14"/>
    <p:sldId id="272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  <Relationship Id="rId21" Type="http://schemas.openxmlformats.org/officeDocument/2006/relationships/slide" Target="slides/slide15.xml"/>
  <Relationship Id="rId22" Type="http://schemas.openxmlformats.org/officeDocument/2006/relationships/slide" Target="slides/slide16.xml"/>
  <Relationship Id="rId23" Type="http://schemas.openxmlformats.org/officeDocument/2006/relationships/slide" Target="slides/slide17.xml"/>
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E2D29"/>
                </a:solidFill>
                <a:latin typeface="Cambria"/>
                <a:cs typeface="IRNazanin"/>
              </a:defRPr>
            </a:pPr>
            <a:r>
              <a:rPr sz="1400" b="0" i="0" u="none" strike="noStrike">
                <a:solidFill>
                  <a:srgbClr val="2E2D29"/>
                </a:solidFill>
                <a:latin typeface="Cambria"/>
                <a:cs typeface="IRNazanin"/>
              </a:rPr>
              <a:t>توافق دسته‌ای در برابر خطای متوسط اندازه‌گیری (میلی‌متر)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توافق دسته‌ای (درصد)</c:v>
                </c:pt>
              </c:strCache>
            </c:strRef>
          </c:tx>
          <c:spPr>
            <a:solidFill>
              <a:srgbClr val="8C151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E2D29"/>
                    </a:solidFill>
                    <a:latin typeface="Arial"/>
                    <a:cs typeface="IRNazanin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0.96</c:v>
                  </c:pt>
                  <c:pt idx="1">
                    <c:v>1.35</c:v>
                  </c:pt>
                  <c:pt idx="2">
                    <c:v>1.93</c:v>
                  </c:pt>
                  <c:pt idx="3">
                    <c:v>2.89</c:v>
                  </c:pt>
                  <c:pt idx="4">
                    <c:v>3.85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96.1</c:v>
                </c:pt>
                <c:pt idx="1">
                  <c:v>94.2</c:v>
                </c:pt>
                <c:pt idx="2">
                  <c:v>91.5</c:v>
                </c:pt>
                <c:pt idx="3">
                  <c:v>86.8</c:v>
                </c:pt>
                <c:pt idx="4">
                  <c:v>83.2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2E2D29"/>
                  </a:solidFill>
                  <a:latin typeface="Arial"/>
                  <a:cs typeface="IRNazanin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16E69"/>
                </a:solidFill>
                <a:latin typeface="Arial"/>
                <a:cs typeface="IRNazanin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80"/>
        </c:scaling>
        <c:delete val="0"/>
        <c:axPos val="l"/>
        <c:majorGridlines>
          <c:spPr>
            <a:ln w="12700" cap="flat">
              <a:solidFill>
                <a:srgbClr val="E8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16E69"/>
                </a:solidFill>
                <a:latin typeface="Arial"/>
                <a:cs typeface="IRNazanin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fa-IR" dirty="0">
                <a:cs typeface="IRNazanin"/>
              </a:rPr>
              <a:t>«۳۰ ثانیه» با سلام و خوش‌آمد شروع کنید. عنوان، رشته و نام استاد راهنما را شمرده بگویید. عجله نکنید؛ داوران در همین سی ثانیه ذهنشان را تنظیم می‌کنند.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fa-IR" dirty="0">
                <a:cs typeface="IRNazanin"/>
              </a:rPr>
              <a:t>«۳۰ ثانیه» فقط هفت سرفصل را بخوانید. توضیح ندهید. بگویید ارائه حدود بیست دقیقه است و پرسش‌ها در پایان پاسخ داده می‌شود.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fa-IR" dirty="0">
                <a:cs typeface="IRNazanin"/>
              </a:rPr>
              <a:t>«۱ دقیقه و ۳۰ ثانیه» با تصویر ذهنی شروع کنید: کارشناس، خط‌کش و ظرف پتری. بعد بگویید نتیجه همین اندازه‌گیری، داروی بیمار را تعیین می‌کند. عدد ۱٫۲۷ میلیون را آرام بگویید و مکث کنید.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fa-IR" dirty="0">
                <a:cs typeface="IRNazanin"/>
              </a:rPr>
              <a:t>«۱ دقیقه» سه پرسش را بخوانید و تاکید کنید که پرسش سوم مهم‌ترین است. بگویید پاسخ پرسش سوم در این ارائه صادقانه داده می‌شود، چه مثبت باشد چه منفی.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fa-IR" dirty="0">
                <a:cs typeface="IRNazanin"/>
              </a:rPr>
              <a:t>«۱ دقیقه» صریح بگویید که دسته یادگیری عمیق از این سامانه دقیق‌تر است. پنهان کردن این نکته، اولین پرسش داور می‌شود. بعد بگویید سهم این کار چیز دیگری است.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fa-IR" dirty="0">
                <a:cs typeface="IRNazanin"/>
              </a:rPr>
              <a:t>«۲ دقیقه» چهار مرحله را به ترتیب و هر کدام در سی ثانیه بگویید. روی مرحله دوم تاکید کنید: قطر شش میلی‌متری دیسک، تنها مرجع مطلق در کل تصویر است و مقیاس از همان‌جا می‌آید.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fa-IR" dirty="0">
                <a:cs typeface="IRNazanin"/>
              </a:rPr>
              <a:t>«۲ دقیقه» اینجا صادق‌ترین بخش ارائه است. بگویید سامانه به سقف پذیرش بالینی نمی‌رسد. بعد به نمودار بروید و بگویید برای رسیدن به آن سقف، خطا باید به حدود یک میلی‌متر برسد. این عدد، هدف مهندسی است.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fa-IR" dirty="0">
                <a:cs typeface="IRNazanin"/>
              </a:rPr>
              <a:t>«۱ دقیقه و ۳۰ ثانیه» دو ستون را مقایسه کنید. نکته اصلی: ترکیب روی هر سه معیار بهتر یا برابر است. عدد سی درصد کاهش خطا را برجسته بگویید.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fa-IR" dirty="0">
                <a:cs typeface="IRNazanin"/>
              </a:rPr>
              <a:t>«۲ دقیقه و ۳۰ ثانیه» مهم‌ترین اسلاید ارائه است. آرام بگویید. عدد سه دهم را توضیح دهید، بعد دو کنترل را بگویید تا نشان دهید عدد مصنوع روش نیست، و در پایان جمله کادر را مستقیم بخوانید.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fa-IR" dirty="0">
                <a:cs typeface="IRNazanin"/>
              </a:rPr>
              <a:t>«۱ دقیقه» محدودیت‌ها را بدون دفاع و بدون عذرخواهی بگویید. لحن باید خونسرد باشد. این بخش اعتماد داور را می‌سازد.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fa-IR" dirty="0">
                <a:cs typeface="IRNazanin"/>
              </a:rPr>
              <a:t>«۱ دقیقه» سه دستاورد را بشمارید. جمله جمع‌بندی پایین اسلاید را کلمه به کلمه بخوانید؛ همان یک جمله است که در ذهن داور می‌ماند.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fa-IR" dirty="0">
                <a:cs typeface="IRNazanin"/>
              </a:rPr>
              <a:t>«۱ دقیقه» تاکید کنید که پیشنهاد کوتاه‌مدت از پیش سنجیده شده و عدد دارد. سه شرط تصویربرداری را بگویید و اضافه کنید که هیچ‌کدام تجهیزات گران نمی‌خواهند.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fa-IR" dirty="0">
                <a:cs typeface="IRNazanin"/>
              </a:rPr>
              <a:t>«۲۰ ثانیه» کوتاه و صمیمانه. اسم‌ها را درست تلفظ کنید.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fa-IR" dirty="0">
                <a:cs typeface="IRNazanin"/>
              </a:rPr>
              <a:t>این اسلاید تا پایان جلسه روی پرده می‌ماند. برای پرسش‌ها آماده باشید: چرا بدون یادگیری ماشین، چرا فقط یازده عکس، و چرا خطای بسیار عمده بالاست. پاسخ هر سه در اسلایدهای ۵، ۱۳ و ۱۱ آمده است.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fa-IR" dirty="0">
                <a:cs typeface="IRNazanin"/>
              </a:rPr>
              <a:t>«۱ دقیقه» اینجا خبر خوب است. سریع بگویید و نمانید. جمله احتیاط درباره یک آزمایشگاه بودن را حتماً بگویید؛ داور آن را می‌پرسد و بهتر است خودتان گفته باشید.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fa-IR" dirty="0">
                <a:cs typeface="IRNazanin"/>
              </a:rPr>
              <a:t>«۱ دقیقه و ۳۰ ثانیه» این اسلاید تفسیر اسلاید قبل را عوض می‌کند. بگویید حتی دو کارشناس انسانی هم سقف یک و نیم درصد را برآورده نمی‌کنند. پس سقف واقعی صد درصد نیست و فاصله سامانه ده واحد است، نه هجده واحد.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1" algn="r"/>
            <a:r>
              <a:rPr lang="fa-IR" dirty="0">
                <a:cs typeface="IRNazanin"/>
              </a:rPr>
              <a:t>«۱ دقیقه و ۳۰ ثانیه» پیام این اسلاید یک جمله است: هیچ روشی هم پوشش خوب دارد و هم دقت خوب. سه عدد پوشش و سه عدد خطا را کنار هم بگذارید و بگویید ترکیب دقیقاً برای همین ساخته شد.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C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15440" y="-1188720"/>
            <a:ext cx="3840480" cy="3840480"/>
          </a:xfrm>
          <a:prstGeom prst="ellipse">
            <a:avLst/>
          </a:prstGeom>
          <a:solidFill>
            <a:srgbClr val="6E1010"/>
          </a:solidFill>
          <a:ln/>
        </p:spPr>
      </p:sp>
      <p:sp>
        <p:nvSpPr>
          <p:cNvPr id="3" name="Shape 1"/>
          <p:cNvSpPr/>
          <p:nvPr/>
        </p:nvSpPr>
        <p:spPr>
          <a:xfrm>
            <a:off x="10363200" y="5120640"/>
            <a:ext cx="3291840" cy="3291840"/>
          </a:xfrm>
          <a:prstGeom prst="ellipse">
            <a:avLst/>
          </a:prstGeom>
          <a:solidFill>
            <a:srgbClr val="6E1010"/>
          </a:solidFill>
          <a:ln/>
        </p:spPr>
      </p:sp>
      <p:sp>
        <p:nvSpPr>
          <p:cNvPr id="4" name="Shape 2"/>
          <p:cNvSpPr/>
          <p:nvPr/>
        </p:nvSpPr>
        <p:spPr>
          <a:xfrm>
            <a:off x="1173480" y="502920"/>
            <a:ext cx="320040" cy="320040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767840" y="141732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300" b="1" spc="300" kern="0" dirty="0">
                <a:solidFill>
                  <a:srgbClr val="E98300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دفاع از پروژه‌ی کارشناسی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676400" y="1874520"/>
            <a:ext cx="96926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 rtl="1" algn="r">
              <a:lnSpc>
                <a:spcPts val="46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طراحی و پیاده‌سازی سامانه هوشمند تحلیل خودکار آزمون آنتی‌بیوگرام</a:t>
            </a:r>
            <a:endParaRPr lang="en-US" sz="2800" dirty="0"/>
          </a:p>
          <a:p>
            <a:pPr indent="0" marL="0" rtl="1" algn="r">
              <a:lnSpc>
                <a:spcPts val="46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مبتنی بر پردازش تصویر مطابق استاندارد EUCAST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945880" y="3703320"/>
            <a:ext cx="2377440" cy="0"/>
          </a:xfrm>
          <a:prstGeom prst="line">
            <a:avLst/>
          </a:prstGeom>
          <a:noFill/>
          <a:ln w="31750">
            <a:solidFill>
              <a:srgbClr val="E983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50920" y="393192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ts val="2600"/>
              </a:lnSpc>
              <a:buNone/>
            </a:pPr>
            <a:r>
              <a:rPr lang="en-US" sz="16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ارائه‌دهنده: مهیار حدادها</a:t>
            </a:r>
            <a:endParaRPr lang="en-US" sz="1600" dirty="0"/>
          </a:p>
          <a:p>
            <a:pPr indent="0" marL="0" rtl="1" algn="r">
              <a:lnSpc>
                <a:spcPts val="2600"/>
              </a:lnSpc>
              <a:buNone/>
            </a:pPr>
            <a:r>
              <a:rPr lang="en-US" sz="16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کارشناسی مهندسی پزشکی — دانشکده فنی و مهندسی</a:t>
            </a:r>
            <a:endParaRPr lang="en-US" sz="1600" dirty="0"/>
          </a:p>
          <a:p>
            <a:pPr indent="0" marL="0" rtl="1" algn="r">
              <a:lnSpc>
                <a:spcPts val="2600"/>
              </a:lnSpc>
              <a:buNone/>
            </a:pPr>
            <a:r>
              <a:rPr lang="en-US" sz="16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استاد راهنما: دکتر محمدرضا یزدچی</a:t>
            </a:r>
            <a:endParaRPr lang="en-US" sz="1600" dirty="0"/>
          </a:p>
          <a:p>
            <a:pPr indent="0" marL="0" rtl="1" algn="r">
              <a:lnSpc>
                <a:spcPts val="2600"/>
              </a:lnSpc>
              <a:buNone/>
            </a:pPr>
            <a:r>
              <a:rPr lang="en-US" sz="16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دانشگاه اصفهان  •  شهریور ۱۴۰۵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79120" y="5806440"/>
            <a:ext cx="1920240" cy="685800"/>
          </a:xfrm>
          <a:prstGeom prst="roundRect">
            <a:avLst>
              <a:gd name="adj" fmla="val 8000"/>
            </a:avLst>
          </a:prstGeom>
          <a:solidFill>
            <a:srgbClr val="6E1010"/>
          </a:solidFill>
          <a:ln w="12700">
            <a:solidFill>
              <a:srgbClr val="E983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9120" y="5806440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9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دانشگاه</a:t>
            </a:r>
            <a:endParaRPr lang="en-US" sz="900" dirty="0"/>
          </a:p>
          <a:p>
            <a:pPr algn="ctr" indent="0" marL="0" rtl="1">
              <a:buNone/>
            </a:pPr>
            <a:r>
              <a:rPr lang="en-US" sz="9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اصفهان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2192" y="475488"/>
            <a:ext cx="201168" cy="201168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694688" y="347472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30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سرفصل ارائه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140440" y="1234440"/>
            <a:ext cx="502920" cy="502920"/>
          </a:xfrm>
          <a:prstGeom prst="ellipse">
            <a:avLst/>
          </a:prstGeom>
          <a:solidFill>
            <a:srgbClr val="8C151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140440" y="1234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۱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568440" y="11887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600" b="1" dirty="0">
                <a:solidFill>
                  <a:srgbClr val="2E2D29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مسئله و انگیزه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568440" y="152704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2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چرا این مسئله اهمیت دارد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1140440" y="2404872"/>
            <a:ext cx="502920" cy="502920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140440" y="24048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۲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68440" y="2359152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600" b="1" dirty="0">
                <a:solidFill>
                  <a:srgbClr val="2E2D29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هدف و پرسش‌ها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568440" y="269748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2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این پژوهش به دنبال چیست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1140440" y="3575304"/>
            <a:ext cx="502920" cy="502920"/>
          </a:xfrm>
          <a:prstGeom prst="ellipse">
            <a:avLst/>
          </a:prstGeom>
          <a:solidFill>
            <a:srgbClr val="8C151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140440" y="357530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۳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568440" y="3529584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600" b="1" dirty="0">
                <a:solidFill>
                  <a:srgbClr val="2E2D29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روش پیشنهادی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568440" y="3867912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2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سامانه چگونه کار می‌کند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140440" y="4745736"/>
            <a:ext cx="502920" cy="502920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140440" y="474573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۴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68440" y="4700016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600" b="1" dirty="0">
                <a:solidFill>
                  <a:srgbClr val="2E2D29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نتایج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568440" y="5038344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2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چه چیزی به دست آمد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516880" y="1234440"/>
            <a:ext cx="502920" cy="502920"/>
          </a:xfrm>
          <a:prstGeom prst="ellipse">
            <a:avLst/>
          </a:prstGeom>
          <a:solidFill>
            <a:srgbClr val="8C151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516880" y="1234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۵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944880" y="11887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600" b="1" dirty="0">
                <a:solidFill>
                  <a:srgbClr val="2E2D29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تفسیر بالینی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44880" y="152704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2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این اعداد برای آزمایشگاه چه معنایی دارند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16880" y="2404872"/>
            <a:ext cx="502920" cy="502920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516880" y="24048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۶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944880" y="2359152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600" b="1" dirty="0">
                <a:solidFill>
                  <a:srgbClr val="2E2D29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یافته اصلی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44880" y="269748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2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چرا خطا همان‌جا مانده است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516880" y="3575304"/>
            <a:ext cx="502920" cy="502920"/>
          </a:xfrm>
          <a:prstGeom prst="ellipse">
            <a:avLst/>
          </a:prstGeom>
          <a:solidFill>
            <a:srgbClr val="8C151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516880" y="357530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۷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944880" y="3529584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600" b="1" dirty="0">
                <a:solidFill>
                  <a:srgbClr val="2E2D29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نتیجه‌گیری و کار آینده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44880" y="3867912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2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دستاوردها و قدم بعد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432816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900" spc="200" kern="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سرفصل ارائه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85928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 rtl="1">
              <a:buNone/>
            </a:pPr>
            <a:r>
              <a:rPr lang="en-US" sz="9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۲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2192" y="475488"/>
            <a:ext cx="201168" cy="201168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694688" y="347472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30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مسئله و انگیزه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151120" y="1371600"/>
            <a:ext cx="649224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 rtl="1" algn="r">
              <a:lnSpc>
                <a:spcPct val="1350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مسئله: قطر ناحیه بدون رشد در آزمون آنتی‌بیوگرام امروز با خط‌کش و به دست کارشناس اندازه گرفته می‌شود.</a:t>
            </a:r>
            <a:endParaRPr lang="en-US" sz="1600" dirty="0"/>
          </a:p>
          <a:p>
            <a:pPr marL="342900" indent="-342900" rtl="1" algn="r">
              <a:lnSpc>
                <a:spcPct val="1350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چرا اهمیت دارد: نتیجه همین اندازه‌گیری تعیین می‌کند بیمار کدام آنتی‌بیوتیک را دریافت کند.</a:t>
            </a:r>
            <a:endParaRPr lang="en-US" sz="1600" dirty="0"/>
          </a:p>
          <a:p>
            <a:pPr marL="342900" indent="-342900" rtl="1" algn="r">
              <a:lnSpc>
                <a:spcPct val="1350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مشکل: خوانش دستی وقت‌گیر است، به تجربه فرد وابسته می‌ماند و ثبت دیجیتال ندارد.</a:t>
            </a:r>
            <a:endParaRPr lang="en-US" sz="1600" dirty="0"/>
          </a:p>
          <a:p>
            <a:pPr marL="342900" indent="-342900" rtl="1" algn="r">
              <a:lnSpc>
                <a:spcPct val="1350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این پژوهش: سامانه‌ای ساخته شد که همین اندازه‌گیری را از روی یک عکس معمولی و به صورت خودکار انجام می‌دهد.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79120" y="13716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F7F5F1"/>
          </a:solidFill>
          <a:ln/>
        </p:spPr>
      </p:sp>
      <p:sp>
        <p:nvSpPr>
          <p:cNvPr id="6" name="Shape 4"/>
          <p:cNvSpPr/>
          <p:nvPr/>
        </p:nvSpPr>
        <p:spPr>
          <a:xfrm>
            <a:off x="2179320" y="1828800"/>
            <a:ext cx="1005840" cy="1005840"/>
          </a:xfrm>
          <a:prstGeom prst="ellipse">
            <a:avLst/>
          </a:prstGeom>
          <a:solidFill>
            <a:srgbClr val="8C151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179320" y="182880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؟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853440" y="30175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18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چرا اکنون؟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53440" y="3429000"/>
            <a:ext cx="36576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lnSpc>
                <a:spcPct val="130000"/>
              </a:lnSpc>
              <a:buNone/>
            </a:pPr>
            <a:r>
              <a:rPr lang="en-US" sz="13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مقاومت آنتی‌بیوتیکی در سال ۲۰۱۹ به ۱٫۲۷ میلیون مرگ مستقیم نسبت داده شده است. سرعت و یکنواختی گزارش آزمایشگاه، بخشی از پاسخ به آن است.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32816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900" spc="200" kern="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مقدمه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85928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 rtl="1">
              <a:buNone/>
            </a:pPr>
            <a:r>
              <a:rPr lang="en-US" sz="9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۳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2192" y="475488"/>
            <a:ext cx="201168" cy="201168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694688" y="347472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30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هدف و پرسش‌های پژوهش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2920" y="137160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7F5F1"/>
          </a:solidFill>
          <a:ln/>
        </p:spPr>
      </p:sp>
      <p:sp>
        <p:nvSpPr>
          <p:cNvPr id="5" name="Shape 3"/>
          <p:cNvSpPr/>
          <p:nvPr/>
        </p:nvSpPr>
        <p:spPr>
          <a:xfrm>
            <a:off x="10683240" y="1737360"/>
            <a:ext cx="640080" cy="640080"/>
          </a:xfrm>
          <a:prstGeom prst="ellipse">
            <a:avLst/>
          </a:prstGeom>
          <a:solidFill>
            <a:srgbClr val="8C151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683240" y="1737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۱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397240" y="246888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200" b="1" spc="200" kern="0" dirty="0">
                <a:solidFill>
                  <a:srgbClr val="E98300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پرسش یکم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397240" y="2834640"/>
            <a:ext cx="29718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30000"/>
              </a:lnSpc>
              <a:buNone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آیا می‌توان قطر هاله را از یک عکس معمولی و بدون تجهیزات ویژه، به صورت خودکار اندازه گرفت؟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82440" y="137160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7F5F1"/>
          </a:solidFill>
          <a:ln/>
        </p:spPr>
      </p:sp>
      <p:sp>
        <p:nvSpPr>
          <p:cNvPr id="10" name="Shape 8"/>
          <p:cNvSpPr/>
          <p:nvPr/>
        </p:nvSpPr>
        <p:spPr>
          <a:xfrm>
            <a:off x="6842760" y="1737360"/>
            <a:ext cx="640080" cy="640080"/>
          </a:xfrm>
          <a:prstGeom prst="ellipse">
            <a:avLst/>
          </a:prstGeom>
          <a:solidFill>
            <a:srgbClr val="8C151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42760" y="1737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۲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56760" y="246888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200" b="1" spc="200" kern="0" dirty="0">
                <a:solidFill>
                  <a:srgbClr val="E98300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پرسش دوم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56760" y="2834640"/>
            <a:ext cx="29718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30000"/>
              </a:lnSpc>
              <a:buNone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دقت این اندازه‌گیری در برابر خوانش کارشناس چقدر است؟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41960" y="137160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7F5F1"/>
          </a:solidFill>
          <a:ln/>
        </p:spPr>
      </p:sp>
      <p:sp>
        <p:nvSpPr>
          <p:cNvPr id="15" name="Shape 13"/>
          <p:cNvSpPr/>
          <p:nvPr/>
        </p:nvSpPr>
        <p:spPr>
          <a:xfrm>
            <a:off x="3002280" y="1737360"/>
            <a:ext cx="640080" cy="640080"/>
          </a:xfrm>
          <a:prstGeom prst="ellipse">
            <a:avLst/>
          </a:prstGeom>
          <a:solidFill>
            <a:srgbClr val="8C151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002280" y="1737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۳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16280" y="246888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200" b="1" spc="200" kern="0" dirty="0">
                <a:solidFill>
                  <a:srgbClr val="E98300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پرسش سوم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16280" y="2834640"/>
            <a:ext cx="29718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30000"/>
              </a:lnSpc>
              <a:buNone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آیا این دقت برای تصمیم بالینی کافی است؟ اگر نیست، مانع دقیقاً کجاست؟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32816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900" spc="200" kern="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هدف و پرسش‌ها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85928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 rtl="1">
              <a:buNone/>
            </a:pPr>
            <a:r>
              <a:rPr lang="en-US" sz="9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۴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2192" y="475488"/>
            <a:ext cx="201168" cy="201168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694688" y="347472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30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کارهای پیشین و جای این پژوهش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31280" y="1325880"/>
            <a:ext cx="5212080" cy="1965960"/>
          </a:xfrm>
          <a:prstGeom prst="roundRect">
            <a:avLst>
              <a:gd name="adj" fmla="val 3721"/>
            </a:avLst>
          </a:prstGeom>
          <a:solidFill>
            <a:srgbClr val="F7F5F1"/>
          </a:solidFill>
          <a:ln/>
        </p:spPr>
      </p:sp>
      <p:sp>
        <p:nvSpPr>
          <p:cNvPr id="5" name="Shape 3"/>
          <p:cNvSpPr/>
          <p:nvPr/>
        </p:nvSpPr>
        <p:spPr>
          <a:xfrm>
            <a:off x="11167872" y="1545336"/>
            <a:ext cx="201168" cy="201168"/>
          </a:xfrm>
          <a:prstGeom prst="ellipse">
            <a:avLst/>
          </a:prstGeom>
          <a:solidFill>
            <a:srgbClr val="8C151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705600" y="1472184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6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ابزارهای متن‌باز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659880" y="1892808"/>
            <a:ext cx="4663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25000"/>
              </a:lnSpc>
              <a:buNone/>
            </a:pPr>
            <a:r>
              <a:rPr lang="en-US" sz="125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ابزار AntibiogramJ با آستانه‌گذاری کلاسیک روی عکس معمولی کار می‌کند و توافق حدود ۸۷ درصد گزارش کرده است. از نظر فناوری نزدیک‌ترین کار به این پژوهش است.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99160" y="1325880"/>
            <a:ext cx="5212080" cy="1965960"/>
          </a:xfrm>
          <a:prstGeom prst="roundRect">
            <a:avLst>
              <a:gd name="adj" fmla="val 3721"/>
            </a:avLst>
          </a:prstGeom>
          <a:solidFill>
            <a:srgbClr val="F7F5F1"/>
          </a:solidFill>
          <a:ln/>
        </p:spPr>
      </p:sp>
      <p:sp>
        <p:nvSpPr>
          <p:cNvPr id="9" name="Shape 7"/>
          <p:cNvSpPr/>
          <p:nvPr/>
        </p:nvSpPr>
        <p:spPr>
          <a:xfrm>
            <a:off x="5635752" y="1545336"/>
            <a:ext cx="201168" cy="201168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3480" y="1472184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600" b="1" dirty="0">
                <a:solidFill>
                  <a:srgbClr val="E98300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روش‌های یادگیری عمیق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27760" y="1892808"/>
            <a:ext cx="4663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25000"/>
              </a:lnSpc>
              <a:buNone/>
            </a:pPr>
            <a:r>
              <a:rPr lang="en-US" sz="125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یک برنامه تلفن همراه کل تحلیل را روی خود دستگاه انجام می‌دهد و توافق ۹۸ درصد گزارش کرده است. این دسته از نظر دقت عددی از سامانه حاضر جلوتر است.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31280" y="3566160"/>
            <a:ext cx="5212080" cy="1965960"/>
          </a:xfrm>
          <a:prstGeom prst="roundRect">
            <a:avLst>
              <a:gd name="adj" fmla="val 3721"/>
            </a:avLst>
          </a:prstGeom>
          <a:solidFill>
            <a:srgbClr val="F7F5F1"/>
          </a:solidFill>
          <a:ln/>
        </p:spPr>
      </p:sp>
      <p:sp>
        <p:nvSpPr>
          <p:cNvPr id="13" name="Shape 11"/>
          <p:cNvSpPr/>
          <p:nvPr/>
        </p:nvSpPr>
        <p:spPr>
          <a:xfrm>
            <a:off x="11167872" y="3785616"/>
            <a:ext cx="201168" cy="201168"/>
          </a:xfrm>
          <a:prstGeom prst="ellipse">
            <a:avLst/>
          </a:prstGeom>
          <a:solidFill>
            <a:srgbClr val="007C9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705600" y="3712464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600" b="1" dirty="0">
                <a:solidFill>
                  <a:srgbClr val="007C92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روش‌های نوری جایگزین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659880" y="4133088"/>
            <a:ext cx="4663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25000"/>
              </a:lnSpc>
              <a:buNone/>
            </a:pPr>
            <a:r>
              <a:rPr lang="en-US" sz="125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کیم و همکاران به جای بهبود تحلیل، خود تصویربرداری را عوض کردند. تصویربرداری لکه لیزری به فعالیت زیستی حساس است و داروی موثر را در کمتر از سه ساعت می‌یابد.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99160" y="3566160"/>
            <a:ext cx="5212080" cy="1965960"/>
          </a:xfrm>
          <a:prstGeom prst="roundRect">
            <a:avLst>
              <a:gd name="adj" fmla="val 3721"/>
            </a:avLst>
          </a:prstGeom>
          <a:solidFill>
            <a:srgbClr val="F7F5F1"/>
          </a:solidFill>
          <a:ln/>
        </p:spPr>
      </p:sp>
      <p:sp>
        <p:nvSpPr>
          <p:cNvPr id="17" name="Shape 15"/>
          <p:cNvSpPr/>
          <p:nvPr/>
        </p:nvSpPr>
        <p:spPr>
          <a:xfrm>
            <a:off x="5635752" y="3785616"/>
            <a:ext cx="201168" cy="201168"/>
          </a:xfrm>
          <a:prstGeom prst="ellipse">
            <a:avLst/>
          </a:prstGeom>
          <a:solidFill>
            <a:srgbClr val="27998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173480" y="3712464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600" b="1" dirty="0">
                <a:solidFill>
                  <a:srgbClr val="279989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جای این پژوهش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127760" y="4133088"/>
            <a:ext cx="4663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25000"/>
              </a:lnSpc>
              <a:buNone/>
            </a:pPr>
            <a:r>
              <a:rPr lang="en-US" sz="125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آنچه این کار می‌افزاید دقت بیشتر نیست. یک زنجیره کاملاً قطعی است، و اندازه‌گیری علتی که خطای باقی‌مانده را می‌سازد.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32816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900" spc="200" kern="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کارهای پیشین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85928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 rtl="1">
              <a:buNone/>
            </a:pPr>
            <a:r>
              <a:rPr lang="en-US" sz="9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۵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2192" y="475488"/>
            <a:ext cx="201168" cy="201168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694688" y="347472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30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روش پیشنهادی: چهار مرحله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955024" y="2377440"/>
            <a:ext cx="2377440" cy="2377440"/>
          </a:xfrm>
          <a:prstGeom prst="roundRect">
            <a:avLst>
              <a:gd name="adj" fmla="val 3077"/>
            </a:avLst>
          </a:prstGeom>
          <a:solidFill>
            <a:srgbClr val="F7F5F1"/>
          </a:solidFill>
          <a:ln/>
        </p:spPr>
      </p:sp>
      <p:sp>
        <p:nvSpPr>
          <p:cNvPr id="5" name="Shape 3"/>
          <p:cNvSpPr/>
          <p:nvPr/>
        </p:nvSpPr>
        <p:spPr>
          <a:xfrm>
            <a:off x="9823704" y="2057400"/>
            <a:ext cx="640080" cy="640080"/>
          </a:xfrm>
          <a:prstGeom prst="ellipse">
            <a:avLst/>
          </a:prstGeom>
          <a:solidFill>
            <a:srgbClr val="8C151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23704" y="2057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۱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9092184" y="28346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1400" b="1" dirty="0">
                <a:solidFill>
                  <a:srgbClr val="2E2D29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یافتن ظرف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137904" y="333756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lnSpc>
                <a:spcPct val="125000"/>
              </a:lnSpc>
              <a:buNone/>
            </a:pPr>
            <a:r>
              <a:rPr lang="en-US" sz="115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مکان و قطر ظرف پتری از تصویر به دست می‌آید و مقیاس کار از همان‌جا تعیین می‌شود.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 flipH="1">
            <a:off x="8653272" y="3429000"/>
            <a:ext cx="274320" cy="274320"/>
          </a:xfrm>
          <a:prstGeom prst="rightArrow">
            <a:avLst/>
          </a:prstGeom>
          <a:solidFill>
            <a:srgbClr val="E98300"/>
          </a:solidFill>
          <a:ln/>
        </p:spPr>
      </p:sp>
      <p:sp>
        <p:nvSpPr>
          <p:cNvPr id="10" name="Shape 8"/>
          <p:cNvSpPr/>
          <p:nvPr/>
        </p:nvSpPr>
        <p:spPr>
          <a:xfrm>
            <a:off x="6257544" y="2377440"/>
            <a:ext cx="2377440" cy="2377440"/>
          </a:xfrm>
          <a:prstGeom prst="roundRect">
            <a:avLst>
              <a:gd name="adj" fmla="val 3077"/>
            </a:avLst>
          </a:prstGeom>
          <a:solidFill>
            <a:srgbClr val="F7F5F1"/>
          </a:solidFill>
          <a:ln/>
        </p:spPr>
      </p:sp>
      <p:sp>
        <p:nvSpPr>
          <p:cNvPr id="11" name="Shape 9"/>
          <p:cNvSpPr/>
          <p:nvPr/>
        </p:nvSpPr>
        <p:spPr>
          <a:xfrm>
            <a:off x="7126224" y="2057400"/>
            <a:ext cx="640080" cy="640080"/>
          </a:xfrm>
          <a:prstGeom prst="ellipse">
            <a:avLst/>
          </a:prstGeom>
          <a:solidFill>
            <a:srgbClr val="8C151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26224" y="2057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۲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394704" y="28346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1400" b="1" dirty="0">
                <a:solidFill>
                  <a:srgbClr val="2E2D29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یافتن دیسک‌ها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40424" y="333756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lnSpc>
                <a:spcPct val="125000"/>
              </a:lnSpc>
              <a:buNone/>
            </a:pPr>
            <a:r>
              <a:rPr lang="en-US" sz="115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هر دیسک با ترکیب دو شاخه مستقل پیدا می‌شود. قطر شش میلی‌متری استاندارد آن، مقیاس میلی‌متر را می‌دهد.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 flipH="1">
            <a:off x="5955792" y="3429000"/>
            <a:ext cx="274320" cy="274320"/>
          </a:xfrm>
          <a:prstGeom prst="rightArrow">
            <a:avLst/>
          </a:prstGeom>
          <a:solidFill>
            <a:srgbClr val="E98300"/>
          </a:solidFill>
          <a:ln/>
        </p:spPr>
      </p:sp>
      <p:sp>
        <p:nvSpPr>
          <p:cNvPr id="16" name="Shape 14"/>
          <p:cNvSpPr/>
          <p:nvPr/>
        </p:nvSpPr>
        <p:spPr>
          <a:xfrm>
            <a:off x="3560064" y="2377440"/>
            <a:ext cx="2377440" cy="2377440"/>
          </a:xfrm>
          <a:prstGeom prst="roundRect">
            <a:avLst>
              <a:gd name="adj" fmla="val 3077"/>
            </a:avLst>
          </a:prstGeom>
          <a:solidFill>
            <a:srgbClr val="F7F5F1"/>
          </a:solidFill>
          <a:ln/>
        </p:spPr>
      </p:sp>
      <p:sp>
        <p:nvSpPr>
          <p:cNvPr id="17" name="Shape 15"/>
          <p:cNvSpPr/>
          <p:nvPr/>
        </p:nvSpPr>
        <p:spPr>
          <a:xfrm>
            <a:off x="4428744" y="2057400"/>
            <a:ext cx="640080" cy="640080"/>
          </a:xfrm>
          <a:prstGeom prst="ellipse">
            <a:avLst/>
          </a:prstGeom>
          <a:solidFill>
            <a:srgbClr val="8C151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428744" y="2057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۳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3697224" y="28346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1400" b="1" dirty="0">
                <a:solidFill>
                  <a:srgbClr val="2E2D29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تعیین مرز هاله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742944" y="333756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lnSpc>
                <a:spcPct val="125000"/>
              </a:lnSpc>
              <a:buNone/>
            </a:pPr>
            <a:r>
              <a:rPr lang="en-US" sz="115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سه روش موازی مرز را برآورد می‌کنند و نتیجه‌هایشان بر پایه نقاط قوت هر کدام ترکیب می‌شود.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 flipH="1">
            <a:off x="3258312" y="3429000"/>
            <a:ext cx="274320" cy="274320"/>
          </a:xfrm>
          <a:prstGeom prst="rightArrow">
            <a:avLst/>
          </a:prstGeom>
          <a:solidFill>
            <a:srgbClr val="E98300"/>
          </a:solidFill>
          <a:ln/>
        </p:spPr>
      </p:sp>
      <p:sp>
        <p:nvSpPr>
          <p:cNvPr id="22" name="Shape 20"/>
          <p:cNvSpPr/>
          <p:nvPr/>
        </p:nvSpPr>
        <p:spPr>
          <a:xfrm>
            <a:off x="862584" y="2377440"/>
            <a:ext cx="2377440" cy="2377440"/>
          </a:xfrm>
          <a:prstGeom prst="roundRect">
            <a:avLst>
              <a:gd name="adj" fmla="val 3077"/>
            </a:avLst>
          </a:prstGeom>
          <a:solidFill>
            <a:srgbClr val="F7F5F1"/>
          </a:solidFill>
          <a:ln/>
        </p:spPr>
      </p:sp>
      <p:sp>
        <p:nvSpPr>
          <p:cNvPr id="23" name="Shape 21"/>
          <p:cNvSpPr/>
          <p:nvPr/>
        </p:nvSpPr>
        <p:spPr>
          <a:xfrm>
            <a:off x="1731264" y="2057400"/>
            <a:ext cx="640080" cy="640080"/>
          </a:xfrm>
          <a:prstGeom prst="ellipse">
            <a:avLst/>
          </a:prstGeom>
          <a:solidFill>
            <a:srgbClr val="8C151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731264" y="20574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۴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999744" y="28346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1400" b="1" dirty="0">
                <a:solidFill>
                  <a:srgbClr val="2E2D29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تفسیر بالینی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45464" y="3337560"/>
            <a:ext cx="2011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lnSpc>
                <a:spcPct val="125000"/>
              </a:lnSpc>
              <a:buNone/>
            </a:pPr>
            <a:r>
              <a:rPr lang="en-US" sz="115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قطر به دست آمده با جدول‌های نقطه شکست EUCAST نسخه ۱۶٫۰ سنجیده می‌شود.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432816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900" spc="200" kern="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روش پیشنهادی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85928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 rtl="1">
              <a:buNone/>
            </a:pPr>
            <a:r>
              <a:rPr lang="en-US" sz="9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۶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2192" y="475488"/>
            <a:ext cx="201168" cy="201168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694688" y="347472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30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ترجمه خطا به زبان بالینی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968240" y="1371600"/>
          <a:ext cx="66751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16280" y="1417320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32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۸۳٫۲٪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716280" y="1984248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3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توافق دسته‌ای با خوانش کارشناس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16280" y="2834640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3200" b="1" dirty="0">
                <a:solidFill>
                  <a:srgbClr val="E98300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۶٫۱۹٪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716280" y="3401568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3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خطای بسیار عمده — سقف مرسوم ۱٫۵٪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16280" y="4251960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3200" b="1" dirty="0">
                <a:solidFill>
                  <a:srgbClr val="E98300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۹٫۲۴٪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716280" y="4818888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3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خطای عمده — سقف مرسوم ۳٫۰٪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32816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900" spc="200" kern="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تفسیر بالینی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5928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 rtl="1">
              <a:buNone/>
            </a:pPr>
            <a:r>
              <a:rPr lang="en-US" sz="9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۱۰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2192" y="475488"/>
            <a:ext cx="201168" cy="201168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694688" y="347472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30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نتایج: دقت قطر هاله و اثر ترکیب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31280" y="1325880"/>
            <a:ext cx="5212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8E5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31280" y="1325880"/>
            <a:ext cx="5212080" cy="594360"/>
          </a:xfrm>
          <a:prstGeom prst="rect">
            <a:avLst/>
          </a:prstGeom>
          <a:solidFill>
            <a:srgbClr val="716E6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31280" y="1325880"/>
            <a:ext cx="5212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فقط روش پروفایل شعاعی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797040" y="2148840"/>
            <a:ext cx="44805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 rtl="1" algn="r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خطای متوسط: ۵٫۵۰ میلی‌متر</a:t>
            </a:r>
            <a:endParaRPr lang="en-US" sz="1400" dirty="0"/>
          </a:p>
          <a:p>
            <a:pPr marL="342900" indent="-342900" rtl="1" algn="r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دقت: ۰٫۷۸۰</a:t>
            </a:r>
            <a:endParaRPr lang="en-US" sz="1400" dirty="0"/>
          </a:p>
          <a:p>
            <a:pPr marL="342900" indent="-342900" rtl="1" algn="r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هاله‌های یافته‌شده: ۵۷ از ۶۳</a:t>
            </a:r>
            <a:endParaRPr lang="en-US" sz="1400" dirty="0"/>
          </a:p>
          <a:p>
            <a:pPr marL="342900" indent="-342900" rtl="1" algn="r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محدودیت: هاله را می‌یابد ولی مرزش را دقیق نمی‌گذارد. حدود توافق ۱۶٫۱− تا ۱۵٫۱+ میلی‌متر است.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99160" y="1325880"/>
            <a:ext cx="5212080" cy="4297680"/>
          </a:xfrm>
          <a:prstGeom prst="roundRect">
            <a:avLst>
              <a:gd name="adj" fmla="val 1702"/>
            </a:avLst>
          </a:prstGeom>
          <a:solidFill>
            <a:srgbClr val="F7F5F1"/>
          </a:solidFill>
          <a:ln w="12700">
            <a:solidFill>
              <a:srgbClr val="E8E5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9160" y="1325880"/>
            <a:ext cx="5212080" cy="594360"/>
          </a:xfrm>
          <a:prstGeom prst="rect">
            <a:avLst/>
          </a:prstGeom>
          <a:solidFill>
            <a:srgbClr val="8C151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99160" y="1325880"/>
            <a:ext cx="5212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ترکیب سه روش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64920" y="2148840"/>
            <a:ext cx="44805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 rtl="1" algn="r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خطای متوسط: ۳٫۸۵ میلی‌متر</a:t>
            </a:r>
            <a:endParaRPr lang="en-US" sz="1400" dirty="0"/>
          </a:p>
          <a:p>
            <a:pPr marL="342900" indent="-342900" rtl="1" algn="r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دقت: ۰٫۸۲۴</a:t>
            </a:r>
            <a:endParaRPr lang="en-US" sz="1400" dirty="0"/>
          </a:p>
          <a:p>
            <a:pPr marL="342900" indent="-342900" rtl="1" algn="r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هاله‌های یافته‌شده: ۶۰ از ۶۳</a:t>
            </a:r>
            <a:endParaRPr lang="en-US" sz="1400" dirty="0"/>
          </a:p>
          <a:p>
            <a:pPr marL="342900" indent="-342900" rtl="1" algn="r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مزیت: خطای عددی سی درصد کم شد و حدود توافق به ۱۲٫۳− تا ۱۱٫۱+ میلی‌متر رسید. میانه خطا ۲٫۱۰ میلی‌متر است.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32816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900" spc="200" kern="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نتایج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85928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 rtl="1">
              <a:buNone/>
            </a:pPr>
            <a:r>
              <a:rPr lang="en-US" sz="9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۹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2192" y="475488"/>
            <a:ext cx="201168" cy="201168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694688" y="347472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30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یافته اصلی: مرز در تصویر ثبت نشده است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968240" y="1371600"/>
            <a:ext cx="667512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 rtl="1" algn="r">
              <a:lnSpc>
                <a:spcPct val="1350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اندازه‌گیری: روی نیمی از دیسک‌ها، روشنایی داخل هاله تنها ۰٫۳ انحراف معیار با محیط پیرامون فرق دارد.</a:t>
            </a:r>
            <a:endParaRPr lang="en-US" sz="1600" dirty="0"/>
          </a:p>
          <a:p>
            <a:pPr marL="342900" indent="-342900" rtl="1" algn="r">
              <a:lnSpc>
                <a:spcPct val="1350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کنترل نخست: مرجع داخل هاله در صفر درصد موارد بیرون هاله نیفتاده است، پس عدد مصنوع نمونه‌برداری نیست.</a:t>
            </a:r>
            <a:endParaRPr lang="en-US" sz="1600" dirty="0"/>
          </a:p>
          <a:p>
            <a:pPr marL="342900" indent="-342900" rtl="1" algn="r">
              <a:lnSpc>
                <a:spcPct val="1350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کنترل دوم: وقتی محل درست مرز مجانی به الگوریتم داده شود، جدایش به ۰٫۲۹ می‌رسد، یعنی حتی کمتر.</a:t>
            </a:r>
            <a:endParaRPr lang="en-US" sz="1600" dirty="0"/>
          </a:p>
          <a:p>
            <a:pPr marL="342900" indent="-342900" rtl="1" algn="r">
              <a:lnSpc>
                <a:spcPct val="1350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دو راه استاندارد آزموده و رد شد: تغییر فضای نوری خطا را به ۷٫۰۰ میلی‌متر برد، و میانگین‌گیری فضایی ۲٫۶۳ میلی‌متر تاری به مرز افزود.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33400" y="1371600"/>
            <a:ext cx="4114800" cy="4206240"/>
          </a:xfrm>
          <a:prstGeom prst="roundRect">
            <a:avLst>
              <a:gd name="adj" fmla="val 1778"/>
            </a:avLst>
          </a:prstGeom>
          <a:solidFill>
            <a:srgbClr val="F7F5F1"/>
          </a:solidFill>
          <a:ln/>
        </p:spPr>
      </p:sp>
      <p:sp>
        <p:nvSpPr>
          <p:cNvPr id="6" name="Shape 4"/>
          <p:cNvSpPr/>
          <p:nvPr/>
        </p:nvSpPr>
        <p:spPr>
          <a:xfrm>
            <a:off x="2042160" y="1828800"/>
            <a:ext cx="1097280" cy="1097280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042160" y="18288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!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716280" y="3108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18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پیام کلیدی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6280" y="3520440"/>
            <a:ext cx="3657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lnSpc>
                <a:spcPct val="130000"/>
              </a:lnSpc>
              <a:buNone/>
            </a:pPr>
            <a:r>
              <a:rPr lang="en-US" sz="13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اطلاعاتی که در تصویر نیست، با هیچ الگوریتمی از همان تصویر بازیافتنی نیست. راه بهبود، تصویربرداری بهتر است و نه الگوریتم بهتر.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32816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900" spc="200" kern="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یافته اصلی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85928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 rtl="1">
              <a:buNone/>
            </a:pPr>
            <a:r>
              <a:rPr lang="en-US" sz="9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۱۲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2192" y="475488"/>
            <a:ext cx="201168" cy="201168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694688" y="347472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30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محدودیت‌ها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049000" y="1417320"/>
            <a:ext cx="594360" cy="594360"/>
          </a:xfrm>
          <a:prstGeom prst="ellipse">
            <a:avLst/>
          </a:prstGeom>
          <a:solidFill>
            <a:srgbClr val="62005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049000" y="1417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۱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025640" y="13716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600" b="1" dirty="0">
                <a:solidFill>
                  <a:srgbClr val="2E2D29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حجم و تنوع داده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79120" y="1371600"/>
            <a:ext cx="6309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 rtl="1" algn="r">
              <a:lnSpc>
                <a:spcPct val="130000"/>
              </a:lnSpc>
              <a:buNone/>
            </a:pPr>
            <a:r>
              <a:rPr lang="en-US" sz="135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یازده عکس و ۹۳ دیسک، همه از یک آزمایشگاه و با یک دوربین. این یک توصیف اولیه از دقت است و نه اعتبارسنجی بالینی.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11049000" y="2834640"/>
            <a:ext cx="594360" cy="594360"/>
          </a:xfrm>
          <a:prstGeom prst="ellipse">
            <a:avLst/>
          </a:prstGeom>
          <a:solidFill>
            <a:srgbClr val="62005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049000" y="28346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۲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025640" y="27889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600" b="1" dirty="0">
                <a:solidFill>
                  <a:srgbClr val="2E2D29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پروتکل تصویربرداری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79120" y="2788920"/>
            <a:ext cx="6309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 rtl="1" algn="r">
              <a:lnSpc>
                <a:spcPct val="130000"/>
              </a:lnSpc>
              <a:buNone/>
            </a:pPr>
            <a:r>
              <a:rPr lang="en-US" sz="135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عکس‌ها با تلفن همراه و در نور معمولی اتاق گرفته شده‌اند، در حالی که استاندارد نور بازتابی و زمینه تیره را توصیه می‌کند.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1049000" y="4251960"/>
            <a:ext cx="594360" cy="594360"/>
          </a:xfrm>
          <a:prstGeom prst="ellipse">
            <a:avLst/>
          </a:prstGeom>
          <a:solidFill>
            <a:srgbClr val="62005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049000" y="42519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۳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7025640" y="420624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600" b="1" dirty="0">
                <a:solidFill>
                  <a:srgbClr val="2E2D29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مرجع و دامنه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79120" y="4206240"/>
            <a:ext cx="6309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 rtl="1" algn="r">
              <a:lnSpc>
                <a:spcPct val="130000"/>
              </a:lnSpc>
              <a:buNone/>
            </a:pPr>
            <a:r>
              <a:rPr lang="en-US" sz="135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عدد دو میلی‌متری تکرارپذیری کارشناس یک اظهار شفاهی است. نام آنتی‌بیوتیک هم خوانده نمی‌شود، پس دسته نهایی اعلام نمی‌گردد.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32816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900" spc="200" kern="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محدودیت‌ها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85928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 rtl="1">
              <a:buNone/>
            </a:pPr>
            <a:r>
              <a:rPr lang="en-US" sz="9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۱۳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2192" y="475488"/>
            <a:ext cx="201168" cy="201168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694688" y="347472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30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نتیجه‌گیری و دستاوردها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2920" y="137160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7F5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397240" y="155448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40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۰۱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397240" y="2468880"/>
            <a:ext cx="2971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35000"/>
              </a:lnSpc>
              <a:buNone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زنجیره‌ای کامل و کاملاً قطعی از عکس خام تا دسته بالینی ساخته شد. نتیجه روی سه ماشین مستقل بیت به بیت بازتولید شد.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82440" y="137160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7F5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56760" y="155448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40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۰۲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56760" y="2468880"/>
            <a:ext cx="2971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35000"/>
              </a:lnSpc>
              <a:buNone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مرز هاله با سه روش موازی تعیین و بر پایه نقاط قوت اندازه‌گیری‌شده هر کدام ترکیب شد. این ترکیب خطا را سی درصد کاهش داد.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1960" y="137160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7F5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6280" y="155448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40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۰۳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716280" y="2468880"/>
            <a:ext cx="2971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35000"/>
              </a:lnSpc>
              <a:buNone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علت ریشه‌ای خطای باقی‌مانده اندازه‌گیری شد. این یافته مسیر بهبود را از الگوریتم بهتر به تصویربرداری بهتر چرخاند.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51688" y="5212080"/>
            <a:ext cx="11091672" cy="0"/>
          </a:xfrm>
          <a:prstGeom prst="line">
            <a:avLst/>
          </a:prstGeom>
          <a:noFill/>
          <a:ln w="12700">
            <a:solidFill>
              <a:srgbClr val="E8E5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51688" y="539496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1600" b="1" i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جمع‌بندی: یافتن دیسک حل شده است. تعیین مرز هاله تا حدی حل شده، و علت باقی‌مانده‌اش اندازه‌گیری شده است و نه حدس زده.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32816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900" spc="200" kern="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نتیجه‌گیری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85928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 rtl="1">
              <a:buNone/>
            </a:pPr>
            <a:r>
              <a:rPr lang="en-US" sz="9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۱۴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2192" y="475488"/>
            <a:ext cx="201168" cy="201168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694688" y="347472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30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کار آینده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2920" y="137160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7F5F1"/>
          </a:solidFill>
          <a:ln/>
        </p:spPr>
      </p:sp>
      <p:sp>
        <p:nvSpPr>
          <p:cNvPr id="5" name="Shape 3"/>
          <p:cNvSpPr/>
          <p:nvPr/>
        </p:nvSpPr>
        <p:spPr>
          <a:xfrm>
            <a:off x="10911840" y="1645920"/>
            <a:ext cx="457200" cy="457200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397240" y="22860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700" b="1" dirty="0">
                <a:solidFill>
                  <a:srgbClr val="E98300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کوتاه‌مدت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397240" y="2743200"/>
            <a:ext cx="29718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35000"/>
              </a:lnSpc>
              <a:buNone/>
            </a:pPr>
            <a:r>
              <a:rPr lang="en-US" sz="135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افزودن مدل سیگموئید گذار شعاعی. سنجش آفلاین روی ۵۷ دیسک مشترک، خطای متوسط ۲٫۷۹ و میانه ۱٫۰۳ میلی‌متر داد.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282440" y="137160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7F5F1"/>
          </a:solidFill>
          <a:ln/>
        </p:spPr>
      </p:sp>
      <p:sp>
        <p:nvSpPr>
          <p:cNvPr id="9" name="Shape 7"/>
          <p:cNvSpPr/>
          <p:nvPr/>
        </p:nvSpPr>
        <p:spPr>
          <a:xfrm>
            <a:off x="7071360" y="1645920"/>
            <a:ext cx="457200" cy="457200"/>
          </a:xfrm>
          <a:prstGeom prst="ellipse">
            <a:avLst/>
          </a:prstGeom>
          <a:solidFill>
            <a:srgbClr val="007C9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56760" y="22860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700" b="1" dirty="0">
                <a:solidFill>
                  <a:srgbClr val="007C92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میان‌مدت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56760" y="2743200"/>
            <a:ext cx="29718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35000"/>
              </a:lnSpc>
              <a:buNone/>
            </a:pPr>
            <a:r>
              <a:rPr lang="en-US" sz="135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سه شرط تصویربرداری: نورپردازی از پشت ظرف، گذاشتن کارت خاکستری مرجع در قاب، و عکس‌برداری از یک ظرف در چند زمان.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41960" y="137160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7F5F1"/>
          </a:solidFill>
          <a:ln/>
        </p:spPr>
      </p:sp>
      <p:sp>
        <p:nvSpPr>
          <p:cNvPr id="13" name="Shape 11"/>
          <p:cNvSpPr/>
          <p:nvPr/>
        </p:nvSpPr>
        <p:spPr>
          <a:xfrm>
            <a:off x="3230880" y="1645920"/>
            <a:ext cx="457200" cy="457200"/>
          </a:xfrm>
          <a:prstGeom prst="ellipse">
            <a:avLst/>
          </a:prstGeom>
          <a:solidFill>
            <a:srgbClr val="62005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6280" y="22860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700" b="1" dirty="0">
                <a:solidFill>
                  <a:srgbClr val="620059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بلندمدت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16280" y="2743200"/>
            <a:ext cx="29718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35000"/>
              </a:lnSpc>
              <a:buNone/>
            </a:pPr>
            <a:r>
              <a:rPr lang="en-US" sz="135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مجموعه مرجع بزرگ‌تر با چند آزمایشگاه و چند دوربین، به همراه دور دوم اندازه‌گیری کارشناسی روی همان ظرف‌ها.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32816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900" spc="200" kern="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کار آینده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85928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 rtl="1">
              <a:buNone/>
            </a:pPr>
            <a:r>
              <a:rPr lang="en-US" sz="9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۱۵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61432" y="822960"/>
            <a:ext cx="1463040" cy="1463040"/>
          </a:xfrm>
          <a:prstGeom prst="ellipse">
            <a:avLst/>
          </a:prstGeom>
          <a:solidFill>
            <a:srgbClr val="8C151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361432" y="822960"/>
            <a:ext cx="1463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3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♥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1525524" y="25146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32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سپاسگزاری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525524" y="3246120"/>
            <a:ext cx="9144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lnSpc>
                <a:spcPts val="3000"/>
              </a:lnSpc>
              <a:buNone/>
            </a:pPr>
            <a:r>
              <a:rPr lang="en-US" sz="16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از استاد راهنما، جناب آقای دکتر محمدرضا یزدچی</a:t>
            </a:r>
            <a:endParaRPr lang="en-US" sz="1600" dirty="0"/>
          </a:p>
          <a:p>
            <a:pPr algn="ctr" indent="0" marL="0" rtl="1">
              <a:lnSpc>
                <a:spcPts val="3000"/>
              </a:lnSpc>
              <a:buNone/>
            </a:pPr>
            <a:r>
              <a:rPr lang="en-US" sz="16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از کارشناسان آزمایشگاه، برای اندازه‌گیری دستی ۶۴ هاله</a:t>
            </a:r>
            <a:endParaRPr lang="en-US" sz="1600" dirty="0"/>
          </a:p>
          <a:p>
            <a:pPr algn="ctr" indent="0" marL="0" rtl="1">
              <a:lnSpc>
                <a:spcPts val="3000"/>
              </a:lnSpc>
              <a:buNone/>
            </a:pPr>
            <a:r>
              <a:rPr lang="en-US" sz="16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از هیئت داوران، برای وقتی که گذاشتند</a:t>
            </a:r>
            <a:endParaRPr lang="en-US" sz="1600" dirty="0"/>
          </a:p>
          <a:p>
            <a:pPr algn="ctr" indent="0" marL="0" rtl="1">
              <a:lnSpc>
                <a:spcPts val="3000"/>
              </a:lnSpc>
              <a:buNone/>
            </a:pPr>
            <a:r>
              <a:rPr lang="en-US" sz="16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از خانواده‌ام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32816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900" spc="200" kern="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سپاسگزاری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85928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 rtl="1">
              <a:buNone/>
            </a:pPr>
            <a:r>
              <a:rPr lang="en-US" sz="9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۱۶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8C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23120" y="-1645920"/>
            <a:ext cx="4114800" cy="4114800"/>
          </a:xfrm>
          <a:prstGeom prst="ellipse">
            <a:avLst/>
          </a:prstGeom>
          <a:solidFill>
            <a:srgbClr val="6E1010"/>
          </a:solidFill>
          <a:ln/>
        </p:spPr>
      </p:sp>
      <p:sp>
        <p:nvSpPr>
          <p:cNvPr id="3" name="Shape 1"/>
          <p:cNvSpPr/>
          <p:nvPr/>
        </p:nvSpPr>
        <p:spPr>
          <a:xfrm>
            <a:off x="-1706880" y="4389120"/>
            <a:ext cx="3657600" cy="3657600"/>
          </a:xfrm>
          <a:prstGeom prst="ellipse">
            <a:avLst/>
          </a:prstGeom>
          <a:solidFill>
            <a:srgbClr val="6E101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6008" y="2286000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سپاس از توجه شما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826008" y="3337560"/>
            <a:ext cx="105430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dirty="0">
                <a:solidFill>
                  <a:srgbClr val="E98300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پرسش و پاسخ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6008" y="5852160"/>
            <a:ext cx="10543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1300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مهیار حدادها  •  ۴۰۱۲۰۱۳۰۵۳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2192" y="475488"/>
            <a:ext cx="201168" cy="201168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694688" y="347472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30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نتایج: یافتن ظرف و یافتن دیسک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2920" y="137160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7F5F1"/>
          </a:solidFill>
          <a:ln/>
        </p:spPr>
      </p:sp>
      <p:sp>
        <p:nvSpPr>
          <p:cNvPr id="5" name="Shape 3"/>
          <p:cNvSpPr/>
          <p:nvPr/>
        </p:nvSpPr>
        <p:spPr>
          <a:xfrm>
            <a:off x="10683240" y="1737360"/>
            <a:ext cx="640080" cy="640080"/>
          </a:xfrm>
          <a:prstGeom prst="ellipse">
            <a:avLst/>
          </a:prstGeom>
          <a:solidFill>
            <a:srgbClr val="8C151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683240" y="1737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۱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397240" y="246888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200" b="1" spc="200" kern="0" dirty="0">
                <a:solidFill>
                  <a:srgbClr val="E98300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یافتن ظرف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397240" y="2834640"/>
            <a:ext cx="29718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30000"/>
              </a:lnSpc>
              <a:buNone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در هر ۱۱ عکس ظرف درست پیدا شد. این عدد را باید با احتیاط خواند، چون هر ۱۱ عکس از یک آزمایشگاه‌اند.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82440" y="137160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7F5F1"/>
          </a:solidFill>
          <a:ln/>
        </p:spPr>
      </p:sp>
      <p:sp>
        <p:nvSpPr>
          <p:cNvPr id="10" name="Shape 8"/>
          <p:cNvSpPr/>
          <p:nvPr/>
        </p:nvSpPr>
        <p:spPr>
          <a:xfrm>
            <a:off x="6842760" y="1737360"/>
            <a:ext cx="640080" cy="640080"/>
          </a:xfrm>
          <a:prstGeom prst="ellipse">
            <a:avLst/>
          </a:prstGeom>
          <a:solidFill>
            <a:srgbClr val="8C151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42760" y="1737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۲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56760" y="246888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200" b="1" spc="200" kern="0" dirty="0">
                <a:solidFill>
                  <a:srgbClr val="E98300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یافتن دیسک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56760" y="2834640"/>
            <a:ext cx="29718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30000"/>
              </a:lnSpc>
              <a:buNone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روی ۹۳ دیسک مرجع، امتیاز اف۱ برابر ۰٫۹۸۹ با صحت کامل ۱٫۰۰۰ و بازخوانی ۰٫۹۷۸ به دست آمد.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41960" y="137160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7F5F1"/>
          </a:solidFill>
          <a:ln/>
        </p:spPr>
      </p:sp>
      <p:sp>
        <p:nvSpPr>
          <p:cNvPr id="15" name="Shape 13"/>
          <p:cNvSpPr/>
          <p:nvPr/>
        </p:nvSpPr>
        <p:spPr>
          <a:xfrm>
            <a:off x="3002280" y="1737360"/>
            <a:ext cx="640080" cy="640080"/>
          </a:xfrm>
          <a:prstGeom prst="ellipse">
            <a:avLst/>
          </a:prstGeom>
          <a:solidFill>
            <a:srgbClr val="8C151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002280" y="1737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۳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16280" y="246888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200" b="1" spc="200" kern="0" dirty="0">
                <a:solidFill>
                  <a:srgbClr val="E98300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تشخیص وجود هاله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16280" y="2834640"/>
            <a:ext cx="29718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30000"/>
              </a:lnSpc>
              <a:buNone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روی ۹۱ دیسک تطبیق‌یافته دقت ۰٫۸۲۴ است. سامانه هاله واقعی را کم از دست می‌دهد ولی گاهی هاله‌ای می‌بیند که نیست.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32816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900" spc="200" kern="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نتایج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85928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 rtl="1">
              <a:buNone/>
            </a:pPr>
            <a:r>
              <a:rPr lang="en-US" sz="9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۸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2192" y="475488"/>
            <a:ext cx="201168" cy="201168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694688" y="347472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30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سقف قابل اثبات: انسان در برابر انسان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31280" y="1325880"/>
            <a:ext cx="521208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E8E5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31280" y="1325880"/>
            <a:ext cx="5212080" cy="594360"/>
          </a:xfrm>
          <a:prstGeom prst="rect">
            <a:avLst/>
          </a:prstGeom>
          <a:solidFill>
            <a:srgbClr val="716E6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31280" y="1325880"/>
            <a:ext cx="5212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کارشناس با کارشناس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797040" y="2148840"/>
            <a:ext cx="44805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 rtl="1" algn="r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خطای متوسط: ۱٫۳۶ میلی‌متر</a:t>
            </a:r>
            <a:endParaRPr lang="en-US" sz="1400" dirty="0"/>
          </a:p>
          <a:p>
            <a:pPr marL="342900" indent="-342900" rtl="1" algn="r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توافق دسته‌ای: ۹۵٫۱٪</a:t>
            </a:r>
            <a:endParaRPr lang="en-US" sz="1400" dirty="0"/>
          </a:p>
          <a:p>
            <a:pPr marL="342900" indent="-342900" rtl="1" algn="r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خطای بسیار عمده: ۲٫۰۷٪</a:t>
            </a:r>
            <a:endParaRPr lang="en-US" sz="1400" dirty="0"/>
          </a:p>
          <a:p>
            <a:pPr marL="342900" indent="-342900" rtl="1" algn="r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نکته: حتی دو کارشناس انسانی هم سقف ۱٫۵ درصدی خطای بسیار عمده را برآورده نمی‌کنند.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99160" y="1325880"/>
            <a:ext cx="5212080" cy="4297680"/>
          </a:xfrm>
          <a:prstGeom prst="roundRect">
            <a:avLst>
              <a:gd name="adj" fmla="val 1702"/>
            </a:avLst>
          </a:prstGeom>
          <a:solidFill>
            <a:srgbClr val="F7F5F1"/>
          </a:solidFill>
          <a:ln w="12700">
            <a:solidFill>
              <a:srgbClr val="E8E5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9160" y="1325880"/>
            <a:ext cx="5212080" cy="594360"/>
          </a:xfrm>
          <a:prstGeom prst="rect">
            <a:avLst/>
          </a:prstGeom>
          <a:solidFill>
            <a:srgbClr val="8C151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99160" y="1325880"/>
            <a:ext cx="5212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 rtl="1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سامانه با کارشناس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64920" y="2148840"/>
            <a:ext cx="44805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 rtl="1" algn="r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خطای متوسط: ۳٫۸۵ میلی‌متر</a:t>
            </a:r>
            <a:endParaRPr lang="en-US" sz="1400" dirty="0"/>
          </a:p>
          <a:p>
            <a:pPr marL="342900" indent="-342900" rtl="1" algn="r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توافق دسته‌ای: ۸۳٫۲٪</a:t>
            </a:r>
            <a:endParaRPr lang="en-US" sz="1400" dirty="0"/>
          </a:p>
          <a:p>
            <a:pPr marL="342900" indent="-342900" rtl="1" algn="r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خطای بسیار عمده: ۶٫۱۹٪</a:t>
            </a:r>
            <a:endParaRPr lang="en-US" sz="1400" dirty="0"/>
          </a:p>
          <a:p>
            <a:pPr marL="342900" indent="-342900" rtl="1" algn="r">
              <a:lnSpc>
                <a:spcPct val="14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نتیجه: سقف واقعی در برابر چنین مرجعی حدود ۹۲ تا ۹۶ درصد است، پس فاصله سامانه ده واحد است و نه هجده واحد.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32816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900" spc="200" kern="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سقف قابل اثبات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85928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 rtl="1">
              <a:buNone/>
            </a:pPr>
            <a:r>
              <a:rPr lang="en-US" sz="9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۱۱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2192" y="475488"/>
            <a:ext cx="201168" cy="201168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694688" y="347472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3000" b="1" dirty="0">
                <a:solidFill>
                  <a:srgbClr val="8C1515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مرحله سوم: سه روش موازی برای مرز هاله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2920" y="137160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7F5F1"/>
          </a:solidFill>
          <a:ln/>
        </p:spPr>
      </p:sp>
      <p:sp>
        <p:nvSpPr>
          <p:cNvPr id="5" name="Shape 3"/>
          <p:cNvSpPr/>
          <p:nvPr/>
        </p:nvSpPr>
        <p:spPr>
          <a:xfrm>
            <a:off x="10911840" y="1645920"/>
            <a:ext cx="457200" cy="457200"/>
          </a:xfrm>
          <a:prstGeom prst="ellipse">
            <a:avLst/>
          </a:prstGeom>
          <a:solidFill>
            <a:srgbClr val="E983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397240" y="22860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700" b="1" dirty="0">
                <a:solidFill>
                  <a:srgbClr val="E98300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پروفایل شعاعی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397240" y="2743200"/>
            <a:ext cx="29718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35000"/>
              </a:lnSpc>
              <a:buNone/>
            </a:pPr>
            <a:r>
              <a:rPr lang="en-US" sz="135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روشنایی را روی شعاع‌های گوناگون دنبال می‌کند. بیشترین پوشش را دارد، ۵۷ هاله از ۶۳ هاله واقعی، و کم‌دقت‌ترین است، با خطای ۵٫۴۹ میلی‌متر.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282440" y="137160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7F5F1"/>
          </a:solidFill>
          <a:ln/>
        </p:spPr>
      </p:sp>
      <p:sp>
        <p:nvSpPr>
          <p:cNvPr id="9" name="Shape 7"/>
          <p:cNvSpPr/>
          <p:nvPr/>
        </p:nvSpPr>
        <p:spPr>
          <a:xfrm>
            <a:off x="7071360" y="1645920"/>
            <a:ext cx="457200" cy="457200"/>
          </a:xfrm>
          <a:prstGeom prst="ellipse">
            <a:avLst/>
          </a:prstGeom>
          <a:solidFill>
            <a:srgbClr val="007C9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56760" y="22860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700" b="1" dirty="0">
                <a:solidFill>
                  <a:srgbClr val="007C92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آستانه‌گذاری ناحیه‌ای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56760" y="2743200"/>
            <a:ext cx="29718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35000"/>
              </a:lnSpc>
              <a:buNone/>
            </a:pPr>
            <a:r>
              <a:rPr lang="en-US" sz="135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ناحیه بدون رشد را یکجا جدا می‌کند. روی ۲۶ دیسک فعال می‌شود و خطایش ۳٫۶۶ میلی‌متر است.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41960" y="137160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7F5F1"/>
          </a:solidFill>
          <a:ln/>
        </p:spPr>
      </p:sp>
      <p:sp>
        <p:nvSpPr>
          <p:cNvPr id="13" name="Shape 11"/>
          <p:cNvSpPr/>
          <p:nvPr/>
        </p:nvSpPr>
        <p:spPr>
          <a:xfrm>
            <a:off x="3230880" y="1645920"/>
            <a:ext cx="457200" cy="457200"/>
          </a:xfrm>
          <a:prstGeom prst="ellipse">
            <a:avLst/>
          </a:prstGeom>
          <a:solidFill>
            <a:srgbClr val="62005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6280" y="22860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1700" b="1" dirty="0">
                <a:solidFill>
                  <a:srgbClr val="620059"/>
                </a:solidFill>
                <a:latin typeface="Cambria" pitchFamily="34" charset="0"/>
                <a:ea typeface="Cambria" pitchFamily="34" charset="-122"/>
                <a:cs typeface="IRTitr" pitchFamily="34" charset="-120"/>
              </a:rPr>
              <a:t>رشد کنترل‌شده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16280" y="2743200"/>
            <a:ext cx="29718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lnSpc>
                <a:spcPct val="135000"/>
              </a:lnSpc>
              <a:buNone/>
            </a:pPr>
            <a:r>
              <a:rPr lang="en-US" sz="1350" dirty="0">
                <a:solidFill>
                  <a:srgbClr val="2E2D2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از لبه دیسک به بیرون رشد می‌کند تا به مرز برسد. کم‌پوشش‌ترین است، ۱۱ دیسک، و دقیق‌ترین، با خطای ۱٫۰۸ میلی‌متر.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32816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 rtl="1" algn="r">
              <a:buNone/>
            </a:pPr>
            <a:r>
              <a:rPr lang="en-US" sz="900" spc="200" kern="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روش پیشنهادی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85928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 rtl="1">
              <a:buNone/>
            </a:pPr>
            <a:r>
              <a:rPr lang="en-US" sz="900" dirty="0">
                <a:solidFill>
                  <a:srgbClr val="716E69"/>
                </a:solidFill>
                <a:latin typeface="Calibri" pitchFamily="34" charset="0"/>
                <a:ea typeface="Calibri" pitchFamily="34" charset="-122"/>
                <a:cs typeface="IRNazanin" pitchFamily="34" charset="-120"/>
              </a:rPr>
              <a:t>۷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IRTitr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IRNazanin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2026-09-06T06:46:28Z</dcterms:created>
  <dcterms:modified xsi:type="dcterms:W3CDTF">2026-09-06T06:46:28Z</dcterms:modified>
</cp:coreProperties>
</file>