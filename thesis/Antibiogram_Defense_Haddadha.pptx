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23"/>
    <p:sldId id="263" r:id="rId21"/>
    <p:sldId id="264" r:id="rId9"/>
    <p:sldId id="265" r:id="rId8"/>
    <p:sldId id="266" r:id="rId22"/>
    <p:sldId id="267" r:id="rId10"/>
    <p:sldId id="268" r:id="rId11"/>
    <p:sldId id="269" r:id="rId12"/>
    <p:sldId id="270" r:id="rId13"/>
    <p:sldId id="271" r:id="rId14"/>
    <p:sldId id="272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E2D29"/>
                </a:solidFill>
                <a:latin typeface="Cambria"/>
                <a:cs typeface="IRNazanin"/>
              </a:defRPr>
            </a:pPr>
            <a:r>
              <a:rPr sz="1400" b="0" i="0" u="none" strike="noStrike">
                <a:solidFill>
                  <a:srgbClr val="2E2D29"/>
                </a:solidFill>
                <a:latin typeface="Cambria"/>
                <a:cs typeface="IRNazanin"/>
              </a:rPr>
              <a:t>توافق دسته‌ای در برابر خطای متوسط اندازه‌گیری (میلی‌متر)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توافق دسته‌ای (درصد)</c:v>
                </c:pt>
              </c:strCache>
            </c:strRef>
          </c:tx>
          <c:spPr>
            <a:solidFill>
              <a:srgbClr val="8C151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E2D29"/>
                    </a:solidFill>
                    <a:latin typeface="Arial"/>
                    <a:cs typeface="IRNazanin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0.96</c:v>
                  </c:pt>
                  <c:pt idx="1">
                    <c:v>1.35</c:v>
                  </c:pt>
                  <c:pt idx="2">
                    <c:v>1.93</c:v>
                  </c:pt>
                  <c:pt idx="3">
                    <c:v>2.89</c:v>
                  </c:pt>
                  <c:pt idx="4">
                    <c:v>3.85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96.1</c:v>
                </c:pt>
                <c:pt idx="1">
                  <c:v>94.2</c:v>
                </c:pt>
                <c:pt idx="2">
                  <c:v>91.5</c:v>
                </c:pt>
                <c:pt idx="3">
                  <c:v>86.8</c:v>
                </c:pt>
                <c:pt idx="4">
                  <c:v>83.2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E2D29"/>
                  </a:solidFill>
                  <a:latin typeface="Arial"/>
                  <a:cs typeface="IRNazanin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6E69"/>
                </a:solidFill>
                <a:latin typeface="Arial"/>
                <a:cs typeface="IRNazani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80"/>
        </c:scaling>
        <c:delete val="0"/>
        <c:axPos val="l"/>
        <c:majorGridlines>
          <c:spPr>
            <a:ln w="12700" cap="flat">
              <a:solidFill>
                <a:srgbClr val="E8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6E69"/>
                </a:solidFill>
                <a:latin typeface="Arial"/>
                <a:cs typeface="IRNazani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«۳۰ ثانیه» با سلام و خوش‌آمد شروع کنید. عنوان، رشته و نام استاد راهنما را شمرده بگویید. عجله نکنید؛ داوران در همین سی ثانیه ذهنشان را تنظیم می‌کنند.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«۳۰ ثانیه» فقط هفت سرفصل را بخوانید. توضیح ندهید. بگویید ارائه حدود بیست دقیقه است و پرسش‌ها در پایان پاسخ داده می‌شود.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با تصویر ذهنی شروع کنید: کارشناس، خط‌کش و ظرف پتری. بعد بگویید نتیجه همین اندازه‌گیری، داروی بیمار را تعیین می‌کند. عدد ۱٫۲۷ میلیون را آرام بگویید و مکث کنید.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سه پرسش را بخوانید و تاکید کنید که پرسش سوم مهم‌ترین است. بگویید پاسخ پرسش سوم در این ارائه صادقانه داده می‌شود، چه مثبت باشد چه منفی.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صریح بگویید که دسته یادگیری عمیق از این سامانه دقیق‌تر است. پنهان کردن این نکته، اولین پرسش داور می‌شود. بعد بگویید سهم این کار چیز دیگری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 دقیقه» چهار مرحله را به ترتیب و هر کدام در سی ثانیه بگویید. روی مرحله دوم تاکید کنید: قطر شش میلی‌متری دیسک، تنها مرجع مطلق در کل تصویر است و مقیاس از همان‌جا می‌آید.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 دقیقه» اینجا صادق‌ترین بخش ارائه است. بگویید سامانه به سقف پذیرش بالینی نمی‌رسد. بعد به نمودار بروید و بگویید برای رسیدن به آن سقف، خطا باید به حدود یک میلی‌متر برسد. این عدد، هدف مهندسی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دو ستون را مقایسه کنید. نکته اصلی: ترکیب روی هر سه معیار بهتر یا برابر است. عدد سی درصد کاهش خطا را برجسته بگویید.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 دقیقه و ۳۰ ثانیه» مهم‌ترین اسلاید ارائه است. آرام بگویید. عدد سه دهم را توضیح دهید، بعد دو کنترل را بگویید تا نشان دهید عدد مصنوع روش نیست، و در پایان جمله کادر را مستقیم بخوانید.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محدودیت‌ها را بدون دفاع و بدون عذرخواهی بگویید. لحن باید خونسرد باشد. این بخش اعتماد داور را می‌سازد.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سه دستاورد را بشمارید. جمله جمع‌بندی پایین اسلاید را کلمه به کلمه بخوانید؛ همان یک جمله است که در ذهن داور می‌ماند.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تاکید کنید که پیشنهاد کوتاه‌مدت از پیش سنجیده شده و عدد دارد. سه شرط تصویربرداری را بگویید و اضافه کنید که هیچ‌کدام تجهیزات گران نمی‌خواهند.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«۲۰ ثانیه» کوتاه و صمیمانه. اسم‌ها را درست تلفظ کنید.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این اسلاید تا پایان جلسه روی پرده می‌ماند. برای پرسش‌ها آماده باشید: چرا یادگیری ماشین نه، چرا فقط یازده عکس، و چرا خطای بسیار عمده بالاست. پاسخ هر سه در اسلایدهای ۵، ۱۳ و ۱۱ آمده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اینجا خبر خوب است. سریع بگویید و نمانید. جمله احتیاط درباره یک آزمایشگاه بودن را حتماً بگویید؛ داور آن را می‌پرسد و بهتر است خودتان گفته باشید.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این اسلاید تفسیر اسلاید قبل را عوض می‌کند. بگویید حتی دو کارشناس انسانی هم سقف یک و نیم درصد را برآورده نمی‌کنند. پس سقف واقعی صد درصد نیست و فاصله سامانه ده واحد است، نه هجده واحد.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پیام این اسلاید یک جمله است: هیچ روشی هم پوشش خوب دارد و هم دقت خوب. سه عدد پوشش و سه عدد خطا را کنار هم بگذارید و بگویید ترکیب دقیقاً برای همین ساخته شد.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C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15440" y="-1188720"/>
            <a:ext cx="3840480" cy="384048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3" name="Shape 1"/>
          <p:cNvSpPr/>
          <p:nvPr/>
        </p:nvSpPr>
        <p:spPr>
          <a:xfrm>
            <a:off x="10363200" y="5120640"/>
            <a:ext cx="3291840" cy="329184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4" name="Shape 2"/>
          <p:cNvSpPr/>
          <p:nvPr/>
        </p:nvSpPr>
        <p:spPr>
          <a:xfrm>
            <a:off x="1173480" y="502920"/>
            <a:ext cx="320040" cy="32004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67840" y="14173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b="1" spc="3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دفاع از پروژه‌ی کارشناسی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76400" y="1874520"/>
            <a:ext cx="9692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طراحی و پیاده‌سازی سامانه هوشمند تحلیل خودکار آزمون آنتی‌بیوگرام</a:t>
            </a:r>
            <a:endParaRPr lang="en-US" sz="2800" dirty="0"/>
          </a:p>
          <a:p>
            <a:pPr indent="0" marL="0" rtl="1" algn="r">
              <a:lnSpc>
                <a:spcPts val="4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مبتنی بر پردازش تصویر و یادگیری ماشین مطابق استاندارد EUCAST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945880" y="3703320"/>
            <a:ext cx="2377440" cy="0"/>
          </a:xfrm>
          <a:prstGeom prst="line">
            <a:avLst/>
          </a:prstGeom>
          <a:noFill/>
          <a:ln w="31750">
            <a:solidFill>
              <a:srgbClr val="E983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920" y="393192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ارائه‌دهنده: مهیار حدادها</a:t>
            </a:r>
            <a:endParaRPr lang="en-US" sz="1600" dirty="0"/>
          </a:p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کارشناسی مهندسی پزشکی — دانشکده فنی و مهندسی</a:t>
            </a:r>
            <a:endParaRPr lang="en-US" sz="1600" dirty="0"/>
          </a:p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استاد راهنما: دکتر محمدرضا یزدچی</a:t>
            </a:r>
            <a:endParaRPr lang="en-US" sz="1600" dirty="0"/>
          </a:p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دانشگاه اصفهان  •  شهریور ۱۴۰۵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9120" y="580644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6E1010"/>
          </a:solidFill>
          <a:ln w="12700">
            <a:solidFill>
              <a:srgbClr val="E983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9120" y="580644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9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دانشگاه</a:t>
            </a:r>
            <a:endParaRPr lang="en-US" sz="900" dirty="0"/>
          </a:p>
          <a:p>
            <a:pPr algn="ctr" indent="0" marL="0" rtl="1">
              <a:buNone/>
            </a:pPr>
            <a:r>
              <a:rPr lang="en-US" sz="9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اصفهان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سرفصل ارائه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40440" y="1234440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4044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568440" y="11887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مسئله و انگیزه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568440" y="15270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چرا این مسئله اهمیت دارد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140440" y="2404872"/>
            <a:ext cx="502920" cy="50292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140440" y="2404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68440" y="235915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هدف و پرسش‌ها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68440" y="26974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این پژوهش به دنبال چیست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140440" y="3575304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140440" y="3575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68440" y="352958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 پیشنهادی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68440" y="386791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سامانه چگونه کار می‌کند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140440" y="4745736"/>
            <a:ext cx="502920" cy="50292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140440" y="4745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۴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68440" y="470001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نتایج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68440" y="5038344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چه چیزی به دست آمد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16880" y="1234440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1688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۵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4880" y="11887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تفسیر بالینی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44880" y="15270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این اعداد برای آزمایشگاه چه معنایی دارند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16880" y="2404872"/>
            <a:ext cx="502920" cy="50292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16880" y="2404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۶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44880" y="235915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یافته اصلی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44880" y="26974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چرا خطا همان‌جا مانده است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16880" y="3575304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516880" y="3575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۷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44880" y="352958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نتیجه‌گیری و کار آینده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44880" y="386791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دستاوردها و قدم بعد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سرفصل ارائه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۲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مسئله و انگیزه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151120" y="13716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مسئله: قطر ناحیه بدون رشد در آزمون آنتی‌بیوگرام امروز با خط‌کش و به دست کارشناس اندازه گرفته می‌شود.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چرا اهمیت دارد: نتیجه همین اندازه‌گیری تعیین می‌کند بیمار کدام آنتی‌بیوتیک را دریافت کند.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مشکل: خوانش دستی وقت‌گیر است، به تجربه فرد وابسته می‌ماند و ثبت دیجیتال ندارد.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این پژوهش: سامانه‌ای ساخته شد که همین اندازه‌گیری را از روی یک عکس معمولی و به صورت خودکار انجام می‌دهد.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79120" y="13716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F7F5F1"/>
          </a:solidFill>
          <a:ln/>
        </p:spPr>
      </p:sp>
      <p:sp>
        <p:nvSpPr>
          <p:cNvPr id="6" name="Shape 4"/>
          <p:cNvSpPr/>
          <p:nvPr/>
        </p:nvSpPr>
        <p:spPr>
          <a:xfrm>
            <a:off x="2179320" y="1828800"/>
            <a:ext cx="1005840" cy="100584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179320" y="18288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؟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53440" y="3017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8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چرا اکنون؟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53440" y="342900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30000"/>
              </a:lnSpc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مقاومت آنتی‌بیوتیکی در سال ۲۰۱۹ به ۱٫۲۷ میلیون مرگ مستقیم نسبت داده شده است. سرعت و یکنواختی گزارش آزمایشگاه، بخشی از پاسخ به آن است.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مقدمه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۳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هدف و پرسش‌های پژوهش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68324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68324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یکم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9724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آیا می‌توان قطر هاله را از یک عکس معمولی و بدون تجهیزات ویژه، به صورت خودکار اندازه گرفت؟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0" name="Shape 8"/>
          <p:cNvSpPr/>
          <p:nvPr/>
        </p:nvSpPr>
        <p:spPr>
          <a:xfrm>
            <a:off x="684276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427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دوم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5676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دقت این اندازه‌گیری در برابر خوانش کارشناس چقدر است؟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5" name="Shape 13"/>
          <p:cNvSpPr/>
          <p:nvPr/>
        </p:nvSpPr>
        <p:spPr>
          <a:xfrm>
            <a:off x="300228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0228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1628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سوم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628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آیا این دقت برای تصمیم بالینی کافی است؟ اگر نیست، مانع دقیقاً کجاست؟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هدف و پرسش‌ها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کارهای پیشین و جای این پژوهش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31280" y="132588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1167872" y="1545336"/>
            <a:ext cx="201168" cy="201168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05600" y="147218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ابزارهای متن‌باز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659880" y="189280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ابزار AntibiogramJ با آستانه‌گذاری کلاسیک روی عکس معمولی کار می‌کند و توافق حدود ۸۷ درصد گزارش کرده است. از نظر فناوری نزدیک‌ترین کار به این پژوهش است.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99160" y="132588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9" name="Shape 7"/>
          <p:cNvSpPr/>
          <p:nvPr/>
        </p:nvSpPr>
        <p:spPr>
          <a:xfrm>
            <a:off x="5635752" y="1545336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3480" y="147218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روش‌های یادگیری عمیق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27760" y="189280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یک برنامه تلفن همراه کل تحلیل را روی خود دستگاه انجام می‌دهد و توافق ۹۸ درصد گزارش کرده است. این دسته از نظر دقت عددی از سامانه حاضر جلوتر است.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31280" y="356616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67872" y="3785616"/>
            <a:ext cx="201168" cy="201168"/>
          </a:xfrm>
          <a:prstGeom prst="ellipse">
            <a:avLst/>
          </a:prstGeom>
          <a:solidFill>
            <a:srgbClr val="007C9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05600" y="371246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007C92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روش‌های نوری جایگزین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59880" y="413308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کیم و همکاران به جای بهبود تحلیل، خود تصویربرداری را عوض کردند. تصویربرداری لکه لیزری به فعالیت زیستی حساس است و داروی موثر را در کمتر از سه ساعت می‌یابد.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160" y="356616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35752" y="3785616"/>
            <a:ext cx="201168" cy="201168"/>
          </a:xfrm>
          <a:prstGeom prst="ellipse">
            <a:avLst/>
          </a:prstGeom>
          <a:solidFill>
            <a:srgbClr val="27998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3480" y="371246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7998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جای این پژوهش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27760" y="413308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آنچه این کار می‌افزاید دقت بیشتر نیست. یک زنجیره کاملاً قطعی است، و اندازه‌گیری علتی که خطای باقی‌مانده را می‌سازد.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کارهای پیشین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۵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 پیشنهادی: چهار مرحله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5502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982370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2370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09218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یافتن ظرف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3790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مکان و قطر ظرف پتری از تصویر به دست می‌آید و مقیاس کار از همان‌جا تعیین می‌شود.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flipH="1">
            <a:off x="8653272" y="3429000"/>
            <a:ext cx="274320" cy="274320"/>
          </a:xfrm>
          <a:prstGeom prst="rightArrow">
            <a:avLst/>
          </a:prstGeom>
          <a:solidFill>
            <a:srgbClr val="E98300"/>
          </a:solidFill>
          <a:ln/>
        </p:spPr>
      </p:sp>
      <p:sp>
        <p:nvSpPr>
          <p:cNvPr id="10" name="Shape 8"/>
          <p:cNvSpPr/>
          <p:nvPr/>
        </p:nvSpPr>
        <p:spPr>
          <a:xfrm>
            <a:off x="625754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11" name="Shape 9"/>
          <p:cNvSpPr/>
          <p:nvPr/>
        </p:nvSpPr>
        <p:spPr>
          <a:xfrm>
            <a:off x="712622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2622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39470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یافتن دیسک‌ها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4042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هر دیسک با ترکیب دو شاخه مستقل پیدا می‌شود. قطر شش میلی‌متری استاندارد آن، مقیاس میلی‌متر را می‌دهد.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5955792" y="3429000"/>
            <a:ext cx="274320" cy="274320"/>
          </a:xfrm>
          <a:prstGeom prst="rightArrow">
            <a:avLst/>
          </a:prstGeom>
          <a:solidFill>
            <a:srgbClr val="E983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56006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17" name="Shape 15"/>
          <p:cNvSpPr/>
          <p:nvPr/>
        </p:nvSpPr>
        <p:spPr>
          <a:xfrm>
            <a:off x="442874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2874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369722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تعیین مرز هاله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74294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سه روش موازی مرز را برآورد می‌کنند و نتیجه‌هایشان بر پایه نقاط قوت هر کدام ترکیب می‌شود.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flipH="1">
            <a:off x="3258312" y="3429000"/>
            <a:ext cx="274320" cy="274320"/>
          </a:xfrm>
          <a:prstGeom prst="rightArrow">
            <a:avLst/>
          </a:prstGeom>
          <a:solidFill>
            <a:srgbClr val="E98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6258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23" name="Shape 21"/>
          <p:cNvSpPr/>
          <p:nvPr/>
        </p:nvSpPr>
        <p:spPr>
          <a:xfrm>
            <a:off x="173126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73126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۴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9974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تفسیر بالینی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4546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قطر به دست آمده با جدول‌های نقطه شکست EUCAST نسخه ۱۶٫۰ سنجیده می‌شود.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روش پیشنهادی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ترجمه خطا به زبان بالینی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968240" y="137160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6280" y="141732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2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۸۳٫۲٪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716280" y="19842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توافق دسته‌ای با خوانش کارشناس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6280" y="283464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2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۶٫۱۹٪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16280" y="340156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بسیار عمده — سقف مرسوم ۱٫۵٪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16280" y="425196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2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۹٫۲۴٪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16280" y="48188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عمده — سقف مرسوم ۳٫۰٪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تفسیر بالینی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۱۰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نتایج: دقت قطر هاله و اثر ترکیب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3128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solidFill>
            <a:srgbClr val="716E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فقط روش پروفایل شعاعی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9704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۵٫۵۰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دقت: ۰٫۷۸۰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هاله‌های یافته‌شده: ۵۷ از ۶۳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محدودیت: هاله را می‌یابد ولی مرزش را دقیق نمی‌گذارد. حدود توافق ۱۶٫۱− تا ۱۵٫۱+ میلی‌متر است.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916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7F5F1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solidFill>
            <a:srgbClr val="8C15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ترکیب سه روش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6492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۳٫۸۵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دقت: ۰٫۸۲۴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هاله‌های یافته‌شده: ۶۰ از ۶۳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مزیت: خطای عددی سی درصد کم شد و حدود توافق به ۱۲٫۳− تا ۱۱٫۱+ میلی‌متر رسید. میانه خطا ۲٫۱۰ میلی‌متر است.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نتایج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۹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یافته اصلی: مرز در تصویر ثبت نشده است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968240" y="1371600"/>
            <a:ext cx="66751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اندازه‌گیری: روی نیمی از دیسک‌ها، روشنایی داخل هاله تنها ۰٫۳ انحراف معیار با محیط پیرامون فرق دارد.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کنترل نخست: مرجع داخل هاله در صفر درصد موارد بیرون هاله نیفتاده است، پس عدد مصنوع نمونه‌برداری نیست.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کنترل دوم: وقتی محل درست مرز مجانی به الگوریتم داده شود، جدایش به ۰٫۲۹ می‌رسد، یعنی حتی کمتر.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دو راه استاندارد آزموده و رد شد: تغییر فضای نوری خطا را به ۷٫۰۰ میلی‌متر برد، و میانگین‌گیری فضایی ۲٫۶۳ میلی‌متر تاری به مرز افزود.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3400" y="13716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7F5F1"/>
          </a:solidFill>
          <a:ln/>
        </p:spPr>
      </p:sp>
      <p:sp>
        <p:nvSpPr>
          <p:cNvPr id="6" name="Shape 4"/>
          <p:cNvSpPr/>
          <p:nvPr/>
        </p:nvSpPr>
        <p:spPr>
          <a:xfrm>
            <a:off x="2042160" y="1828800"/>
            <a:ext cx="1097280" cy="109728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042160" y="18288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!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162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8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پیام کلیدی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6280" y="352044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30000"/>
              </a:lnSpc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اطلاعاتی که در تصویر نیست، با هیچ الگوریتمی از همان تصویر بازیافتنی نیست. راه بهبود، تصویربرداری بهتر است و نه الگوریتم بهتر.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یافته اصلی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۱۲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محدودیت‌ها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49000" y="1417320"/>
            <a:ext cx="594360" cy="59436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04900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25640" y="13716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حجم و تنوع داده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79120" y="137160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3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یازده عکس و ۹۳ دیسک، همه از یک آزمایشگاه و با یک دوربین. این یک توصیف اولیه از دقت است و نه اعتبارسنجی بالینی.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049000" y="2834640"/>
            <a:ext cx="594360" cy="59436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04900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025640" y="2788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پروتکل تصویربرداری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79120" y="278892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3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عکس‌ها با تلفن همراه و در نور معمولی اتاق گرفته شده‌اند، در حالی که استاندارد نور بازتابی و زمینه تیره را توصیه می‌کند.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049000" y="4251960"/>
            <a:ext cx="594360" cy="59436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049000" y="4251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025640" y="4206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مرجع و دامنه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79120" y="420624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3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عدد دو میلی‌متری تکرارپذیری کارشناس یک اظهار شفاهی است. نام آنتی‌بیوتیک هم خوانده نمی‌شود، پس دسته نهایی اعلام نمی‌گردد.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محدودیت‌ها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۱۳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نتیجه‌گیری و دستاوردها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397240" y="155448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4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۰۱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397240" y="246888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زنجیره‌ای کامل و کاملاً قطعی از عکس خام تا دسته بالینی ساخته شد. نتیجه روی سه ماشین مستقل بیت به بیت بازتولید شد.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82440" y="13716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56760" y="155448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4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۰۲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56760" y="246888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مرز هاله با سه روش موازی تعیین و بر پایه نقاط قوت اندازه‌گیری‌شده هر کدام ترکیب شد. این ترکیب خطا را سی درصد کاهش داد.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1960" y="13716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6280" y="155448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4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۰۳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16280" y="246888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علت ریشه‌ای خطای باقی‌مانده اندازه‌گیری شد. این یافته مسیر بهبود را از الگوریتم بهتر به تصویربرداری بهتر چرخاند.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1688" y="5212080"/>
            <a:ext cx="11091672" cy="0"/>
          </a:xfrm>
          <a:prstGeom prst="line">
            <a:avLst/>
          </a:prstGeom>
          <a:noFill/>
          <a:ln w="12700">
            <a:solidFill>
              <a:srgbClr val="E8E5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1688" y="539496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i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جمع‌بندی: یافتن دیسک حل شده است. تعیین مرز هاله تا حدی حل شده، و علت باقی‌مانده‌اش اندازه‌گیری شده است و نه حدس زده.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نتیجه‌گیری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کار آینده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911840" y="1645920"/>
            <a:ext cx="457200" cy="45720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9724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کوتاه‌مدت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افزودن مدل سیگموئید گذار شعاعی. سنجش آفلاین روی ۵۷ دیسک مشترک، خطای متوسط ۲٫۷۹ و میانه ۱٫۰۳ میلی‌متر داد.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9" name="Shape 7"/>
          <p:cNvSpPr/>
          <p:nvPr/>
        </p:nvSpPr>
        <p:spPr>
          <a:xfrm>
            <a:off x="7071360" y="1645920"/>
            <a:ext cx="457200" cy="457200"/>
          </a:xfrm>
          <a:prstGeom prst="ellipse">
            <a:avLst/>
          </a:prstGeom>
          <a:solidFill>
            <a:srgbClr val="007C9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676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007C92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میان‌مدت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سه شرط تصویربرداری: نورپردازی از پشت ظرف، گذاشتن کارت خاکستری مرجع در قاب، و عکس‌برداری از یک ظرف در چند زمان.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3" name="Shape 11"/>
          <p:cNvSpPr/>
          <p:nvPr/>
        </p:nvSpPr>
        <p:spPr>
          <a:xfrm>
            <a:off x="3230880" y="1645920"/>
            <a:ext cx="457200" cy="45720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28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62005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بلندمدت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1628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مجموعه مرجع بزرگ‌تر با چند آزمایشگاه و چند دوربین، به همراه دور دوم اندازه‌گیری کارشناسی روی همان ظرف‌ها.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کار آینده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۱۵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1432" y="822960"/>
            <a:ext cx="1463040" cy="146304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61432" y="82296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3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♥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525524" y="2514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32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سپاسگزاری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25524" y="3246120"/>
            <a:ext cx="9144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استاد راهنما، جناب آقای دکتر محمدرضا یزدچی</a:t>
            </a:r>
            <a:endParaRPr lang="en-US" sz="1600" dirty="0"/>
          </a:p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کارشناسان آزمایشگاه، برای اندازه‌گیری دستی ۶۴ هاله</a:t>
            </a:r>
            <a:endParaRPr lang="en-US" sz="1600" dirty="0"/>
          </a:p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هیئت داوران، برای وقتی که گذاشتند</a:t>
            </a:r>
            <a:endParaRPr lang="en-US" sz="1600" dirty="0"/>
          </a:p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خانواده‌ام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سپاسگزاری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۱۶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8C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23120" y="-1645920"/>
            <a:ext cx="4114800" cy="411480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3" name="Shape 1"/>
          <p:cNvSpPr/>
          <p:nvPr/>
        </p:nvSpPr>
        <p:spPr>
          <a:xfrm>
            <a:off x="-1706880" y="4389120"/>
            <a:ext cx="3657600" cy="365760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008" y="22860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سپاس از توجه شما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6008" y="3337560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و پاسخ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6008" y="585216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3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مهیار حدادها  •  ۴۰۱۲۰۱۳۰۵۳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نتایج: یافتن ظرف و یافتن دیسک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68324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68324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یافتن ظرف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9724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در هر ۱۱ عکس ظرف درست پیدا شد. این عدد را باید با احتیاط خواند، چون هر ۱۱ عکس از یک آزمایشگاه‌اند.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0" name="Shape 8"/>
          <p:cNvSpPr/>
          <p:nvPr/>
        </p:nvSpPr>
        <p:spPr>
          <a:xfrm>
            <a:off x="684276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427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یافتن دیسک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5676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روی ۹۳ دیسک مرجع، امتیاز اف۱ برابر ۰٫۹۸۹ با صحت کامل ۱٫۰۰۰ و بازخوانی ۰٫۹۷۸ به دست آمد.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5" name="Shape 13"/>
          <p:cNvSpPr/>
          <p:nvPr/>
        </p:nvSpPr>
        <p:spPr>
          <a:xfrm>
            <a:off x="300228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0228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1628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تشخیص وجود هاله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628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روی ۹۱ دیسک تطبیق‌یافته دقت ۰٫۸۲۴ است. سامانه هاله واقعی را کم از دست می‌دهد ولی گاهی هاله‌ای می‌بیند که نیست.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نتایج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سقف قابل اثبات: انسان در برابر انسان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3128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solidFill>
            <a:srgbClr val="716E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کارشناس با کارشناس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9704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۱٫۳۶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توافق دسته‌ای: ۹۵٫۱٪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بسیار عمده: ۲٫۰۷٪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نکته: حتی دو کارشناس انسانی هم سقف ۱٫۵ درصدی خطای بسیار عمده را برآورده نمی‌کنند.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916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7F5F1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solidFill>
            <a:srgbClr val="8C15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سامانه با کارشناس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6492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۳٫۸۵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توافق دسته‌ای: ۸۳٫۲٪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بسیار عمده: ۶٫۱۹٪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نتیجه: سقف واقعی در برابر چنین مرجعی حدود ۹۲ تا ۹۶ درصد است، پس فاصله سامانه ده واحد است و نه هجده واحد.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سقف قابل اثبات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۱۱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مرحله سوم: سه روش موازی برای مرز هاله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911840" y="1645920"/>
            <a:ext cx="457200" cy="45720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9724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پروفایل شعاعی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روشنایی را روی شعاع‌های گوناگون دنبال می‌کند. بیشترین پوشش را دارد، ۵۷ هاله از ۶۳ هاله واقعی، و کم‌دقت‌ترین است، با خطای ۵٫۴۹ میلی‌متر.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9" name="Shape 7"/>
          <p:cNvSpPr/>
          <p:nvPr/>
        </p:nvSpPr>
        <p:spPr>
          <a:xfrm>
            <a:off x="7071360" y="1645920"/>
            <a:ext cx="457200" cy="457200"/>
          </a:xfrm>
          <a:prstGeom prst="ellipse">
            <a:avLst/>
          </a:prstGeom>
          <a:solidFill>
            <a:srgbClr val="007C9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676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007C92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آستانه‌گذاری ناحیه‌ای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ناحیه بدون رشد را یکجا جدا می‌کند. روی ۲۶ دیسک فعال می‌شود و خطایش ۳٫۶۶ میلی‌متر است.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3" name="Shape 11"/>
          <p:cNvSpPr/>
          <p:nvPr/>
        </p:nvSpPr>
        <p:spPr>
          <a:xfrm>
            <a:off x="3230880" y="1645920"/>
            <a:ext cx="457200" cy="45720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28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62005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رشد کنترل‌شده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1628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لبه دیسک به بیرون رشد می‌کند تا به مرز برسد. کم‌پوشش‌ترین است، ۱۱ دیسک، و دقیق‌ترین، با خطای ۱٫۰۸ میلی‌متر.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روش پیشنهادی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۷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IRTitr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IRNazanin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2026-09-06T06:46:28Z</dcterms:created>
  <dcterms:modified xsi:type="dcterms:W3CDTF">2026-09-06T06:46:28Z</dcterms:modified>
</cp:coreProperties>
</file>