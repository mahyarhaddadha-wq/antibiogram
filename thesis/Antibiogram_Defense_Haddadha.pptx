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24"/>
    <p:sldId id="259" r:id="rId4"/>
    <p:sldId id="260" r:id="rId25"/>
    <p:sldId id="261" r:id="rId5"/>
    <p:sldId id="262" r:id="rId6"/>
    <p:sldId id="263" r:id="rId26"/>
    <p:sldId id="264" r:id="rId7"/>
    <p:sldId id="265" r:id="rId23"/>
    <p:sldId id="266" r:id="rId27"/>
    <p:sldId id="267" r:id="rId21"/>
    <p:sldId id="268" r:id="rId9"/>
    <p:sldId id="269" r:id="rId28"/>
    <p:sldId id="270" r:id="rId8"/>
    <p:sldId id="271" r:id="rId22"/>
    <p:sldId id="272" r:id="rId29"/>
    <p:sldId id="273" r:id="rId10"/>
    <p:sldId id="274" r:id="rId30"/>
    <p:sldId id="275" r:id="rId11"/>
    <p:sldId id="276" r:id="rId12"/>
    <p:sldId id="277" r:id="rId13"/>
    <p:sldId id="278" r:id="rId14"/>
    <p:sldId id="27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D29"/>
                </a:solidFill>
                <a:latin typeface="Cambria"/>
                <a:cs typeface="IRNazanin"/>
              </a:defRPr>
            </a:pPr>
            <a:r>
              <a:rPr sz="1400" b="0" i="0" u="none" strike="noStrike">
                <a:solidFill>
                  <a:srgbClr val="2E2D29"/>
                </a:solidFill>
                <a:latin typeface="Cambria"/>
                <a:cs typeface="IRNazanin"/>
              </a:rPr>
              <a:t>توافق دسته‌ای در برابر خطای متوسط اندازه‌گیری (میلی‌متر)</a:t>
            </a:r>
          </a:p>
        </c:rich>
      </c:tx>
      <c:layout/>
      <c:overlay val="0"/>
    </c:title>
    <c:autoTitleDeleted val="0"/>
    <c:plotArea>
      <c:layout/>
      <c:barChart>
        <c:barDir val="col"/>
        <c:grouping val="clustered"/>
        <c:varyColors val="0"/>
        <c:ser>
          <c:idx val="0"/>
          <c:order val="0"/>
          <c:tx>
            <c:strRef>
              <c:f>Sheet1!$B$1</c:f>
              <c:strCache>
                <c:ptCount val="1"/>
                <c:pt idx="0">
                  <c:v>توافق دسته‌ای (درصد)</c:v>
                </c:pt>
              </c:strCache>
            </c:strRef>
          </c:tx>
          <c:spPr>
            <a:solidFill>
              <a:srgbClr val="8C1515"/>
            </a:solidFill>
            <a:effectLst/>
          </c:spPr>
          <c:invertIfNegative val="0"/>
          <c:dLbls>
            <c:numFmt formatCode="0.0" sourceLinked="0"/>
            <c:txPr>
              <a:bodyPr/>
              <a:lstStyle/>
              <a:p>
                <a:pPr>
                  <a:defRPr b="0" i="0" strike="noStrike" sz="1100" u="none">
                    <a:solidFill>
                      <a:srgbClr val="2E2D29"/>
                    </a:solidFill>
                    <a:latin typeface="Arial"/>
                    <a:cs typeface="IRNazanin"/>
                  </a:defRPr>
                </a:pPr>
              </a:p>
            </c:txPr>
            <c:showLegendKey val="0"/>
            <c:showVal val="1"/>
            <c:showCatName val="0"/>
            <c:showSerName val="0"/>
            <c:showPercent val="0"/>
            <c:showBubbleSize val="0"/>
            <c:showLeaderLines val="0"/>
          </c:dLbls>
          <c:cat>
            <c:multiLvlStrRef>
              <c:f>Sheet1!$A$2:$A$6</c:f>
              <c:multiLvlStrCache>
                <c:ptCount val="5"/>
                <c:lvl>
                  <c:pt idx="0">
                    <c:v>0.96</c:v>
                  </c:pt>
                  <c:pt idx="1">
                    <c:v>1.35</c:v>
                  </c:pt>
                  <c:pt idx="2">
                    <c:v>1.93</c:v>
                  </c:pt>
                  <c:pt idx="3">
                    <c:v>2.89</c:v>
                  </c:pt>
                  <c:pt idx="4">
                    <c:v>3.85</c:v>
                  </c:pt>
                </c:lvl>
              </c:multiLvlStrCache>
            </c:multiLvlStrRef>
          </c:cat>
          <c:val>
            <c:numRef>
              <c:f>Sheet1!$B$2:$B$6</c:f>
              <c:numCache>
                <c:formatCode>General</c:formatCode>
                <c:ptCount val="5"/>
                <c:pt idx="0">
                  <c:v>96.1</c:v>
                </c:pt>
                <c:pt idx="1">
                  <c:v>94.2</c:v>
                </c:pt>
                <c:pt idx="2">
                  <c:v>91.5</c:v>
                </c:pt>
                <c:pt idx="3">
                  <c:v>86.8</c:v>
                </c:pt>
                <c:pt idx="4">
                  <c:v>83.2</c:v>
                </c:pt>
              </c:numCache>
            </c:numRef>
          </c:val>
        </c:ser>
        <c:dLbls>
          <c:numFmt formatCode="0.0" sourceLinked="0"/>
          <c:txPr>
            <a:bodyPr/>
            <a:lstStyle/>
            <a:p>
              <a:pPr>
                <a:defRPr b="0" i="0" strike="noStrike" sz="1100" u="none">
                  <a:solidFill>
                    <a:srgbClr val="2E2D29"/>
                  </a:solidFill>
                  <a:latin typeface="Arial"/>
                  <a:cs typeface="IRNazanin"/>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16E69"/>
                </a:solidFill>
                <a:latin typeface="Arial"/>
                <a:cs typeface="IRNazanin"/>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12700" cap="flat">
              <a:solidFill>
                <a:srgbClr val="E8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16E69"/>
                </a:solidFill>
                <a:latin typeface="Arial"/>
                <a:cs typeface="IRNazani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«۲۰ ثانیه» سلام و خوش‌آمد. عنوان، رشته و نام استاد راهنما را شمرده بگویید. عجله نکنید.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«۴۰ ثانیه» هفت سرفصل را بخوانید و بگویید ارائه بیست دقیقه است و پرسش‌ها در پایان. توضیح ندهید.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«۲ دقیقه» با تصویر ذهنی شروع کنید: کارشناس، خط‌کش، ظرف پتری. بعد بگویید همین قطر داروی بیمار را تعیین می‌کند. عدد ۱٫۲۷ میلیون را آرام بگویید و مکث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سه پرسش را بخوانید و تاکید کنید پرسش سوم مهم‌ترین است و پاسخش صادقانه داده خواهد شد، چه مثبت چه منفی.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صریح بگویید دسته یادگیری عمیق دقیق‌تر از این سامانه است. پنهان کردنش اولین پرسش داور می‌شود. بعد بگویید سهم این کار چیز دیگری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«۲ دقیقه» چهار مرحله را هر کدام در سی ثانیه. روی مرحله دوم تاکید کنید: قطر شش میلی‌متری دیسک تنها مرجع مطلق در کل تصویر است. در پایان بگویید هیچ پارامتری بر حسب پیکسل مطلق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«۲ دقیقه» صادق‌ترین بخش ارائه. اول بگویید طبقه‌بندی به قطر و گونه و نام دارو نیاز دارد و مرجع فقط قطر را داشت، پس پرسش را عوض کردیم. سه عدد را بگویید و بعد صریح: سامانه به آستانه پذیرش بالینی نمی‌رسد. مکث. بعد به نمودار بروید: هدف مهندسی خطای حدود یک میلی‌متر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و ۳۰ ثانیه» دو ستون را مقایسه کنید. نکته اصلی: ترکیب روی هر سه معیار بهتر یا برابر است، و خطا سی درصد کم شد. اضافه کنید که سوگیری تقریباً صفر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«۲ دقیقه و ۳۰ ثانیه» مهم‌ترین اسلاید. آرام بگویید. اول الگوی تکرارشونده، بعد عدد سه دهم، بعد دو کنترل تا نشان دهید عدد مصنوع روش نیست، بعد دو راه استانداردی که رد شد. در پایان جمله کادر را کلمه به کلمه بخوانید.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بدون دفاع و بدون عذرخواهی. لحن خونسرد. این بخش اعتماد داور را می‌سازد.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سه دستاورد را بشمارید. روی سومی تاکید کنید، چون همان چیزی است که چکیده هم بر آن ایستاده. جمله جمع‌بندی پایین را کلمه به کلمه بخوانید.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تاکید کنید پیشنهاد کوتاه‌مدت از پیش سنجیده شده و عدد دارد. چهار شرط تصویربرداری را بگویید و اضافه کنید هیچ‌کدام تجهیزات گران نمی‌خواهند.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«۲۰ ثانیه» کوتاه و صمیمانه. اسم‌ها را درست تلفظ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تا پایان جلسه روی پرده می‌ماند. پرسش‌های محتمل و شماره اسلاید پاسخشان: چرا بدون یادگیری ماشین (۷ و ۱۸)؛ چرا فقط یازده عکس (۲۰)؛ چرا خطای بسیار عمده بالاست (۱۵ و ۱۶)؛ چرا مقیاس از قطر دیسک (۹ و ۲۲)؛ اگر مدل سیگموئید بهتر است چرا در نتایج نیست (۲۲).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خبر خوب است، سریع بگویید. جمله احتیاط درباره یک آزمایشگاه بودن را حتماً بگویید؛ داور آن را می‌پرسد و بهتر است خودتان گفته باشید.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و ۳۰ ثانیه» این اسلاید تفسیر اسلاید قبل را عوض می‌کند. بگویید حتی دو کارشناس انسانی هم سقف یک و نیم درصد را برآورده نمی‌کنند، پس سقف واقعی صد درصد نیست. در پایان صادقانه اضافه کنید که با کسر نویز مرجع خطا فقط به ۳٫۷ می‌رسد؛ این نویز بهانه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«۱ دقیقه و ۳۰ ثانیه» سه عدد پوشش و سه عدد خطا را کنار هم بگذارید. پیام یک جمله است: هیچ روشی هم پوشش خوب دارد و هم دقت خوب؛ ترکیب برای همین ساخته 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فقط عنوان بخش را بگویید و رد شوید. این اسلاید برای مخاطب است، نه برای شما.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رد شوید.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رد شوید.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رد شوید.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رد شوید.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رد شوید.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fa-IR" dirty="0">
                <a:cs typeface="B Nazanin"/>
              </a:rPr>
              <a:t>«۵ ثانیه» رد شوید.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C1515"/>
        </a:solidFill>
      </p:bgPr>
    </p:bg>
    <p:spTree>
      <p:nvGrpSpPr>
        <p:cNvPr id="1" name=""/>
        <p:cNvGrpSpPr/>
        <p:nvPr/>
      </p:nvGrpSpPr>
      <p:grpSpPr>
        <a:xfrm>
          <a:off x="0" y="0"/>
          <a:ext cx="0" cy="0"/>
          <a:chOff x="0" y="0"/>
          <a:chExt cx="0" cy="0"/>
        </a:xfrm>
      </p:grpSpPr>
      <p:sp>
        <p:nvSpPr>
          <p:cNvPr id="2" name="Shape 0"/>
          <p:cNvSpPr/>
          <p:nvPr/>
        </p:nvSpPr>
        <p:spPr>
          <a:xfrm>
            <a:off x="-1615440" y="-1188720"/>
            <a:ext cx="3840480" cy="3840480"/>
          </a:xfrm>
          <a:prstGeom prst="ellipse">
            <a:avLst/>
          </a:prstGeom>
          <a:solidFill>
            <a:srgbClr val="6E1010"/>
          </a:solidFill>
          <a:ln/>
        </p:spPr>
      </p:sp>
      <p:sp>
        <p:nvSpPr>
          <p:cNvPr id="3" name="Shape 1"/>
          <p:cNvSpPr/>
          <p:nvPr/>
        </p:nvSpPr>
        <p:spPr>
          <a:xfrm>
            <a:off x="10363200" y="5120640"/>
            <a:ext cx="3291840" cy="3291840"/>
          </a:xfrm>
          <a:prstGeom prst="ellipse">
            <a:avLst/>
          </a:prstGeom>
          <a:solidFill>
            <a:srgbClr val="6E1010"/>
          </a:solidFill>
          <a:ln/>
        </p:spPr>
      </p:sp>
      <p:sp>
        <p:nvSpPr>
          <p:cNvPr id="4" name="Shape 2"/>
          <p:cNvSpPr/>
          <p:nvPr/>
        </p:nvSpPr>
        <p:spPr>
          <a:xfrm>
            <a:off x="1173480" y="502920"/>
            <a:ext cx="320040" cy="320040"/>
          </a:xfrm>
          <a:prstGeom prst="ellipse">
            <a:avLst/>
          </a:prstGeom>
          <a:solidFill>
            <a:srgbClr val="E98300"/>
          </a:solidFill>
          <a:ln/>
        </p:spPr>
      </p:sp>
      <p:sp>
        <p:nvSpPr>
          <p:cNvPr id="5" name="Text 3"/>
          <p:cNvSpPr txBox="1"/>
          <p:nvPr/>
        </p:nvSpPr>
        <p:spPr>
          <a:xfrm>
            <a:off x="1767840" y="1417320"/>
            <a:ext cx="9601200" cy="365760"/>
          </a:xfrm>
          <a:prstGeom prst="rect">
            <a:avLst/>
          </a:prstGeom>
          <a:noFill/>
          <a:ln/>
        </p:spPr>
        <p:txBody>
          <a:bodyPr wrap="square" rtlCol="0" anchor="ctr"/>
          <a:lstStyle/>
          <a:p>
            <a:pPr indent="0" marL="0" rtl="1" algn="r">
              <a:buNone/>
            </a:pPr>
            <a:r>
              <a:rPr lang="en-US" sz="1300" b="1" spc="300" kern="0" dirty="0">
                <a:solidFill>
                  <a:srgbClr val="E98300"/>
                </a:solidFill>
                <a:latin typeface="Calibri" pitchFamily="34" charset="0"/>
                <a:ea typeface="Calibri" pitchFamily="34" charset="-122"/>
                <a:cs typeface="B Nazanin" pitchFamily="34" charset="-120"/>
              </a:rPr>
              <a:t>دفاع از پروژه‌ی کارشناسی</a:t>
            </a:r>
            <a:endParaRPr lang="en-US" sz="1300" dirty="0"/>
          </a:p>
        </p:txBody>
      </p:sp>
      <p:sp>
        <p:nvSpPr>
          <p:cNvPr id="6" name="Text 4"/>
          <p:cNvSpPr txBox="1"/>
          <p:nvPr/>
        </p:nvSpPr>
        <p:spPr>
          <a:xfrm>
            <a:off x="1676400" y="1874520"/>
            <a:ext cx="9692640" cy="1554480"/>
          </a:xfrm>
          <a:prstGeom prst="rect">
            <a:avLst/>
          </a:prstGeom>
          <a:noFill/>
          <a:ln/>
        </p:spPr>
        <p:txBody>
          <a:bodyPr wrap="square" rtlCol="0" anchor="t"/>
          <a:lstStyle/>
          <a:p>
            <a:pPr indent="0" marL="0" rtl="1" algn="r">
              <a:lnSpc>
                <a:spcPts val="4600"/>
              </a:lnSpc>
              <a:buNone/>
            </a:pPr>
            <a:r>
              <a:rPr lang="en-US" sz="2800" b="1" dirty="0">
                <a:solidFill>
                  <a:srgbClr val="FFFFFF"/>
                </a:solidFill>
                <a:latin typeface="Cambria" pitchFamily="34" charset="0"/>
                <a:ea typeface="Cambria" pitchFamily="34" charset="-122"/>
                <a:cs typeface="B Titr" pitchFamily="34" charset="-120"/>
              </a:rPr>
              <a:t>طراحی و پیاده‌سازی سامانه هوشمند تحلیل خودکار آزمون آنتی‌بیوگرام</a:t>
            </a:r>
            <a:endParaRPr lang="en-US" sz="2800" dirty="0"/>
          </a:p>
          <a:p>
            <a:pPr indent="0" marL="0" rtl="1" algn="r">
              <a:lnSpc>
                <a:spcPts val="4600"/>
              </a:lnSpc>
              <a:buNone/>
            </a:pPr>
            <a:r>
              <a:rPr lang="en-US" sz="1600" b="1" dirty="0">
                <a:solidFill>
                  <a:srgbClr val="FFFFFF"/>
                </a:solidFill>
                <a:latin typeface="Cambria" pitchFamily="34" charset="0"/>
                <a:ea typeface="Cambria" pitchFamily="34" charset="-122"/>
                <a:cs typeface="B Titr" pitchFamily="34" charset="-120"/>
              </a:rPr>
              <a:t>مبتنی بر پردازش تصویر مطابق استاندارد EUCAST</a:t>
            </a:r>
            <a:endParaRPr lang="en-US" sz="1600" dirty="0"/>
          </a:p>
        </p:txBody>
      </p:sp>
      <p:sp>
        <p:nvSpPr>
          <p:cNvPr id="7" name="Shape 5"/>
          <p:cNvSpPr/>
          <p:nvPr/>
        </p:nvSpPr>
        <p:spPr>
          <a:xfrm>
            <a:off x="8945880" y="3703320"/>
            <a:ext cx="2377440" cy="0"/>
          </a:xfrm>
          <a:prstGeom prst="line">
            <a:avLst/>
          </a:prstGeom>
          <a:noFill/>
          <a:ln w="31750">
            <a:solidFill>
              <a:srgbClr val="E98300"/>
            </a:solidFill>
            <a:prstDash val="solid"/>
          </a:ln>
        </p:spPr>
      </p:sp>
      <p:sp>
        <p:nvSpPr>
          <p:cNvPr id="8" name="Text 6"/>
          <p:cNvSpPr txBox="1"/>
          <p:nvPr/>
        </p:nvSpPr>
        <p:spPr>
          <a:xfrm>
            <a:off x="3550920" y="3931920"/>
            <a:ext cx="7772400" cy="1645920"/>
          </a:xfrm>
          <a:prstGeom prst="rect">
            <a:avLst/>
          </a:prstGeom>
          <a:noFill/>
          <a:ln/>
        </p:spPr>
        <p:txBody>
          <a:bodyPr wrap="square" rtlCol="0" anchor="ctr"/>
          <a:lstStyle/>
          <a:p>
            <a:pPr indent="0" marL="0" rtl="1" algn="r">
              <a:lnSpc>
                <a:spcPts val="2600"/>
              </a:lnSpc>
              <a:buNone/>
            </a:pPr>
            <a:r>
              <a:rPr lang="en-US" sz="1600" dirty="0">
                <a:solidFill>
                  <a:srgbClr val="F7F5F1"/>
                </a:solidFill>
                <a:latin typeface="Calibri" pitchFamily="34" charset="0"/>
                <a:ea typeface="Calibri" pitchFamily="34" charset="-122"/>
                <a:cs typeface="B Nazanin" pitchFamily="34" charset="-120"/>
              </a:rPr>
              <a:t>ارائه‌دهنده: مهیار حدادها</a:t>
            </a:r>
            <a:endParaRPr lang="en-US" sz="1600" dirty="0"/>
          </a:p>
          <a:p>
            <a:pPr indent="0" marL="0" rtl="1" algn="r">
              <a:lnSpc>
                <a:spcPts val="2600"/>
              </a:lnSpc>
              <a:buNone/>
            </a:pPr>
            <a:r>
              <a:rPr lang="en-US" sz="1600" dirty="0">
                <a:solidFill>
                  <a:srgbClr val="F7F5F1"/>
                </a:solidFill>
                <a:latin typeface="Calibri" pitchFamily="34" charset="0"/>
                <a:ea typeface="Calibri" pitchFamily="34" charset="-122"/>
                <a:cs typeface="B Nazanin" pitchFamily="34" charset="-120"/>
              </a:rPr>
              <a:t>کارشناسی مهندسی پزشکی — دانشکده فنی و مهندسی</a:t>
            </a:r>
            <a:endParaRPr lang="en-US" sz="1600" dirty="0"/>
          </a:p>
          <a:p>
            <a:pPr indent="0" marL="0" rtl="1" algn="r">
              <a:lnSpc>
                <a:spcPts val="2600"/>
              </a:lnSpc>
              <a:buNone/>
            </a:pPr>
            <a:r>
              <a:rPr lang="en-US" sz="1600" dirty="0">
                <a:solidFill>
                  <a:srgbClr val="F7F5F1"/>
                </a:solidFill>
                <a:latin typeface="Calibri" pitchFamily="34" charset="0"/>
                <a:ea typeface="Calibri" pitchFamily="34" charset="-122"/>
                <a:cs typeface="B Nazanin" pitchFamily="34" charset="-120"/>
              </a:rPr>
              <a:t>استاد راهنما: دکتر محمدرضا یزدچی</a:t>
            </a:r>
            <a:endParaRPr lang="en-US" sz="1600" dirty="0"/>
          </a:p>
          <a:p>
            <a:pPr indent="0" marL="0" rtl="1" algn="r">
              <a:lnSpc>
                <a:spcPts val="2600"/>
              </a:lnSpc>
              <a:buNone/>
            </a:pPr>
            <a:r>
              <a:rPr lang="en-US" sz="1600" dirty="0">
                <a:solidFill>
                  <a:srgbClr val="F7F5F1"/>
                </a:solidFill>
                <a:latin typeface="Calibri" pitchFamily="34" charset="0"/>
                <a:ea typeface="Calibri" pitchFamily="34" charset="-122"/>
                <a:cs typeface="B Nazanin" pitchFamily="34" charset="-120"/>
              </a:rPr>
              <a:t>دانشگاه اصفهان  •  شهریور ۱۴۰۵</a:t>
            </a:r>
            <a:endParaRPr lang="en-US" sz="1600" dirty="0"/>
          </a:p>
        </p:txBody>
      </p:sp>
      <p:sp>
        <p:nvSpPr>
          <p:cNvPr id="9" name="Shape 7"/>
          <p:cNvSpPr/>
          <p:nvPr/>
        </p:nvSpPr>
        <p:spPr>
          <a:xfrm>
            <a:off x="579120" y="5806440"/>
            <a:ext cx="1920240" cy="685800"/>
          </a:xfrm>
          <a:prstGeom prst="roundRect">
            <a:avLst>
              <a:gd name="adj" fmla="val 8000"/>
            </a:avLst>
          </a:prstGeom>
          <a:solidFill>
            <a:srgbClr val="6E1010"/>
          </a:solidFill>
          <a:ln w="12700">
            <a:solidFill>
              <a:srgbClr val="E98300"/>
            </a:solidFill>
            <a:prstDash val="solid"/>
          </a:ln>
        </p:spPr>
      </p:sp>
      <p:sp>
        <p:nvSpPr>
          <p:cNvPr id="10" name="Text 8"/>
          <p:cNvSpPr txBox="1"/>
          <p:nvPr/>
        </p:nvSpPr>
        <p:spPr>
          <a:xfrm>
            <a:off x="579120" y="5806440"/>
            <a:ext cx="1920240" cy="685800"/>
          </a:xfrm>
          <a:prstGeom prst="rect">
            <a:avLst/>
          </a:prstGeom>
          <a:noFill/>
          <a:ln/>
        </p:spPr>
        <p:txBody>
          <a:bodyPr wrap="square" rtlCol="0" anchor="ctr"/>
          <a:lstStyle/>
          <a:p>
            <a:pPr algn="ctr" indent="0" marL="0" rtl="1">
              <a:buNone/>
            </a:pPr>
            <a:r>
              <a:rPr lang="en-US" sz="900" dirty="0">
                <a:solidFill>
                  <a:srgbClr val="F7F5F1"/>
                </a:solidFill>
                <a:latin typeface="Calibri" pitchFamily="34" charset="0"/>
                <a:ea typeface="Calibri" pitchFamily="34" charset="-122"/>
                <a:cs typeface="B Nazanin" pitchFamily="34" charset="-120"/>
              </a:rPr>
              <a:t>دانشگاه</a:t>
            </a:r>
            <a:endParaRPr lang="en-US" sz="900" dirty="0"/>
          </a:p>
          <a:p>
            <a:pPr algn="ctr" indent="0" marL="0" rtl="1">
              <a:buNone/>
            </a:pPr>
            <a:r>
              <a:rPr lang="en-US" sz="900" dirty="0">
                <a:solidFill>
                  <a:srgbClr val="F7F5F1"/>
                </a:solidFill>
                <a:latin typeface="Calibri" pitchFamily="34" charset="0"/>
                <a:ea typeface="Calibri" pitchFamily="34" charset="-122"/>
                <a:cs typeface="B Nazanin" pitchFamily="34" charset="-120"/>
              </a:rPr>
              <a:t>اصفهان</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فهرست ارائه</a:t>
            </a:r>
            <a:endParaRPr lang="en-US" sz="3000" dirty="0"/>
          </a:p>
        </p:txBody>
      </p:sp>
      <p:sp>
        <p:nvSpPr>
          <p:cNvPr id="4" name="Shape 2"/>
          <p:cNvSpPr/>
          <p:nvPr/>
        </p:nvSpPr>
        <p:spPr>
          <a:xfrm>
            <a:off x="11140440" y="1234440"/>
            <a:ext cx="502920" cy="502920"/>
          </a:xfrm>
          <a:prstGeom prst="ellipse">
            <a:avLst/>
          </a:prstGeom>
          <a:solidFill>
            <a:srgbClr val="8C1515"/>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چرا خودکار کردن این اندازه‌گیری ارزش دارد — ۲ دقیقه</a:t>
            </a:r>
            <a:endParaRPr lang="en-US" sz="1200" dirty="0"/>
          </a:p>
        </p:txBody>
      </p:sp>
      <p:sp>
        <p:nvSpPr>
          <p:cNvPr id="8" name="Shape 6"/>
          <p:cNvSpPr/>
          <p:nvPr/>
        </p:nvSpPr>
        <p:spPr>
          <a:xfrm>
            <a:off x="11140440" y="2404872"/>
            <a:ext cx="502920" cy="502920"/>
          </a:xfrm>
          <a:prstGeom prst="ellipse">
            <a:avLst/>
          </a:prstGeom>
          <a:solidFill>
            <a:srgbClr val="E98300"/>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این پژوهش دنبال چیست — ۲ دقیقه</a:t>
            </a:r>
            <a:endParaRPr lang="en-US" sz="1200" dirty="0"/>
          </a:p>
        </p:txBody>
      </p:sp>
      <p:sp>
        <p:nvSpPr>
          <p:cNvPr id="12" name="Shape 10"/>
          <p:cNvSpPr/>
          <p:nvPr/>
        </p:nvSpPr>
        <p:spPr>
          <a:xfrm>
            <a:off x="11140440" y="3575304"/>
            <a:ext cx="502920" cy="502920"/>
          </a:xfrm>
          <a:prstGeom prst="ellipse">
            <a:avLst/>
          </a:prstGeom>
          <a:solidFill>
            <a:srgbClr val="8C1515"/>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سامانه چگونه کار می‌کند — ۳ دقیقه و ۳۰ ثانیه</a:t>
            </a:r>
            <a:endParaRPr lang="en-US" sz="1200" dirty="0"/>
          </a:p>
        </p:txBody>
      </p:sp>
      <p:sp>
        <p:nvSpPr>
          <p:cNvPr id="16" name="Shape 14"/>
          <p:cNvSpPr/>
          <p:nvPr/>
        </p:nvSpPr>
        <p:spPr>
          <a:xfrm>
            <a:off x="11140440" y="4745736"/>
            <a:ext cx="502920" cy="502920"/>
          </a:xfrm>
          <a:prstGeom prst="ellipse">
            <a:avLst/>
          </a:prstGeom>
          <a:solidFill>
            <a:srgbClr val="E98300"/>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چقدر دقیق است — ۲ دقیقه و ۳۰ ثانیه</a:t>
            </a:r>
            <a:endParaRPr lang="en-US" sz="1200" dirty="0"/>
          </a:p>
        </p:txBody>
      </p:sp>
      <p:sp>
        <p:nvSpPr>
          <p:cNvPr id="20" name="Shape 18"/>
          <p:cNvSpPr/>
          <p:nvPr/>
        </p:nvSpPr>
        <p:spPr>
          <a:xfrm>
            <a:off x="5516880" y="1234440"/>
            <a:ext cx="502920" cy="502920"/>
          </a:xfrm>
          <a:prstGeom prst="ellipse">
            <a:avLst/>
          </a:prstGeom>
          <a:solidFill>
            <a:srgbClr val="8C1515"/>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این دقت یعنی چه — ۳ دقیقه و ۳۰ ثانیه</a:t>
            </a:r>
            <a:endParaRPr lang="en-US" sz="1200" dirty="0"/>
          </a:p>
        </p:txBody>
      </p:sp>
      <p:sp>
        <p:nvSpPr>
          <p:cNvPr id="24" name="Shape 22"/>
          <p:cNvSpPr/>
          <p:nvPr/>
        </p:nvSpPr>
        <p:spPr>
          <a:xfrm>
            <a:off x="5516880" y="2404872"/>
            <a:ext cx="502920" cy="502920"/>
          </a:xfrm>
          <a:prstGeom prst="ellipse">
            <a:avLst/>
          </a:prstGeom>
          <a:solidFill>
            <a:srgbClr val="E98300"/>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چرا خطا همان‌جاست — ۲ دقیقه و ۳۰ ثانیه</a:t>
            </a:r>
            <a:endParaRPr lang="en-US" sz="1200" dirty="0"/>
          </a:p>
        </p:txBody>
      </p:sp>
      <p:sp>
        <p:nvSpPr>
          <p:cNvPr id="28" name="Shape 26"/>
          <p:cNvSpPr/>
          <p:nvPr/>
        </p:nvSpPr>
        <p:spPr>
          <a:xfrm>
            <a:off x="5516880" y="3575304"/>
            <a:ext cx="502920" cy="502920"/>
          </a:xfrm>
          <a:prstGeom prst="ellipse">
            <a:avLst/>
          </a:prstGeom>
          <a:solidFill>
            <a:srgbClr val="8C1515"/>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دستاوردها و قدم بعد — ۳ دقیقه</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فهرست ارائه</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۲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11176000" y="6803000"/>
            <a:ext cx="1016000" cy="55000"/>
          </a:xfrm>
          <a:prstGeom prst="rect">
            <a:avLst/>
          </a:prstGeom>
          <a:solidFill>
            <a:srgbClr val="8C1515"/>
          </a:solidFill>
          <a:ln>
            <a:noFill/>
          </a:ln>
        </p:spPr>
        <p:txBody>
          <a:bodyPr/>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مسئله و انگیزه</a:t>
            </a:r>
            <a:endParaRPr lang="en-US" sz="3000" dirty="0"/>
          </a:p>
        </p:txBody>
      </p:sp>
      <p:sp>
        <p:nvSpPr>
          <p:cNvPr id="4" name="Text 2"/>
          <p:cNvSpPr txBox="1"/>
          <p:nvPr/>
        </p:nvSpPr>
        <p:spPr>
          <a:xfrm>
            <a:off x="5151120" y="1371600"/>
            <a:ext cx="6492240" cy="4206240"/>
          </a:xfrm>
          <a:prstGeom prst="rect">
            <a:avLst/>
          </a:prstGeom>
          <a:noFill/>
          <a:ln/>
        </p:spPr>
        <p:txBody>
          <a:bodyPr wrap="square" rtlCol="0" anchor="ctr"/>
          <a:lstStyle/>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مسئله: قطر ناحیه بدون رشد با خط‌کش و به دست کارشناس اندازه گرفته می‌شود.</a:t>
            </a:r>
            <a:endParaRPr lang="en-US" sz="1600" dirty="0"/>
          </a:p>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چرا اهمیت دارد: همین قطر تعیین می‌کند بیمار کدام آنتی‌بیوتیک را بگیرد.</a:t>
            </a:r>
            <a:endParaRPr lang="en-US" sz="1600" dirty="0"/>
          </a:p>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اشکال روش کنونی: وقت‌گیر است، به تجربه فرد وابسته است، ثبت دیجیتال ندارد.</a:t>
            </a:r>
            <a:endParaRPr lang="en-US" sz="1600" dirty="0"/>
          </a:p>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این پژوهش: همین اندازه‌گیری را از روی یک عکس معمولی خودکار می‌کند.</a:t>
            </a:r>
            <a:endParaRPr lang="en-US" sz="1600" dirty="0"/>
          </a:p>
        </p:txBody>
      </p:sp>
      <p:sp>
        <p:nvSpPr>
          <p:cNvPr id="5" name="Shape 3"/>
          <p:cNvSpPr/>
          <p:nvPr/>
        </p:nvSpPr>
        <p:spPr>
          <a:xfrm>
            <a:off x="579120" y="1371600"/>
            <a:ext cx="4206240" cy="4206240"/>
          </a:xfrm>
          <a:prstGeom prst="roundRect">
            <a:avLst>
              <a:gd name="adj" fmla="val 1739"/>
            </a:avLst>
          </a:prstGeom>
          <a:solidFill>
            <a:srgbClr val="F7F5F1"/>
          </a:solidFill>
          <a:ln/>
        </p:spPr>
      </p:sp>
      <p:sp>
        <p:nvSpPr>
          <p:cNvPr id="6" name="Shape 4"/>
          <p:cNvSpPr/>
          <p:nvPr/>
        </p:nvSpPr>
        <p:spPr>
          <a:xfrm>
            <a:off x="2179320" y="1828800"/>
            <a:ext cx="1005840" cy="1005840"/>
          </a:xfrm>
          <a:prstGeom prst="ellipse">
            <a:avLst/>
          </a:prstGeom>
          <a:solidFill>
            <a:srgbClr val="8C1515"/>
          </a:solidFill>
          <a:ln/>
        </p:spPr>
      </p:sp>
      <p:sp>
        <p:nvSpPr>
          <p:cNvPr id="7" name="Text 5"/>
          <p:cNvSpPr txBox="1"/>
          <p:nvPr/>
        </p:nvSpPr>
        <p:spPr>
          <a:xfrm>
            <a:off x="2179320" y="1828800"/>
            <a:ext cx="1005840" cy="1005840"/>
          </a:xfrm>
          <a:prstGeom prst="rect">
            <a:avLst/>
          </a:prstGeom>
          <a:noFill/>
          <a:ln/>
        </p:spPr>
        <p:txBody>
          <a:bodyPr wrap="square" rtlCol="0" anchor="ctr"/>
          <a:lstStyle/>
          <a:p>
            <a:pPr algn="ctr" indent="0" marL="0" rtl="1">
              <a:buNone/>
            </a:pPr>
            <a:r>
              <a:rPr lang="en-US" sz="3600" b="1" dirty="0">
                <a:solidFill>
                  <a:srgbClr val="FFFFFF"/>
                </a:solidFill>
                <a:latin typeface="Cambria" pitchFamily="34" charset="0"/>
                <a:ea typeface="Cambria" pitchFamily="34" charset="-122"/>
                <a:cs typeface="B Titr" pitchFamily="34" charset="-120"/>
              </a:rPr>
              <a:t>!</a:t>
            </a:r>
            <a:endParaRPr lang="en-US" sz="3600" dirty="0"/>
          </a:p>
        </p:txBody>
      </p:sp>
      <p:sp>
        <p:nvSpPr>
          <p:cNvPr id="8" name="Text 6"/>
          <p:cNvSpPr txBox="1"/>
          <p:nvPr/>
        </p:nvSpPr>
        <p:spPr>
          <a:xfrm>
            <a:off x="853440" y="3017520"/>
            <a:ext cx="3657600" cy="365760"/>
          </a:xfrm>
          <a:prstGeom prst="rect">
            <a:avLst/>
          </a:prstGeom>
          <a:noFill/>
          <a:ln/>
        </p:spPr>
        <p:txBody>
          <a:bodyPr wrap="square" rtlCol="0" anchor="ctr"/>
          <a:lstStyle/>
          <a:p>
            <a:pPr algn="ctr" indent="0" marL="0" rtl="1">
              <a:buNone/>
            </a:pPr>
            <a:r>
              <a:rPr lang="en-US" sz="1800" b="1" dirty="0">
                <a:solidFill>
                  <a:srgbClr val="8C1515"/>
                </a:solidFill>
                <a:latin typeface="Cambria" pitchFamily="34" charset="0"/>
                <a:ea typeface="Cambria" pitchFamily="34" charset="-122"/>
                <a:cs typeface="B Titr" pitchFamily="34" charset="-120"/>
              </a:rPr>
              <a:t>۱٫۲۷ میلیون مرگ</a:t>
            </a:r>
            <a:endParaRPr lang="en-US" sz="1800" dirty="0"/>
          </a:p>
        </p:txBody>
      </p:sp>
      <p:sp>
        <p:nvSpPr>
          <p:cNvPr id="9" name="Text 7"/>
          <p:cNvSpPr txBox="1"/>
          <p:nvPr/>
        </p:nvSpPr>
        <p:spPr>
          <a:xfrm>
            <a:off x="853440" y="3429000"/>
            <a:ext cx="3657600" cy="1920240"/>
          </a:xfrm>
          <a:prstGeom prst="rect">
            <a:avLst/>
          </a:prstGeom>
          <a:noFill/>
          <a:ln/>
        </p:spPr>
        <p:txBody>
          <a:bodyPr wrap="square" rtlCol="0" anchor="ctr"/>
          <a:lstStyle/>
          <a:p>
            <a:pPr algn="ctr" indent="0" marL="0" rtl="1">
              <a:lnSpc>
                <a:spcPct val="130000"/>
              </a:lnSpc>
              <a:buNone/>
            </a:pPr>
            <a:r>
              <a:rPr lang="en-US" sz="1300" dirty="0">
                <a:solidFill>
                  <a:srgbClr val="716E69"/>
                </a:solidFill>
                <a:latin typeface="Calibri" pitchFamily="34" charset="0"/>
                <a:ea typeface="Calibri" pitchFamily="34" charset="-122"/>
                <a:cs typeface="B Nazanin" pitchFamily="34" charset="-120"/>
              </a:rPr>
              <a:t>نسبت‌داده‌شده به مقاومت آنتی‌بیوتیکی در سال ۲۰۱۹</a:t>
            </a:r>
            <a:endParaRPr lang="en-US" sz="1300" dirty="0"/>
          </a:p>
        </p:txBody>
      </p:sp>
      <p:sp>
        <p:nvSpPr>
          <p:cNvPr id="10" name="Text 8"/>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مسئله و انگیزه</a:t>
            </a:r>
            <a:endParaRPr lang="en-US" sz="900" dirty="0"/>
          </a:p>
        </p:txBody>
      </p:sp>
      <p:sp>
        <p:nvSpPr>
          <p:cNvPr id="11" name="Text 9"/>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۴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10160000" y="6803000"/>
            <a:ext cx="2032000" cy="55000"/>
          </a:xfrm>
          <a:prstGeom prst="rect">
            <a:avLst/>
          </a:prstGeom>
          <a:solidFill>
            <a:srgbClr val="8C1515"/>
          </a:solidFill>
          <a:ln>
            <a:noFill/>
          </a:ln>
        </p:spPr>
        <p:txBody>
          <a:bodyPr/>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هدف و پرسش‌های پژوهش</a:t>
            </a:r>
            <a:endParaRPr lang="en-US" sz="3000" dirty="0"/>
          </a:p>
        </p:txBody>
      </p:sp>
      <p:sp>
        <p:nvSpPr>
          <p:cNvPr id="4" name="Shape 2"/>
          <p:cNvSpPr/>
          <p:nvPr/>
        </p:nvSpPr>
        <p:spPr>
          <a:xfrm>
            <a:off x="8122920" y="1371600"/>
            <a:ext cx="3520440" cy="4206240"/>
          </a:xfrm>
          <a:prstGeom prst="roundRect">
            <a:avLst>
              <a:gd name="adj" fmla="val 2078"/>
            </a:avLst>
          </a:prstGeom>
          <a:solidFill>
            <a:srgbClr val="F7F5F1"/>
          </a:solidFill>
          <a:ln/>
        </p:spPr>
      </p:sp>
      <p:sp>
        <p:nvSpPr>
          <p:cNvPr id="5" name="Shape 3"/>
          <p:cNvSpPr/>
          <p:nvPr/>
        </p:nvSpPr>
        <p:spPr>
          <a:xfrm>
            <a:off x="10683240" y="1737360"/>
            <a:ext cx="640080" cy="640080"/>
          </a:xfrm>
          <a:prstGeom prst="ellipse">
            <a:avLst/>
          </a:prstGeom>
          <a:solidFill>
            <a:srgbClr val="8C1515"/>
          </a:solidFill>
          <a:ln/>
        </p:spPr>
      </p:sp>
      <p:sp>
        <p:nvSpPr>
          <p:cNvPr id="6" name="Text 4"/>
          <p:cNvSpPr txBox="1"/>
          <p:nvPr/>
        </p:nvSpPr>
        <p:spPr>
          <a:xfrm>
            <a:off x="10683240" y="173736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7" name="Text 5"/>
          <p:cNvSpPr txBox="1"/>
          <p:nvPr/>
        </p:nvSpPr>
        <p:spPr>
          <a:xfrm>
            <a:off x="8397240" y="2468880"/>
            <a:ext cx="2971800" cy="320040"/>
          </a:xfrm>
          <a:prstGeom prst="rect">
            <a:avLst/>
          </a:prstGeom>
          <a:noFill/>
          <a:ln/>
        </p:spPr>
        <p:txBody>
          <a:bodyPr wrap="square" rtlCol="0" anchor="ctr"/>
          <a:lstStyle/>
          <a:p>
            <a:pPr indent="0" marL="0" rtl="1" algn="r">
              <a:buNone/>
            </a:pPr>
            <a:r>
              <a:rPr lang="en-US" sz="1200" b="1" spc="200" kern="0" dirty="0">
                <a:solidFill>
                  <a:srgbClr val="E98300"/>
                </a:solidFill>
                <a:latin typeface="Calibri" pitchFamily="34" charset="0"/>
                <a:ea typeface="Calibri" pitchFamily="34" charset="-122"/>
                <a:cs typeface="B Nazanin" pitchFamily="34" charset="-120"/>
              </a:rPr>
              <a:t>پرسش یکم</a:t>
            </a:r>
            <a:endParaRPr lang="en-US" sz="1200" dirty="0"/>
          </a:p>
        </p:txBody>
      </p:sp>
      <p:sp>
        <p:nvSpPr>
          <p:cNvPr id="8" name="Text 6"/>
          <p:cNvSpPr txBox="1"/>
          <p:nvPr/>
        </p:nvSpPr>
        <p:spPr>
          <a:xfrm>
            <a:off x="8397240" y="2834640"/>
            <a:ext cx="2971800" cy="2468880"/>
          </a:xfrm>
          <a:prstGeom prst="rect">
            <a:avLst/>
          </a:prstGeom>
          <a:noFill/>
          <a:ln/>
        </p:spPr>
        <p:txBody>
          <a:bodyPr wrap="square" rtlCol="0" anchor="ctr"/>
          <a:lstStyle/>
          <a:p>
            <a:pPr indent="0" marL="0" rtl="1" algn="r">
              <a:lnSpc>
                <a:spcPct val="130000"/>
              </a:lnSpc>
              <a:buNone/>
            </a:pPr>
            <a:r>
              <a:rPr lang="en-US" sz="1400" dirty="0">
                <a:solidFill>
                  <a:srgbClr val="2E2D29"/>
                </a:solidFill>
                <a:latin typeface="Calibri" pitchFamily="34" charset="0"/>
                <a:ea typeface="Calibri" pitchFamily="34" charset="-122"/>
                <a:cs typeface="B Nazanin" pitchFamily="34" charset="-120"/>
              </a:rPr>
              <a:t>آیا می‌توان قطر هاله را از یک عکس معمولی و بدون تجهیزات ویژه اندازه گرفت؟</a:t>
            </a:r>
            <a:endParaRPr lang="en-US" sz="1400" dirty="0"/>
          </a:p>
        </p:txBody>
      </p:sp>
      <p:sp>
        <p:nvSpPr>
          <p:cNvPr id="9" name="Shape 7"/>
          <p:cNvSpPr/>
          <p:nvPr/>
        </p:nvSpPr>
        <p:spPr>
          <a:xfrm>
            <a:off x="4282440" y="1371600"/>
            <a:ext cx="3520440" cy="4206240"/>
          </a:xfrm>
          <a:prstGeom prst="roundRect">
            <a:avLst>
              <a:gd name="adj" fmla="val 2078"/>
            </a:avLst>
          </a:prstGeom>
          <a:solidFill>
            <a:srgbClr val="F7F5F1"/>
          </a:solidFill>
          <a:ln/>
        </p:spPr>
      </p:sp>
      <p:sp>
        <p:nvSpPr>
          <p:cNvPr id="10" name="Shape 8"/>
          <p:cNvSpPr/>
          <p:nvPr/>
        </p:nvSpPr>
        <p:spPr>
          <a:xfrm>
            <a:off x="6842760" y="1737360"/>
            <a:ext cx="640080" cy="640080"/>
          </a:xfrm>
          <a:prstGeom prst="ellipse">
            <a:avLst/>
          </a:prstGeom>
          <a:solidFill>
            <a:srgbClr val="8C1515"/>
          </a:solidFill>
          <a:ln/>
        </p:spPr>
      </p:sp>
      <p:sp>
        <p:nvSpPr>
          <p:cNvPr id="11" name="Text 9"/>
          <p:cNvSpPr txBox="1"/>
          <p:nvPr/>
        </p:nvSpPr>
        <p:spPr>
          <a:xfrm>
            <a:off x="6842760" y="173736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2" name="Text 10"/>
          <p:cNvSpPr txBox="1"/>
          <p:nvPr/>
        </p:nvSpPr>
        <p:spPr>
          <a:xfrm>
            <a:off x="4556760" y="2468880"/>
            <a:ext cx="2971800" cy="320040"/>
          </a:xfrm>
          <a:prstGeom prst="rect">
            <a:avLst/>
          </a:prstGeom>
          <a:noFill/>
          <a:ln/>
        </p:spPr>
        <p:txBody>
          <a:bodyPr wrap="square" rtlCol="0" anchor="ctr"/>
          <a:lstStyle/>
          <a:p>
            <a:pPr indent="0" marL="0" rtl="1" algn="r">
              <a:buNone/>
            </a:pPr>
            <a:r>
              <a:rPr lang="en-US" sz="1200" b="1" spc="200" kern="0" dirty="0">
                <a:solidFill>
                  <a:srgbClr val="E98300"/>
                </a:solidFill>
                <a:latin typeface="Calibri" pitchFamily="34" charset="0"/>
                <a:ea typeface="Calibri" pitchFamily="34" charset="-122"/>
                <a:cs typeface="B Nazanin" pitchFamily="34" charset="-120"/>
              </a:rPr>
              <a:t>پرسش دوم</a:t>
            </a:r>
            <a:endParaRPr lang="en-US" sz="1200" dirty="0"/>
          </a:p>
        </p:txBody>
      </p:sp>
      <p:sp>
        <p:nvSpPr>
          <p:cNvPr id="13" name="Text 11"/>
          <p:cNvSpPr txBox="1"/>
          <p:nvPr/>
        </p:nvSpPr>
        <p:spPr>
          <a:xfrm>
            <a:off x="4556760" y="2834640"/>
            <a:ext cx="2971800" cy="2468880"/>
          </a:xfrm>
          <a:prstGeom prst="rect">
            <a:avLst/>
          </a:prstGeom>
          <a:noFill/>
          <a:ln/>
        </p:spPr>
        <p:txBody>
          <a:bodyPr wrap="square" rtlCol="0" anchor="ctr"/>
          <a:lstStyle/>
          <a:p>
            <a:pPr indent="0" marL="0" rtl="1" algn="r">
              <a:lnSpc>
                <a:spcPct val="130000"/>
              </a:lnSpc>
              <a:buNone/>
            </a:pPr>
            <a:r>
              <a:rPr lang="en-US" sz="1400" dirty="0">
                <a:solidFill>
                  <a:srgbClr val="2E2D29"/>
                </a:solidFill>
                <a:latin typeface="Calibri" pitchFamily="34" charset="0"/>
                <a:ea typeface="Calibri" pitchFamily="34" charset="-122"/>
                <a:cs typeface="B Nazanin" pitchFamily="34" charset="-120"/>
              </a:rPr>
              <a:t>دقت این اندازه‌گیری در برابر خوانش کارشناس چقدر است؟</a:t>
            </a:r>
            <a:endParaRPr lang="en-US" sz="1400" dirty="0"/>
          </a:p>
        </p:txBody>
      </p:sp>
      <p:sp>
        <p:nvSpPr>
          <p:cNvPr id="14" name="Shape 12"/>
          <p:cNvSpPr/>
          <p:nvPr/>
        </p:nvSpPr>
        <p:spPr>
          <a:xfrm>
            <a:off x="441960" y="1371600"/>
            <a:ext cx="3520440" cy="4206240"/>
          </a:xfrm>
          <a:prstGeom prst="roundRect">
            <a:avLst>
              <a:gd name="adj" fmla="val 2078"/>
            </a:avLst>
          </a:prstGeom>
          <a:solidFill>
            <a:srgbClr val="F7F5F1"/>
          </a:solidFill>
          <a:ln/>
        </p:spPr>
      </p:sp>
      <p:sp>
        <p:nvSpPr>
          <p:cNvPr id="15" name="Shape 13"/>
          <p:cNvSpPr/>
          <p:nvPr/>
        </p:nvSpPr>
        <p:spPr>
          <a:xfrm>
            <a:off x="3002280" y="1737360"/>
            <a:ext cx="640080" cy="640080"/>
          </a:xfrm>
          <a:prstGeom prst="ellipse">
            <a:avLst/>
          </a:prstGeom>
          <a:solidFill>
            <a:srgbClr val="8C1515"/>
          </a:solidFill>
          <a:ln/>
        </p:spPr>
      </p:sp>
      <p:sp>
        <p:nvSpPr>
          <p:cNvPr id="16" name="Text 14"/>
          <p:cNvSpPr txBox="1"/>
          <p:nvPr/>
        </p:nvSpPr>
        <p:spPr>
          <a:xfrm>
            <a:off x="3002280" y="173736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7" name="Text 15"/>
          <p:cNvSpPr txBox="1"/>
          <p:nvPr/>
        </p:nvSpPr>
        <p:spPr>
          <a:xfrm>
            <a:off x="716280" y="2468880"/>
            <a:ext cx="2971800" cy="320040"/>
          </a:xfrm>
          <a:prstGeom prst="rect">
            <a:avLst/>
          </a:prstGeom>
          <a:noFill/>
          <a:ln/>
        </p:spPr>
        <p:txBody>
          <a:bodyPr wrap="square" rtlCol="0" anchor="ctr"/>
          <a:lstStyle/>
          <a:p>
            <a:pPr indent="0" marL="0" rtl="1" algn="r">
              <a:buNone/>
            </a:pPr>
            <a:r>
              <a:rPr lang="en-US" sz="1200" b="1" spc="200" kern="0" dirty="0">
                <a:solidFill>
                  <a:srgbClr val="E98300"/>
                </a:solidFill>
                <a:latin typeface="Calibri" pitchFamily="34" charset="0"/>
                <a:ea typeface="Calibri" pitchFamily="34" charset="-122"/>
                <a:cs typeface="B Nazanin" pitchFamily="34" charset="-120"/>
              </a:rPr>
              <a:t>پرسش سوم</a:t>
            </a:r>
            <a:endParaRPr lang="en-US" sz="1200" dirty="0"/>
          </a:p>
        </p:txBody>
      </p:sp>
      <p:sp>
        <p:nvSpPr>
          <p:cNvPr id="18" name="Text 16"/>
          <p:cNvSpPr txBox="1"/>
          <p:nvPr/>
        </p:nvSpPr>
        <p:spPr>
          <a:xfrm>
            <a:off x="716280" y="2834640"/>
            <a:ext cx="2971800" cy="2468880"/>
          </a:xfrm>
          <a:prstGeom prst="rect">
            <a:avLst/>
          </a:prstGeom>
          <a:noFill/>
          <a:ln/>
        </p:spPr>
        <p:txBody>
          <a:bodyPr wrap="square" rtlCol="0" anchor="ctr"/>
          <a:lstStyle/>
          <a:p>
            <a:pPr indent="0" marL="0" rtl="1" algn="r">
              <a:lnSpc>
                <a:spcPct val="130000"/>
              </a:lnSpc>
              <a:buNone/>
            </a:pPr>
            <a:r>
              <a:rPr lang="en-US" sz="1400" dirty="0">
                <a:solidFill>
                  <a:srgbClr val="2E2D29"/>
                </a:solidFill>
                <a:latin typeface="Calibri" pitchFamily="34" charset="0"/>
                <a:ea typeface="Calibri" pitchFamily="34" charset="-122"/>
                <a:cs typeface="B Nazanin" pitchFamily="34" charset="-120"/>
              </a:rPr>
              <a:t>آیا این دقت برای تصمیم بالینی کافی است؟ اگر نیست، مانع کجاست؟</a:t>
            </a:r>
            <a:endParaRPr lang="en-US" sz="1400" dirty="0"/>
          </a:p>
        </p:txBody>
      </p:sp>
      <p:sp>
        <p:nvSpPr>
          <p:cNvPr id="19" name="Text 17"/>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هدف و کارهای پیشین</a:t>
            </a:r>
            <a:endParaRPr lang="en-US" sz="900" dirty="0"/>
          </a:p>
        </p:txBody>
      </p:sp>
      <p:sp>
        <p:nvSpPr>
          <p:cNvPr id="20" name="Text 18"/>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۶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9144000" y="6803000"/>
            <a:ext cx="3048000" cy="55000"/>
          </a:xfrm>
          <a:prstGeom prst="rect">
            <a:avLst/>
          </a:prstGeom>
          <a:solidFill>
            <a:srgbClr val="8C1515"/>
          </a:solidFill>
          <a:ln>
            <a:noFill/>
          </a:ln>
        </p:spPr>
        <p:txBody>
          <a:bodyPr/>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کارهای پیشین و جای این پژوهش</a:t>
            </a:r>
            <a:endParaRPr lang="en-US" sz="3000" dirty="0"/>
          </a:p>
        </p:txBody>
      </p:sp>
      <p:sp>
        <p:nvSpPr>
          <p:cNvPr id="4" name="Shape 2"/>
          <p:cNvSpPr/>
          <p:nvPr/>
        </p:nvSpPr>
        <p:spPr>
          <a:xfrm>
            <a:off x="6431280" y="1325880"/>
            <a:ext cx="5212080" cy="1965960"/>
          </a:xfrm>
          <a:prstGeom prst="roundRect">
            <a:avLst>
              <a:gd name="adj" fmla="val 3721"/>
            </a:avLst>
          </a:prstGeom>
          <a:solidFill>
            <a:srgbClr val="F7F5F1"/>
          </a:solidFill>
          <a:ln/>
        </p:spPr>
      </p:sp>
      <p:sp>
        <p:nvSpPr>
          <p:cNvPr id="5" name="Shape 3"/>
          <p:cNvSpPr/>
          <p:nvPr/>
        </p:nvSpPr>
        <p:spPr>
          <a:xfrm>
            <a:off x="11167872" y="1545336"/>
            <a:ext cx="201168" cy="201168"/>
          </a:xfrm>
          <a:prstGeom prst="ellipse">
            <a:avLst/>
          </a:prstGeom>
          <a:solidFill>
            <a:srgbClr val="8C1515"/>
          </a:solidFill>
          <a:ln/>
        </p:spPr>
      </p:sp>
      <p:sp>
        <p:nvSpPr>
          <p:cNvPr id="6" name="Text 4"/>
          <p:cNvSpPr txBox="1"/>
          <p:nvPr/>
        </p:nvSpPr>
        <p:spPr>
          <a:xfrm>
            <a:off x="6705600" y="1472184"/>
            <a:ext cx="4343400" cy="365760"/>
          </a:xfrm>
          <a:prstGeom prst="rect">
            <a:avLst/>
          </a:prstGeom>
          <a:noFill/>
          <a:ln/>
        </p:spPr>
        <p:txBody>
          <a:bodyPr wrap="square" rtlCol="0" anchor="ctr"/>
          <a:lstStyle/>
          <a:p>
            <a:pPr indent="0" marL="0" rtl="1" algn="r">
              <a:buNone/>
            </a:pPr>
            <a:r>
              <a:rPr lang="en-US" sz="1600" b="1" dirty="0">
                <a:solidFill>
                  <a:srgbClr val="8C1515"/>
                </a:solidFill>
                <a:latin typeface="Cambria" pitchFamily="34" charset="0"/>
                <a:ea typeface="Cambria" pitchFamily="34" charset="-122"/>
                <a:cs typeface="B Titr" pitchFamily="34" charset="-120"/>
              </a:rPr>
              <a:t>ابزارهای متن‌باز</a:t>
            </a:r>
            <a:endParaRPr lang="en-US" sz="1600" dirty="0"/>
          </a:p>
        </p:txBody>
      </p:sp>
      <p:sp>
        <p:nvSpPr>
          <p:cNvPr id="7" name="Text 5"/>
          <p:cNvSpPr txBox="1"/>
          <p:nvPr/>
        </p:nvSpPr>
        <p:spPr>
          <a:xfrm>
            <a:off x="6659880" y="1892808"/>
            <a:ext cx="4663440" cy="1280160"/>
          </a:xfrm>
          <a:prstGeom prst="rect">
            <a:avLst/>
          </a:prstGeom>
          <a:noFill/>
          <a:ln/>
        </p:spPr>
        <p:txBody>
          <a:bodyPr wrap="square" rtlCol="0" anchor="ctr"/>
          <a:lstStyle/>
          <a:p>
            <a:pPr indent="0" marL="0" rtl="1" algn="r">
              <a:lnSpc>
                <a:spcPct val="125000"/>
              </a:lnSpc>
              <a:buNone/>
            </a:pPr>
            <a:r>
              <a:rPr lang="en-US" sz="1250" dirty="0">
                <a:solidFill>
                  <a:srgbClr val="2E2D29"/>
                </a:solidFill>
                <a:latin typeface="Calibri" pitchFamily="34" charset="0"/>
                <a:ea typeface="Calibri" pitchFamily="34" charset="-122"/>
                <a:cs typeface="B Nazanin" pitchFamily="34" charset="-120"/>
              </a:rPr>
              <a:t>AntibiogramJ با آستانه‌گذاری کلاسیک، توافق حدود ۸۷ درصد. از نظر فناوری نزدیک‌ترین کار به این پژوهش.</a:t>
            </a:r>
            <a:endParaRPr lang="en-US" sz="1250" dirty="0"/>
          </a:p>
        </p:txBody>
      </p:sp>
      <p:sp>
        <p:nvSpPr>
          <p:cNvPr id="8" name="Shape 6"/>
          <p:cNvSpPr/>
          <p:nvPr/>
        </p:nvSpPr>
        <p:spPr>
          <a:xfrm>
            <a:off x="899160" y="1325880"/>
            <a:ext cx="5212080" cy="1965960"/>
          </a:xfrm>
          <a:prstGeom prst="roundRect">
            <a:avLst>
              <a:gd name="adj" fmla="val 3721"/>
            </a:avLst>
          </a:prstGeom>
          <a:solidFill>
            <a:srgbClr val="F7F5F1"/>
          </a:solidFill>
          <a:ln/>
        </p:spPr>
      </p:sp>
      <p:sp>
        <p:nvSpPr>
          <p:cNvPr id="9" name="Shape 7"/>
          <p:cNvSpPr/>
          <p:nvPr/>
        </p:nvSpPr>
        <p:spPr>
          <a:xfrm>
            <a:off x="5635752" y="1545336"/>
            <a:ext cx="201168" cy="201168"/>
          </a:xfrm>
          <a:prstGeom prst="ellipse">
            <a:avLst/>
          </a:prstGeom>
          <a:solidFill>
            <a:srgbClr val="E98300"/>
          </a:solidFill>
          <a:ln/>
        </p:spPr>
      </p:sp>
      <p:sp>
        <p:nvSpPr>
          <p:cNvPr id="10" name="Text 8"/>
          <p:cNvSpPr txBox="1"/>
          <p:nvPr/>
        </p:nvSpPr>
        <p:spPr>
          <a:xfrm>
            <a:off x="1173480" y="1472184"/>
            <a:ext cx="4343400" cy="365760"/>
          </a:xfrm>
          <a:prstGeom prst="rect">
            <a:avLst/>
          </a:prstGeom>
          <a:noFill/>
          <a:ln/>
        </p:spPr>
        <p:txBody>
          <a:bodyPr wrap="square" rtlCol="0" anchor="ctr"/>
          <a:lstStyle/>
          <a:p>
            <a:pPr indent="0" marL="0" rtl="1" algn="r">
              <a:buNone/>
            </a:pPr>
            <a:r>
              <a:rPr lang="en-US" sz="1600" b="1" dirty="0">
                <a:solidFill>
                  <a:srgbClr val="E98300"/>
                </a:solidFill>
                <a:latin typeface="Cambria" pitchFamily="34" charset="0"/>
                <a:ea typeface="Cambria" pitchFamily="34" charset="-122"/>
                <a:cs typeface="B Titr" pitchFamily="34" charset="-120"/>
              </a:rPr>
              <a:t>روش‌های یادگیری عمیق</a:t>
            </a:r>
            <a:endParaRPr lang="en-US" sz="1600" dirty="0"/>
          </a:p>
        </p:txBody>
      </p:sp>
      <p:sp>
        <p:nvSpPr>
          <p:cNvPr id="11" name="Text 9"/>
          <p:cNvSpPr txBox="1"/>
          <p:nvPr/>
        </p:nvSpPr>
        <p:spPr>
          <a:xfrm>
            <a:off x="1127760" y="1892808"/>
            <a:ext cx="4663440" cy="1280160"/>
          </a:xfrm>
          <a:prstGeom prst="rect">
            <a:avLst/>
          </a:prstGeom>
          <a:noFill/>
          <a:ln/>
        </p:spPr>
        <p:txBody>
          <a:bodyPr wrap="square" rtlCol="0" anchor="ctr"/>
          <a:lstStyle/>
          <a:p>
            <a:pPr indent="0" marL="0" rtl="1" algn="r">
              <a:lnSpc>
                <a:spcPct val="125000"/>
              </a:lnSpc>
              <a:buNone/>
            </a:pPr>
            <a:r>
              <a:rPr lang="en-US" sz="1250" dirty="0">
                <a:solidFill>
                  <a:srgbClr val="2E2D29"/>
                </a:solidFill>
                <a:latin typeface="Calibri" pitchFamily="34" charset="0"/>
                <a:ea typeface="Calibri" pitchFamily="34" charset="-122"/>
                <a:cs typeface="B Nazanin" pitchFamily="34" charset="-120"/>
              </a:rPr>
              <a:t>یک برنامه تلفن همراه، توافق ۹۸ درصد. این دسته از نظر دقت عددی از سامانه حاضر جلوتر است.</a:t>
            </a:r>
            <a:endParaRPr lang="en-US" sz="1250" dirty="0"/>
          </a:p>
        </p:txBody>
      </p:sp>
      <p:sp>
        <p:nvSpPr>
          <p:cNvPr id="12" name="Shape 10"/>
          <p:cNvSpPr/>
          <p:nvPr/>
        </p:nvSpPr>
        <p:spPr>
          <a:xfrm>
            <a:off x="6431280" y="3566160"/>
            <a:ext cx="5212080" cy="1965960"/>
          </a:xfrm>
          <a:prstGeom prst="roundRect">
            <a:avLst>
              <a:gd name="adj" fmla="val 3721"/>
            </a:avLst>
          </a:prstGeom>
          <a:solidFill>
            <a:srgbClr val="F7F5F1"/>
          </a:solidFill>
          <a:ln/>
        </p:spPr>
      </p:sp>
      <p:sp>
        <p:nvSpPr>
          <p:cNvPr id="13" name="Shape 11"/>
          <p:cNvSpPr/>
          <p:nvPr/>
        </p:nvSpPr>
        <p:spPr>
          <a:xfrm>
            <a:off x="11167872" y="3785616"/>
            <a:ext cx="201168" cy="201168"/>
          </a:xfrm>
          <a:prstGeom prst="ellipse">
            <a:avLst/>
          </a:prstGeom>
          <a:solidFill>
            <a:srgbClr val="007C92"/>
          </a:solidFill>
          <a:ln/>
        </p:spPr>
      </p:sp>
      <p:sp>
        <p:nvSpPr>
          <p:cNvPr id="14" name="Text 12"/>
          <p:cNvSpPr txBox="1"/>
          <p:nvPr/>
        </p:nvSpPr>
        <p:spPr>
          <a:xfrm>
            <a:off x="6705600" y="3712464"/>
            <a:ext cx="4343400" cy="365760"/>
          </a:xfrm>
          <a:prstGeom prst="rect">
            <a:avLst/>
          </a:prstGeom>
          <a:noFill/>
          <a:ln/>
        </p:spPr>
        <p:txBody>
          <a:bodyPr wrap="square" rtlCol="0" anchor="ctr"/>
          <a:lstStyle/>
          <a:p>
            <a:pPr indent="0" marL="0" rtl="1" algn="r">
              <a:buNone/>
            </a:pPr>
            <a:r>
              <a:rPr lang="en-US" sz="1600" b="1" dirty="0">
                <a:solidFill>
                  <a:srgbClr val="007C92"/>
                </a:solidFill>
                <a:latin typeface="Cambria" pitchFamily="34" charset="0"/>
                <a:ea typeface="Cambria" pitchFamily="34" charset="-122"/>
                <a:cs typeface="B Titr" pitchFamily="34" charset="-120"/>
              </a:rPr>
              <a:t>روش‌های نوری جایگزین</a:t>
            </a:r>
            <a:endParaRPr lang="en-US" sz="1600" dirty="0"/>
          </a:p>
        </p:txBody>
      </p:sp>
      <p:sp>
        <p:nvSpPr>
          <p:cNvPr id="15" name="Text 13"/>
          <p:cNvSpPr txBox="1"/>
          <p:nvPr/>
        </p:nvSpPr>
        <p:spPr>
          <a:xfrm>
            <a:off x="6659880" y="4133088"/>
            <a:ext cx="4663440" cy="1280160"/>
          </a:xfrm>
          <a:prstGeom prst="rect">
            <a:avLst/>
          </a:prstGeom>
          <a:noFill/>
          <a:ln/>
        </p:spPr>
        <p:txBody>
          <a:bodyPr wrap="square" rtlCol="0" anchor="ctr"/>
          <a:lstStyle/>
          <a:p>
            <a:pPr indent="0" marL="0" rtl="1" algn="r">
              <a:lnSpc>
                <a:spcPct val="125000"/>
              </a:lnSpc>
              <a:buNone/>
            </a:pPr>
            <a:r>
              <a:rPr lang="en-US" sz="1250" dirty="0">
                <a:solidFill>
                  <a:srgbClr val="2E2D29"/>
                </a:solidFill>
                <a:latin typeface="Calibri" pitchFamily="34" charset="0"/>
                <a:ea typeface="Calibri" pitchFamily="34" charset="-122"/>
                <a:cs typeface="B Nazanin" pitchFamily="34" charset="-120"/>
              </a:rPr>
              <a:t>تصویربرداری لکه لیزری، یافتن داروی موثر در کمتر از سه ساعت. به جای بهبود تحلیل، خود تصویربرداری را عوض می‌کند.</a:t>
            </a:r>
            <a:endParaRPr lang="en-US" sz="1250" dirty="0"/>
          </a:p>
        </p:txBody>
      </p:sp>
      <p:sp>
        <p:nvSpPr>
          <p:cNvPr id="16" name="Shape 14"/>
          <p:cNvSpPr/>
          <p:nvPr/>
        </p:nvSpPr>
        <p:spPr>
          <a:xfrm>
            <a:off x="899160" y="3566160"/>
            <a:ext cx="5212080" cy="1965960"/>
          </a:xfrm>
          <a:prstGeom prst="roundRect">
            <a:avLst>
              <a:gd name="adj" fmla="val 3721"/>
            </a:avLst>
          </a:prstGeom>
          <a:solidFill>
            <a:srgbClr val="F7F5F1"/>
          </a:solidFill>
          <a:ln/>
        </p:spPr>
      </p:sp>
      <p:sp>
        <p:nvSpPr>
          <p:cNvPr id="17" name="Shape 15"/>
          <p:cNvSpPr/>
          <p:nvPr/>
        </p:nvSpPr>
        <p:spPr>
          <a:xfrm>
            <a:off x="5635752" y="3785616"/>
            <a:ext cx="201168" cy="201168"/>
          </a:xfrm>
          <a:prstGeom prst="ellipse">
            <a:avLst/>
          </a:prstGeom>
          <a:solidFill>
            <a:srgbClr val="279989"/>
          </a:solidFill>
          <a:ln/>
        </p:spPr>
      </p:sp>
      <p:sp>
        <p:nvSpPr>
          <p:cNvPr id="18" name="Text 16"/>
          <p:cNvSpPr txBox="1"/>
          <p:nvPr/>
        </p:nvSpPr>
        <p:spPr>
          <a:xfrm>
            <a:off x="1173480" y="3712464"/>
            <a:ext cx="4343400" cy="365760"/>
          </a:xfrm>
          <a:prstGeom prst="rect">
            <a:avLst/>
          </a:prstGeom>
          <a:noFill/>
          <a:ln/>
        </p:spPr>
        <p:txBody>
          <a:bodyPr wrap="square" rtlCol="0" anchor="ctr"/>
          <a:lstStyle/>
          <a:p>
            <a:pPr indent="0" marL="0" rtl="1" algn="r">
              <a:buNone/>
            </a:pPr>
            <a:r>
              <a:rPr lang="en-US" sz="1600" b="1" dirty="0">
                <a:solidFill>
                  <a:srgbClr val="279989"/>
                </a:solidFill>
                <a:latin typeface="Cambria" pitchFamily="34" charset="0"/>
                <a:ea typeface="Cambria" pitchFamily="34" charset="-122"/>
                <a:cs typeface="B Titr" pitchFamily="34" charset="-120"/>
              </a:rPr>
              <a:t>جای این پژوهش</a:t>
            </a:r>
            <a:endParaRPr lang="en-US" sz="1600" dirty="0"/>
          </a:p>
        </p:txBody>
      </p:sp>
      <p:sp>
        <p:nvSpPr>
          <p:cNvPr id="19" name="Text 17"/>
          <p:cNvSpPr txBox="1"/>
          <p:nvPr/>
        </p:nvSpPr>
        <p:spPr>
          <a:xfrm>
            <a:off x="1127760" y="4133088"/>
            <a:ext cx="4663440" cy="1280160"/>
          </a:xfrm>
          <a:prstGeom prst="rect">
            <a:avLst/>
          </a:prstGeom>
          <a:noFill/>
          <a:ln/>
        </p:spPr>
        <p:txBody>
          <a:bodyPr wrap="square" rtlCol="0" anchor="ctr"/>
          <a:lstStyle/>
          <a:p>
            <a:pPr indent="0" marL="0" rtl="1" algn="r">
              <a:lnSpc>
                <a:spcPct val="125000"/>
              </a:lnSpc>
              <a:buNone/>
            </a:pPr>
            <a:r>
              <a:rPr lang="en-US" sz="1250" dirty="0">
                <a:solidFill>
                  <a:srgbClr val="2E2D29"/>
                </a:solidFill>
                <a:latin typeface="Calibri" pitchFamily="34" charset="0"/>
                <a:ea typeface="Calibri" pitchFamily="34" charset="-122"/>
                <a:cs typeface="B Nazanin" pitchFamily="34" charset="-120"/>
              </a:rPr>
              <a:t>یک زنجیره کاملاً قطعی، و اندازه‌گیری علتی که خطای باقی‌مانده را می‌سازد.</a:t>
            </a:r>
            <a:endParaRPr lang="en-US" sz="1250" dirty="0"/>
          </a:p>
        </p:txBody>
      </p:sp>
      <p:sp>
        <p:nvSpPr>
          <p:cNvPr id="20" name="Text 18"/>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هدف و کارهای پیشین</a:t>
            </a:r>
            <a:endParaRPr lang="en-US" sz="900" dirty="0"/>
          </a:p>
        </p:txBody>
      </p:sp>
      <p:sp>
        <p:nvSpPr>
          <p:cNvPr id="21" name="Text 19"/>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۷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8636000" y="6803000"/>
            <a:ext cx="3556000" cy="55000"/>
          </a:xfrm>
          <a:prstGeom prst="rect">
            <a:avLst/>
          </a:prstGeom>
          <a:solidFill>
            <a:srgbClr val="8C1515"/>
          </a:solidFill>
          <a:ln>
            <a:noFill/>
          </a:ln>
        </p:spPr>
        <p:txBody>
          <a:bodyPr/>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روش پیشنهادی: چهار مرحله</a:t>
            </a:r>
            <a:endParaRPr lang="en-US" sz="3000" dirty="0"/>
          </a:p>
        </p:txBody>
      </p:sp>
      <p:sp>
        <p:nvSpPr>
          <p:cNvPr id="4" name="Shape 2"/>
          <p:cNvSpPr/>
          <p:nvPr/>
        </p:nvSpPr>
        <p:spPr>
          <a:xfrm>
            <a:off x="8955024" y="2377440"/>
            <a:ext cx="2377440" cy="2377440"/>
          </a:xfrm>
          <a:prstGeom prst="roundRect">
            <a:avLst>
              <a:gd name="adj" fmla="val 3077"/>
            </a:avLst>
          </a:prstGeom>
          <a:solidFill>
            <a:srgbClr val="F7F5F1"/>
          </a:solidFill>
          <a:ln/>
        </p:spPr>
      </p:sp>
      <p:sp>
        <p:nvSpPr>
          <p:cNvPr id="5" name="Shape 3"/>
          <p:cNvSpPr/>
          <p:nvPr/>
        </p:nvSpPr>
        <p:spPr>
          <a:xfrm>
            <a:off x="9823704" y="2057400"/>
            <a:ext cx="640080" cy="640080"/>
          </a:xfrm>
          <a:prstGeom prst="ellipse">
            <a:avLst/>
          </a:prstGeom>
          <a:solidFill>
            <a:srgbClr val="8C1515"/>
          </a:solidFill>
          <a:ln/>
        </p:spPr>
      </p:sp>
      <p:sp>
        <p:nvSpPr>
          <p:cNvPr id="6" name="Text 4"/>
          <p:cNvSpPr txBox="1"/>
          <p:nvPr/>
        </p:nvSpPr>
        <p:spPr>
          <a:xfrm>
            <a:off x="9823704" y="205740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7" name="Text 5"/>
          <p:cNvSpPr txBox="1"/>
          <p:nvPr/>
        </p:nvSpPr>
        <p:spPr>
          <a:xfrm>
            <a:off x="9092184" y="2834640"/>
            <a:ext cx="2103120" cy="457200"/>
          </a:xfrm>
          <a:prstGeom prst="rect">
            <a:avLst/>
          </a:prstGeom>
          <a:noFill/>
          <a:ln/>
        </p:spPr>
        <p:txBody>
          <a:bodyPr wrap="square" rtlCol="0" anchor="ctr"/>
          <a:lstStyle/>
          <a:p>
            <a:pPr algn="ctr" indent="0" marL="0" rtl="1">
              <a:buNone/>
            </a:pPr>
            <a:r>
              <a:rPr lang="en-US" sz="1400" b="1" dirty="0">
                <a:solidFill>
                  <a:srgbClr val="2E2D29"/>
                </a:solidFill>
                <a:latin typeface="Cambria" pitchFamily="34" charset="0"/>
                <a:ea typeface="Cambria" pitchFamily="34" charset="-122"/>
                <a:cs typeface="B Titr" pitchFamily="34" charset="-120"/>
              </a:rPr>
              <a:t>یافتن ظرف</a:t>
            </a:r>
            <a:endParaRPr lang="en-US" sz="1400" dirty="0"/>
          </a:p>
        </p:txBody>
      </p:sp>
      <p:sp>
        <p:nvSpPr>
          <p:cNvPr id="8" name="Text 6"/>
          <p:cNvSpPr txBox="1"/>
          <p:nvPr/>
        </p:nvSpPr>
        <p:spPr>
          <a:xfrm>
            <a:off x="9137904" y="3337560"/>
            <a:ext cx="2011680" cy="1280160"/>
          </a:xfrm>
          <a:prstGeom prst="rect">
            <a:avLst/>
          </a:prstGeom>
          <a:noFill/>
          <a:ln/>
        </p:spPr>
        <p:txBody>
          <a:bodyPr wrap="square" rtlCol="0" anchor="ctr"/>
          <a:lstStyle/>
          <a:p>
            <a:pPr algn="ctr" indent="0" marL="0" rtl="1">
              <a:lnSpc>
                <a:spcPct val="125000"/>
              </a:lnSpc>
              <a:buNone/>
            </a:pPr>
            <a:r>
              <a:rPr lang="en-US" sz="1150" dirty="0">
                <a:solidFill>
                  <a:srgbClr val="716E69"/>
                </a:solidFill>
                <a:latin typeface="Calibri" pitchFamily="34" charset="0"/>
                <a:ea typeface="Calibri" pitchFamily="34" charset="-122"/>
                <a:cs typeface="B Nazanin" pitchFamily="34" charset="-120"/>
              </a:rPr>
              <a:t>مکان و قطر ظرف پتری، و تعیین مقیاس کار</a:t>
            </a:r>
            <a:endParaRPr lang="en-US" sz="1150" dirty="0"/>
          </a:p>
        </p:txBody>
      </p:sp>
      <p:sp>
        <p:nvSpPr>
          <p:cNvPr id="9" name="Shape 7"/>
          <p:cNvSpPr/>
          <p:nvPr/>
        </p:nvSpPr>
        <p:spPr>
          <a:xfrm flipH="1">
            <a:off x="8653272" y="3429000"/>
            <a:ext cx="274320" cy="274320"/>
          </a:xfrm>
          <a:prstGeom prst="rightArrow">
            <a:avLst/>
          </a:prstGeom>
          <a:solidFill>
            <a:srgbClr val="E98300"/>
          </a:solidFill>
          <a:ln/>
        </p:spPr>
      </p:sp>
      <p:sp>
        <p:nvSpPr>
          <p:cNvPr id="10" name="Shape 8"/>
          <p:cNvSpPr/>
          <p:nvPr/>
        </p:nvSpPr>
        <p:spPr>
          <a:xfrm>
            <a:off x="6257544" y="2377440"/>
            <a:ext cx="2377440" cy="2377440"/>
          </a:xfrm>
          <a:prstGeom prst="roundRect">
            <a:avLst>
              <a:gd name="adj" fmla="val 3077"/>
            </a:avLst>
          </a:prstGeom>
          <a:solidFill>
            <a:srgbClr val="F7F5F1"/>
          </a:solidFill>
          <a:ln/>
        </p:spPr>
      </p:sp>
      <p:sp>
        <p:nvSpPr>
          <p:cNvPr id="11" name="Shape 9"/>
          <p:cNvSpPr/>
          <p:nvPr/>
        </p:nvSpPr>
        <p:spPr>
          <a:xfrm>
            <a:off x="7126224" y="2057400"/>
            <a:ext cx="640080" cy="640080"/>
          </a:xfrm>
          <a:prstGeom prst="ellipse">
            <a:avLst/>
          </a:prstGeom>
          <a:solidFill>
            <a:srgbClr val="8C1515"/>
          </a:solidFill>
          <a:ln/>
        </p:spPr>
      </p:sp>
      <p:sp>
        <p:nvSpPr>
          <p:cNvPr id="12" name="Text 10"/>
          <p:cNvSpPr txBox="1"/>
          <p:nvPr/>
        </p:nvSpPr>
        <p:spPr>
          <a:xfrm>
            <a:off x="7126224" y="205740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3" name="Text 11"/>
          <p:cNvSpPr txBox="1"/>
          <p:nvPr/>
        </p:nvSpPr>
        <p:spPr>
          <a:xfrm>
            <a:off x="6394704" y="2834640"/>
            <a:ext cx="2103120" cy="457200"/>
          </a:xfrm>
          <a:prstGeom prst="rect">
            <a:avLst/>
          </a:prstGeom>
          <a:noFill/>
          <a:ln/>
        </p:spPr>
        <p:txBody>
          <a:bodyPr wrap="square" rtlCol="0" anchor="ctr"/>
          <a:lstStyle/>
          <a:p>
            <a:pPr algn="ctr" indent="0" marL="0" rtl="1">
              <a:buNone/>
            </a:pPr>
            <a:r>
              <a:rPr lang="en-US" sz="1400" b="1" dirty="0">
                <a:solidFill>
                  <a:srgbClr val="2E2D29"/>
                </a:solidFill>
                <a:latin typeface="Cambria" pitchFamily="34" charset="0"/>
                <a:ea typeface="Cambria" pitchFamily="34" charset="-122"/>
                <a:cs typeface="B Titr" pitchFamily="34" charset="-120"/>
              </a:rPr>
              <a:t>یافتن دیسک‌ها</a:t>
            </a:r>
            <a:endParaRPr lang="en-US" sz="1400" dirty="0"/>
          </a:p>
        </p:txBody>
      </p:sp>
      <p:sp>
        <p:nvSpPr>
          <p:cNvPr id="14" name="Text 12"/>
          <p:cNvSpPr txBox="1"/>
          <p:nvPr/>
        </p:nvSpPr>
        <p:spPr>
          <a:xfrm>
            <a:off x="6440424" y="3337560"/>
            <a:ext cx="2011680" cy="1280160"/>
          </a:xfrm>
          <a:prstGeom prst="rect">
            <a:avLst/>
          </a:prstGeom>
          <a:noFill/>
          <a:ln/>
        </p:spPr>
        <p:txBody>
          <a:bodyPr wrap="square" rtlCol="0" anchor="ctr"/>
          <a:lstStyle/>
          <a:p>
            <a:pPr algn="ctr" indent="0" marL="0" rtl="1">
              <a:lnSpc>
                <a:spcPct val="125000"/>
              </a:lnSpc>
              <a:buNone/>
            </a:pPr>
            <a:r>
              <a:rPr lang="en-US" sz="1150" dirty="0">
                <a:solidFill>
                  <a:srgbClr val="716E69"/>
                </a:solidFill>
                <a:latin typeface="Calibri" pitchFamily="34" charset="0"/>
                <a:ea typeface="Calibri" pitchFamily="34" charset="-122"/>
                <a:cs typeface="B Nazanin" pitchFamily="34" charset="-120"/>
              </a:rPr>
              <a:t>ترکیب دو شاخه مستقل؛ قطر شش میلی‌متری استاندارد، مقیاس میلی‌متر را می‌دهد</a:t>
            </a:r>
            <a:endParaRPr lang="en-US" sz="1150" dirty="0"/>
          </a:p>
        </p:txBody>
      </p:sp>
      <p:sp>
        <p:nvSpPr>
          <p:cNvPr id="15" name="Shape 13"/>
          <p:cNvSpPr/>
          <p:nvPr/>
        </p:nvSpPr>
        <p:spPr>
          <a:xfrm flipH="1">
            <a:off x="5955792" y="3429000"/>
            <a:ext cx="274320" cy="274320"/>
          </a:xfrm>
          <a:prstGeom prst="rightArrow">
            <a:avLst/>
          </a:prstGeom>
          <a:solidFill>
            <a:srgbClr val="E98300"/>
          </a:solidFill>
          <a:ln/>
        </p:spPr>
      </p:sp>
      <p:sp>
        <p:nvSpPr>
          <p:cNvPr id="16" name="Shape 14"/>
          <p:cNvSpPr/>
          <p:nvPr/>
        </p:nvSpPr>
        <p:spPr>
          <a:xfrm>
            <a:off x="3560064" y="2377440"/>
            <a:ext cx="2377440" cy="2377440"/>
          </a:xfrm>
          <a:prstGeom prst="roundRect">
            <a:avLst>
              <a:gd name="adj" fmla="val 3077"/>
            </a:avLst>
          </a:prstGeom>
          <a:solidFill>
            <a:srgbClr val="F7F5F1"/>
          </a:solidFill>
          <a:ln/>
        </p:spPr>
      </p:sp>
      <p:sp>
        <p:nvSpPr>
          <p:cNvPr id="17" name="Shape 15"/>
          <p:cNvSpPr/>
          <p:nvPr/>
        </p:nvSpPr>
        <p:spPr>
          <a:xfrm>
            <a:off x="4428744" y="2057400"/>
            <a:ext cx="640080" cy="640080"/>
          </a:xfrm>
          <a:prstGeom prst="ellipse">
            <a:avLst/>
          </a:prstGeom>
          <a:solidFill>
            <a:srgbClr val="8C1515"/>
          </a:solidFill>
          <a:ln/>
        </p:spPr>
      </p:sp>
      <p:sp>
        <p:nvSpPr>
          <p:cNvPr id="18" name="Text 16"/>
          <p:cNvSpPr txBox="1"/>
          <p:nvPr/>
        </p:nvSpPr>
        <p:spPr>
          <a:xfrm>
            <a:off x="4428744" y="205740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9" name="Text 17"/>
          <p:cNvSpPr txBox="1"/>
          <p:nvPr/>
        </p:nvSpPr>
        <p:spPr>
          <a:xfrm>
            <a:off x="3697224" y="2834640"/>
            <a:ext cx="2103120" cy="457200"/>
          </a:xfrm>
          <a:prstGeom prst="rect">
            <a:avLst/>
          </a:prstGeom>
          <a:noFill/>
          <a:ln/>
        </p:spPr>
        <p:txBody>
          <a:bodyPr wrap="square" rtlCol="0" anchor="ctr"/>
          <a:lstStyle/>
          <a:p>
            <a:pPr algn="ctr" indent="0" marL="0" rtl="1">
              <a:buNone/>
            </a:pPr>
            <a:r>
              <a:rPr lang="en-US" sz="1400" b="1" dirty="0">
                <a:solidFill>
                  <a:srgbClr val="2E2D29"/>
                </a:solidFill>
                <a:latin typeface="Cambria" pitchFamily="34" charset="0"/>
                <a:ea typeface="Cambria" pitchFamily="34" charset="-122"/>
                <a:cs typeface="B Titr" pitchFamily="34" charset="-120"/>
              </a:rPr>
              <a:t>تعیین مرز هاله</a:t>
            </a:r>
            <a:endParaRPr lang="en-US" sz="1400" dirty="0"/>
          </a:p>
        </p:txBody>
      </p:sp>
      <p:sp>
        <p:nvSpPr>
          <p:cNvPr id="20" name="Text 18"/>
          <p:cNvSpPr txBox="1"/>
          <p:nvPr/>
        </p:nvSpPr>
        <p:spPr>
          <a:xfrm>
            <a:off x="3742944" y="3337560"/>
            <a:ext cx="2011680" cy="1280160"/>
          </a:xfrm>
          <a:prstGeom prst="rect">
            <a:avLst/>
          </a:prstGeom>
          <a:noFill/>
          <a:ln/>
        </p:spPr>
        <p:txBody>
          <a:bodyPr wrap="square" rtlCol="0" anchor="ctr"/>
          <a:lstStyle/>
          <a:p>
            <a:pPr algn="ctr" indent="0" marL="0" rtl="1">
              <a:lnSpc>
                <a:spcPct val="125000"/>
              </a:lnSpc>
              <a:buNone/>
            </a:pPr>
            <a:r>
              <a:rPr lang="en-US" sz="1150" dirty="0">
                <a:solidFill>
                  <a:srgbClr val="716E69"/>
                </a:solidFill>
                <a:latin typeface="Calibri" pitchFamily="34" charset="0"/>
                <a:ea typeface="Calibri" pitchFamily="34" charset="-122"/>
                <a:cs typeface="B Nazanin" pitchFamily="34" charset="-120"/>
              </a:rPr>
              <a:t>سه روش موازی و ترکیب آن‌ها</a:t>
            </a:r>
            <a:endParaRPr lang="en-US" sz="1150" dirty="0"/>
          </a:p>
        </p:txBody>
      </p:sp>
      <p:sp>
        <p:nvSpPr>
          <p:cNvPr id="21" name="Shape 19"/>
          <p:cNvSpPr/>
          <p:nvPr/>
        </p:nvSpPr>
        <p:spPr>
          <a:xfrm flipH="1">
            <a:off x="3258312" y="3429000"/>
            <a:ext cx="274320" cy="274320"/>
          </a:xfrm>
          <a:prstGeom prst="rightArrow">
            <a:avLst/>
          </a:prstGeom>
          <a:solidFill>
            <a:srgbClr val="E98300"/>
          </a:solidFill>
          <a:ln/>
        </p:spPr>
      </p:sp>
      <p:sp>
        <p:nvSpPr>
          <p:cNvPr id="22" name="Shape 20"/>
          <p:cNvSpPr/>
          <p:nvPr/>
        </p:nvSpPr>
        <p:spPr>
          <a:xfrm>
            <a:off x="862584" y="2377440"/>
            <a:ext cx="2377440" cy="2377440"/>
          </a:xfrm>
          <a:prstGeom prst="roundRect">
            <a:avLst>
              <a:gd name="adj" fmla="val 3077"/>
            </a:avLst>
          </a:prstGeom>
          <a:solidFill>
            <a:srgbClr val="F7F5F1"/>
          </a:solidFill>
          <a:ln/>
        </p:spPr>
      </p:sp>
      <p:sp>
        <p:nvSpPr>
          <p:cNvPr id="23" name="Shape 21"/>
          <p:cNvSpPr/>
          <p:nvPr/>
        </p:nvSpPr>
        <p:spPr>
          <a:xfrm>
            <a:off x="1731264" y="2057400"/>
            <a:ext cx="640080" cy="640080"/>
          </a:xfrm>
          <a:prstGeom prst="ellipse">
            <a:avLst/>
          </a:prstGeom>
          <a:solidFill>
            <a:srgbClr val="8C1515"/>
          </a:solidFill>
          <a:ln/>
        </p:spPr>
      </p:sp>
      <p:sp>
        <p:nvSpPr>
          <p:cNvPr id="24" name="Text 22"/>
          <p:cNvSpPr txBox="1"/>
          <p:nvPr/>
        </p:nvSpPr>
        <p:spPr>
          <a:xfrm>
            <a:off x="1731264" y="205740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25" name="Text 23"/>
          <p:cNvSpPr txBox="1"/>
          <p:nvPr/>
        </p:nvSpPr>
        <p:spPr>
          <a:xfrm>
            <a:off x="999744" y="2834640"/>
            <a:ext cx="2103120" cy="457200"/>
          </a:xfrm>
          <a:prstGeom prst="rect">
            <a:avLst/>
          </a:prstGeom>
          <a:noFill/>
          <a:ln/>
        </p:spPr>
        <p:txBody>
          <a:bodyPr wrap="square" rtlCol="0" anchor="ctr"/>
          <a:lstStyle/>
          <a:p>
            <a:pPr algn="ctr" indent="0" marL="0" rtl="1">
              <a:buNone/>
            </a:pPr>
            <a:r>
              <a:rPr lang="en-US" sz="1400" b="1" dirty="0">
                <a:solidFill>
                  <a:srgbClr val="2E2D29"/>
                </a:solidFill>
                <a:latin typeface="Cambria" pitchFamily="34" charset="0"/>
                <a:ea typeface="Cambria" pitchFamily="34" charset="-122"/>
                <a:cs typeface="B Titr" pitchFamily="34" charset="-120"/>
              </a:rPr>
              <a:t>تفسیر بالینی</a:t>
            </a:r>
            <a:endParaRPr lang="en-US" sz="1400" dirty="0"/>
          </a:p>
        </p:txBody>
      </p:sp>
      <p:sp>
        <p:nvSpPr>
          <p:cNvPr id="26" name="Text 24"/>
          <p:cNvSpPr txBox="1"/>
          <p:nvPr/>
        </p:nvSpPr>
        <p:spPr>
          <a:xfrm>
            <a:off x="1045464" y="3337560"/>
            <a:ext cx="2011680" cy="1280160"/>
          </a:xfrm>
          <a:prstGeom prst="rect">
            <a:avLst/>
          </a:prstGeom>
          <a:noFill/>
          <a:ln/>
        </p:spPr>
        <p:txBody>
          <a:bodyPr wrap="square" rtlCol="0" anchor="ctr"/>
          <a:lstStyle/>
          <a:p>
            <a:pPr algn="ctr" indent="0" marL="0" rtl="1">
              <a:lnSpc>
                <a:spcPct val="125000"/>
              </a:lnSpc>
              <a:buNone/>
            </a:pPr>
            <a:r>
              <a:rPr lang="en-US" sz="1150" dirty="0">
                <a:solidFill>
                  <a:srgbClr val="716E69"/>
                </a:solidFill>
                <a:latin typeface="Calibri" pitchFamily="34" charset="0"/>
                <a:ea typeface="Calibri" pitchFamily="34" charset="-122"/>
                <a:cs typeface="B Nazanin" pitchFamily="34" charset="-120"/>
              </a:rPr>
              <a:t>سنجش قطر با جدول‌های نقطه شکست EUCAST نسخه ۱۶٫۰</a:t>
            </a:r>
            <a:endParaRPr lang="en-US" sz="1150" dirty="0"/>
          </a:p>
        </p:txBody>
      </p:sp>
      <p:sp>
        <p:nvSpPr>
          <p:cNvPr id="27" name="Text 25"/>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روش پیشنهادی</a:t>
            </a:r>
            <a:endParaRPr lang="en-US" sz="900" dirty="0"/>
          </a:p>
        </p:txBody>
      </p:sp>
      <p:sp>
        <p:nvSpPr>
          <p:cNvPr id="28" name="Text 26"/>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۹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7620000" y="6803000"/>
            <a:ext cx="4572000" cy="55000"/>
          </a:xfrm>
          <a:prstGeom prst="rect">
            <a:avLst/>
          </a:prstGeom>
          <a:solidFill>
            <a:srgbClr val="8C1515"/>
          </a:solidFill>
          <a:ln>
            <a:noFill/>
          </a:ln>
        </p:spPr>
        <p:txBody>
          <a:bodyPr/>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ترجمه خطا به زبان بالینی</a:t>
            </a:r>
            <a:endParaRPr lang="en-US" sz="3000" dirty="0"/>
          </a:p>
        </p:txBody>
      </p:sp>
      <p:graphicFrame>
        <p:nvGraphicFramePr>
          <p:cNvPr id="4" name="Chart 0" descr=""/>
          <p:cNvGraphicFramePr/>
          <p:nvPr/>
        </p:nvGraphicFramePr>
        <p:xfrm>
          <a:off x="4968240" y="137160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16280" y="1417320"/>
            <a:ext cx="3931920" cy="594360"/>
          </a:xfrm>
          <a:prstGeom prst="rect">
            <a:avLst/>
          </a:prstGeom>
          <a:noFill/>
          <a:ln/>
        </p:spPr>
        <p:txBody>
          <a:bodyPr wrap="square" rtlCol="0" anchor="ctr"/>
          <a:lstStyle/>
          <a:p>
            <a:pPr indent="0" marL="0" rtl="1" algn="r">
              <a:buNone/>
            </a:pPr>
            <a:r>
              <a:rPr lang="en-US" sz="3200" b="1" dirty="0">
                <a:solidFill>
                  <a:srgbClr val="8C1515"/>
                </a:solidFill>
                <a:latin typeface="Cambria" pitchFamily="34" charset="0"/>
                <a:ea typeface="Cambria" pitchFamily="34" charset="-122"/>
                <a:cs typeface="B Titr" pitchFamily="34" charset="-120"/>
              </a:rPr>
              <a:t>۸۳٫۲٪</a:t>
            </a:r>
            <a:endParaRPr lang="en-US" sz="3200" dirty="0"/>
          </a:p>
        </p:txBody>
      </p:sp>
      <p:sp>
        <p:nvSpPr>
          <p:cNvPr id="6" name="Text 3"/>
          <p:cNvSpPr txBox="1"/>
          <p:nvPr/>
        </p:nvSpPr>
        <p:spPr>
          <a:xfrm>
            <a:off x="716280" y="1984248"/>
            <a:ext cx="3931920" cy="411480"/>
          </a:xfrm>
          <a:prstGeom prst="rect">
            <a:avLst/>
          </a:prstGeom>
          <a:noFill/>
          <a:ln/>
        </p:spPr>
        <p:txBody>
          <a:bodyPr wrap="square" rtlCol="0" anchor="ctr"/>
          <a:lstStyle/>
          <a:p>
            <a:pPr indent="0" marL="0" rtl="1" algn="r">
              <a:buNone/>
            </a:pPr>
            <a:r>
              <a:rPr lang="en-US" sz="1300" dirty="0">
                <a:solidFill>
                  <a:srgbClr val="716E69"/>
                </a:solidFill>
                <a:latin typeface="Calibri" pitchFamily="34" charset="0"/>
                <a:ea typeface="Calibri" pitchFamily="34" charset="-122"/>
                <a:cs typeface="B Nazanin" pitchFamily="34" charset="-120"/>
              </a:rPr>
              <a:t>توافق دسته‌ای — از ۳۱٬۷۵۹ تصمیم شبیه‌سازی‌شده</a:t>
            </a:r>
            <a:endParaRPr lang="en-US" sz="1300" dirty="0"/>
          </a:p>
        </p:txBody>
      </p:sp>
      <p:sp>
        <p:nvSpPr>
          <p:cNvPr id="7" name="Text 4"/>
          <p:cNvSpPr txBox="1"/>
          <p:nvPr/>
        </p:nvSpPr>
        <p:spPr>
          <a:xfrm>
            <a:off x="716280" y="2834640"/>
            <a:ext cx="3931920" cy="594360"/>
          </a:xfrm>
          <a:prstGeom prst="rect">
            <a:avLst/>
          </a:prstGeom>
          <a:noFill/>
          <a:ln/>
        </p:spPr>
        <p:txBody>
          <a:bodyPr wrap="square" rtlCol="0" anchor="ctr"/>
          <a:lstStyle/>
          <a:p>
            <a:pPr indent="0" marL="0" rtl="1" algn="r">
              <a:buNone/>
            </a:pPr>
            <a:r>
              <a:rPr lang="en-US" sz="3200" b="1" dirty="0">
                <a:solidFill>
                  <a:srgbClr val="E98300"/>
                </a:solidFill>
                <a:latin typeface="Cambria" pitchFamily="34" charset="0"/>
                <a:ea typeface="Cambria" pitchFamily="34" charset="-122"/>
                <a:cs typeface="B Titr" pitchFamily="34" charset="-120"/>
              </a:rPr>
              <a:t>۶٫۱۹٪</a:t>
            </a:r>
            <a:endParaRPr lang="en-US" sz="3200" dirty="0"/>
          </a:p>
        </p:txBody>
      </p:sp>
      <p:sp>
        <p:nvSpPr>
          <p:cNvPr id="8" name="Text 5"/>
          <p:cNvSpPr txBox="1"/>
          <p:nvPr/>
        </p:nvSpPr>
        <p:spPr>
          <a:xfrm>
            <a:off x="716280" y="3401568"/>
            <a:ext cx="3931920" cy="411480"/>
          </a:xfrm>
          <a:prstGeom prst="rect">
            <a:avLst/>
          </a:prstGeom>
          <a:noFill/>
          <a:ln/>
        </p:spPr>
        <p:txBody>
          <a:bodyPr wrap="square" rtlCol="0" anchor="ctr"/>
          <a:lstStyle/>
          <a:p>
            <a:pPr indent="0" marL="0" rtl="1" algn="r">
              <a:buNone/>
            </a:pPr>
            <a:r>
              <a:rPr lang="en-US" sz="1300" dirty="0">
                <a:solidFill>
                  <a:srgbClr val="716E69"/>
                </a:solidFill>
                <a:latin typeface="Calibri" pitchFamily="34" charset="0"/>
                <a:ea typeface="Calibri" pitchFamily="34" charset="-122"/>
                <a:cs typeface="B Nazanin" pitchFamily="34" charset="-120"/>
              </a:rPr>
              <a:t>خطای بسیار عمده — سقف مرسوم ۱٫۵٪</a:t>
            </a:r>
            <a:endParaRPr lang="en-US" sz="1300" dirty="0"/>
          </a:p>
        </p:txBody>
      </p:sp>
      <p:sp>
        <p:nvSpPr>
          <p:cNvPr id="9" name="Text 6"/>
          <p:cNvSpPr txBox="1"/>
          <p:nvPr/>
        </p:nvSpPr>
        <p:spPr>
          <a:xfrm>
            <a:off x="716280" y="4251960"/>
            <a:ext cx="3931920" cy="594360"/>
          </a:xfrm>
          <a:prstGeom prst="rect">
            <a:avLst/>
          </a:prstGeom>
          <a:noFill/>
          <a:ln/>
        </p:spPr>
        <p:txBody>
          <a:bodyPr wrap="square" rtlCol="0" anchor="ctr"/>
          <a:lstStyle/>
          <a:p>
            <a:pPr indent="0" marL="0" rtl="1" algn="r">
              <a:buNone/>
            </a:pPr>
            <a:r>
              <a:rPr lang="en-US" sz="3200" b="1" dirty="0">
                <a:solidFill>
                  <a:srgbClr val="E98300"/>
                </a:solidFill>
                <a:latin typeface="Cambria" pitchFamily="34" charset="0"/>
                <a:ea typeface="Cambria" pitchFamily="34" charset="-122"/>
                <a:cs typeface="B Titr" pitchFamily="34" charset="-120"/>
              </a:rPr>
              <a:t>۹٫۲۴٪</a:t>
            </a:r>
            <a:endParaRPr lang="en-US" sz="3200" dirty="0"/>
          </a:p>
        </p:txBody>
      </p:sp>
      <p:sp>
        <p:nvSpPr>
          <p:cNvPr id="10" name="Text 7"/>
          <p:cNvSpPr txBox="1"/>
          <p:nvPr/>
        </p:nvSpPr>
        <p:spPr>
          <a:xfrm>
            <a:off x="716280" y="4818888"/>
            <a:ext cx="3931920" cy="411480"/>
          </a:xfrm>
          <a:prstGeom prst="rect">
            <a:avLst/>
          </a:prstGeom>
          <a:noFill/>
          <a:ln/>
        </p:spPr>
        <p:txBody>
          <a:bodyPr wrap="square" rtlCol="0" anchor="ctr"/>
          <a:lstStyle/>
          <a:p>
            <a:pPr indent="0" marL="0" rtl="1" algn="r">
              <a:buNone/>
            </a:pPr>
            <a:r>
              <a:rPr lang="en-US" sz="1300" dirty="0">
                <a:solidFill>
                  <a:srgbClr val="716E69"/>
                </a:solidFill>
                <a:latin typeface="Calibri" pitchFamily="34" charset="0"/>
                <a:ea typeface="Calibri" pitchFamily="34" charset="-122"/>
                <a:cs typeface="B Nazanin" pitchFamily="34" charset="-120"/>
              </a:rPr>
              <a:t>خطای عمده — سقف مرسوم ۳٫۰٪</a:t>
            </a:r>
            <a:endParaRPr lang="en-US" sz="1300" dirty="0"/>
          </a:p>
        </p:txBody>
      </p:sp>
      <p:sp>
        <p:nvSpPr>
          <p:cNvPr id="11" name="Text 8"/>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تفسیر بالینی</a:t>
            </a:r>
            <a:endParaRPr lang="en-US" sz="900" dirty="0"/>
          </a:p>
        </p:txBody>
      </p:sp>
      <p:sp>
        <p:nvSpPr>
          <p:cNvPr id="12" name="Text 9"/>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۱۵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4572000" y="6803000"/>
            <a:ext cx="7620000" cy="55000"/>
          </a:xfrm>
          <a:prstGeom prst="rect">
            <a:avLst/>
          </a:prstGeom>
          <a:solidFill>
            <a:srgbClr val="8C1515"/>
          </a:solidFill>
          <a:ln>
            <a:noFill/>
          </a:ln>
        </p:spPr>
        <p:txBody>
          <a:bodyPr/>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نتایج: دقت قطر هاله و اثر ترکیب</a:t>
            </a:r>
            <a:endParaRPr lang="en-US" sz="3000" dirty="0"/>
          </a:p>
        </p:txBody>
      </p:sp>
      <p:sp>
        <p:nvSpPr>
          <p:cNvPr id="4" name="Shape 2"/>
          <p:cNvSpPr/>
          <p:nvPr/>
        </p:nvSpPr>
        <p:spPr>
          <a:xfrm>
            <a:off x="6431280" y="1325880"/>
            <a:ext cx="5212080" cy="4297680"/>
          </a:xfrm>
          <a:prstGeom prst="roundRect">
            <a:avLst>
              <a:gd name="adj" fmla="val 1702"/>
            </a:avLst>
          </a:prstGeom>
          <a:solidFill>
            <a:srgbClr val="FFFFFF"/>
          </a:solidFill>
          <a:ln w="12700">
            <a:solidFill>
              <a:srgbClr val="E8E5E0"/>
            </a:solidFill>
            <a:prstDash val="solid"/>
          </a:ln>
        </p:spPr>
      </p:sp>
      <p:sp>
        <p:nvSpPr>
          <p:cNvPr id="5" name="Shape 3"/>
          <p:cNvSpPr/>
          <p:nvPr/>
        </p:nvSpPr>
        <p:spPr>
          <a:xfrm>
            <a:off x="6431280" y="1325880"/>
            <a:ext cx="5212080" cy="594360"/>
          </a:xfrm>
          <a:prstGeom prst="rect">
            <a:avLst/>
          </a:prstGeom>
          <a:solidFill>
            <a:srgbClr val="716E69"/>
          </a:solidFill>
          <a:ln/>
        </p:spPr>
      </p:sp>
      <p:sp>
        <p:nvSpPr>
          <p:cNvPr id="6" name="Text 4"/>
          <p:cNvSpPr txBox="1"/>
          <p:nvPr/>
        </p:nvSpPr>
        <p:spPr>
          <a:xfrm>
            <a:off x="6431280" y="1325880"/>
            <a:ext cx="5212080" cy="594360"/>
          </a:xfrm>
          <a:prstGeom prst="rect">
            <a:avLst/>
          </a:prstGeom>
          <a:noFill/>
          <a:ln/>
        </p:spPr>
        <p:txBody>
          <a:bodyPr wrap="square" rtlCol="0" anchor="ctr"/>
          <a:lstStyle/>
          <a:p>
            <a:pPr algn="ctr" indent="0" marL="0" rtl="1">
              <a:buNone/>
            </a:pPr>
            <a:r>
              <a:rPr lang="en-US" sz="1600" b="1" dirty="0">
                <a:solidFill>
                  <a:srgbClr val="FFFFFF"/>
                </a:solidFill>
                <a:latin typeface="Cambria" pitchFamily="34" charset="0"/>
                <a:ea typeface="Cambria" pitchFamily="34" charset="-122"/>
                <a:cs typeface="B Titr" pitchFamily="34" charset="-120"/>
              </a:rPr>
              <a:t>فقط روش پروفایل شعاعی</a:t>
            </a:r>
            <a:endParaRPr lang="en-US" sz="1600" dirty="0"/>
          </a:p>
        </p:txBody>
      </p:sp>
      <p:sp>
        <p:nvSpPr>
          <p:cNvPr id="7" name="Text 5"/>
          <p:cNvSpPr txBox="1"/>
          <p:nvPr/>
        </p:nvSpPr>
        <p:spPr>
          <a:xfrm>
            <a:off x="6797040" y="2148840"/>
            <a:ext cx="4480560" cy="3291840"/>
          </a:xfrm>
          <a:prstGeom prst="rect">
            <a:avLst/>
          </a:prstGeom>
          <a:noFill/>
          <a:ln/>
        </p:spPr>
        <p:txBody>
          <a:bodyPr wrap="square" rtlCol="0" anchor="ctr"/>
          <a:lstStyle/>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خطای متوسط: ۵٫۵۰ میلی‌متر</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دقت: ۰٫۷۸۰</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هاله‌های یافته‌شده: ۵۷ از ۶۳</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حدود توافق: ۱۶٫۱− تا ۱۵٫۱+ میلی‌متر</a:t>
            </a:r>
            <a:endParaRPr lang="en-US" sz="1400" dirty="0"/>
          </a:p>
        </p:txBody>
      </p:sp>
      <p:sp>
        <p:nvSpPr>
          <p:cNvPr id="8" name="Shape 6"/>
          <p:cNvSpPr/>
          <p:nvPr/>
        </p:nvSpPr>
        <p:spPr>
          <a:xfrm>
            <a:off x="899160" y="1325880"/>
            <a:ext cx="5212080" cy="4297680"/>
          </a:xfrm>
          <a:prstGeom prst="roundRect">
            <a:avLst>
              <a:gd name="adj" fmla="val 1702"/>
            </a:avLst>
          </a:prstGeom>
          <a:solidFill>
            <a:srgbClr val="F7F5F1"/>
          </a:solidFill>
          <a:ln w="12700">
            <a:solidFill>
              <a:srgbClr val="E8E5E0"/>
            </a:solidFill>
            <a:prstDash val="solid"/>
          </a:ln>
        </p:spPr>
      </p:sp>
      <p:sp>
        <p:nvSpPr>
          <p:cNvPr id="9" name="Shape 7"/>
          <p:cNvSpPr/>
          <p:nvPr/>
        </p:nvSpPr>
        <p:spPr>
          <a:xfrm>
            <a:off x="899160" y="1325880"/>
            <a:ext cx="5212080" cy="594360"/>
          </a:xfrm>
          <a:prstGeom prst="rect">
            <a:avLst/>
          </a:prstGeom>
          <a:solidFill>
            <a:srgbClr val="8C1515"/>
          </a:solidFill>
          <a:ln/>
        </p:spPr>
      </p:sp>
      <p:sp>
        <p:nvSpPr>
          <p:cNvPr id="10" name="Text 8"/>
          <p:cNvSpPr txBox="1"/>
          <p:nvPr/>
        </p:nvSpPr>
        <p:spPr>
          <a:xfrm>
            <a:off x="899160" y="1325880"/>
            <a:ext cx="5212080" cy="594360"/>
          </a:xfrm>
          <a:prstGeom prst="rect">
            <a:avLst/>
          </a:prstGeom>
          <a:noFill/>
          <a:ln/>
        </p:spPr>
        <p:txBody>
          <a:bodyPr wrap="square" rtlCol="0" anchor="ctr"/>
          <a:lstStyle/>
          <a:p>
            <a:pPr algn="ctr" indent="0" marL="0" rtl="1">
              <a:buNone/>
            </a:pPr>
            <a:r>
              <a:rPr lang="en-US" sz="1600" b="1" dirty="0">
                <a:solidFill>
                  <a:srgbClr val="FFFFFF"/>
                </a:solidFill>
                <a:latin typeface="Cambria" pitchFamily="34" charset="0"/>
                <a:ea typeface="Cambria" pitchFamily="34" charset="-122"/>
                <a:cs typeface="B Titr" pitchFamily="34" charset="-120"/>
              </a:rPr>
              <a:t>ترکیب سه روش</a:t>
            </a:r>
            <a:endParaRPr lang="en-US" sz="1600" dirty="0"/>
          </a:p>
        </p:txBody>
      </p:sp>
      <p:sp>
        <p:nvSpPr>
          <p:cNvPr id="11" name="Text 9"/>
          <p:cNvSpPr txBox="1"/>
          <p:nvPr/>
        </p:nvSpPr>
        <p:spPr>
          <a:xfrm>
            <a:off x="1264920" y="2148840"/>
            <a:ext cx="4480560" cy="3291840"/>
          </a:xfrm>
          <a:prstGeom prst="rect">
            <a:avLst/>
          </a:prstGeom>
          <a:noFill/>
          <a:ln/>
        </p:spPr>
        <p:txBody>
          <a:bodyPr wrap="square" rtlCol="0" anchor="ctr"/>
          <a:lstStyle/>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خطای متوسط: ۳٫۸۵ میلی‌متر</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دقت: ۰٫۸۲۴</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هاله‌های یافته‌شده: ۶۰ از ۶۳</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حدود توافق: ۱۲٫۳− تا ۱۱٫۱+ میلی‌متر · میانه خطا ۲٫۱۰ · خطا سی درصد کم شد</a:t>
            </a:r>
            <a:endParaRPr lang="en-US" sz="1400" dirty="0"/>
          </a:p>
        </p:txBody>
      </p:sp>
      <p:sp>
        <p:nvSpPr>
          <p:cNvPr id="12" name="Text 1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نتایج</a:t>
            </a:r>
            <a:endParaRPr lang="en-US" sz="900" dirty="0"/>
          </a:p>
        </p:txBody>
      </p:sp>
      <p:sp>
        <p:nvSpPr>
          <p:cNvPr id="13" name="Text 1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۱۳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5588000" y="6803000"/>
            <a:ext cx="6604000" cy="55000"/>
          </a:xfrm>
          <a:prstGeom prst="rect">
            <a:avLst/>
          </a:prstGeom>
          <a:solidFill>
            <a:srgbClr val="8C1515"/>
          </a:solidFill>
          <a:ln>
            <a:noFill/>
          </a:ln>
        </p:spPr>
        <p:txBody>
          <a:bodyPr/>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یافته اصلی: سقفی که چهار روش مستقل به آن رسیدند</a:t>
            </a:r>
            <a:endParaRPr lang="en-US" sz="3000" dirty="0"/>
          </a:p>
        </p:txBody>
      </p:sp>
      <p:sp>
        <p:nvSpPr>
          <p:cNvPr id="4" name="Text 2"/>
          <p:cNvSpPr txBox="1"/>
          <p:nvPr/>
        </p:nvSpPr>
        <p:spPr>
          <a:xfrm>
            <a:off x="4968240" y="1371600"/>
            <a:ext cx="6675120" cy="4206240"/>
          </a:xfrm>
          <a:prstGeom prst="rect">
            <a:avLst/>
          </a:prstGeom>
          <a:noFill/>
          <a:ln/>
        </p:spPr>
        <p:txBody>
          <a:bodyPr wrap="square" rtlCol="0" anchor="ctr"/>
          <a:lstStyle/>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اندازه‌گیری: روی نیمی از دیسک‌ها، روشنایی داخل هاله تنها ۰٫۳ انحراف معیار فضایی محیط کشت با آن فرق دارد.</a:t>
            </a:r>
            <a:endParaRPr lang="en-US" sz="1600" dirty="0"/>
          </a:p>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کنترل یکم: مرجع داخل هاله در صفر درصد موارد بیرون هاله نیفتاده است.</a:t>
            </a:r>
            <a:endParaRPr lang="en-US" sz="1600" dirty="0"/>
          </a:p>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کنترل دوم: با دادن محل درست مرز به الگوریتم، جدایش به ۰٫۲۹ می‌رسد.</a:t>
            </a:r>
            <a:endParaRPr lang="en-US" sz="1600" dirty="0"/>
          </a:p>
          <a:p>
            <a:pPr marL="342900" indent="-342900" rtl="1" algn="r">
              <a:lnSpc>
                <a:spcPct val="135000"/>
              </a:lnSpc>
              <a:spcAft>
                <a:spcPts val="1600"/>
              </a:spcAft>
              <a:buSzPct val="100000"/>
              <a:buChar char="•"/>
            </a:pPr>
            <a:r>
              <a:rPr lang="en-US" sz="1600" dirty="0">
                <a:solidFill>
                  <a:srgbClr val="2E2D29"/>
                </a:solidFill>
                <a:latin typeface="Calibri" pitchFamily="34" charset="0"/>
                <a:ea typeface="Calibri" pitchFamily="34" charset="-122"/>
                <a:cs typeface="B Nazanin" pitchFamily="34" charset="-120"/>
              </a:rPr>
              <a:t>دو راه استاندارد رد شد: تغییر فضای نوری خطا را به ۷٫۰۰ برد و میانگین‌گیری فضایی ۲٫۶۳ میلی‌متر تاری افزود.</a:t>
            </a:r>
            <a:endParaRPr lang="en-US" sz="1600" dirty="0"/>
          </a:p>
        </p:txBody>
      </p:sp>
      <p:sp>
        <p:nvSpPr>
          <p:cNvPr id="5" name="Shape 3"/>
          <p:cNvSpPr/>
          <p:nvPr/>
        </p:nvSpPr>
        <p:spPr>
          <a:xfrm>
            <a:off x="533400" y="1371600"/>
            <a:ext cx="4114800" cy="4206240"/>
          </a:xfrm>
          <a:prstGeom prst="roundRect">
            <a:avLst>
              <a:gd name="adj" fmla="val 1778"/>
            </a:avLst>
          </a:prstGeom>
          <a:solidFill>
            <a:srgbClr val="F7F5F1"/>
          </a:solidFill>
          <a:ln/>
        </p:spPr>
      </p:sp>
      <p:sp>
        <p:nvSpPr>
          <p:cNvPr id="6" name="Shape 4"/>
          <p:cNvSpPr/>
          <p:nvPr/>
        </p:nvSpPr>
        <p:spPr>
          <a:xfrm>
            <a:off x="2042160" y="1828800"/>
            <a:ext cx="1097280" cy="1097280"/>
          </a:xfrm>
          <a:prstGeom prst="ellipse">
            <a:avLst/>
          </a:prstGeom>
          <a:solidFill>
            <a:srgbClr val="E98300"/>
          </a:solidFill>
          <a:ln/>
        </p:spPr>
      </p:sp>
      <p:sp>
        <p:nvSpPr>
          <p:cNvPr id="7" name="Text 5"/>
          <p:cNvSpPr txBox="1"/>
          <p:nvPr/>
        </p:nvSpPr>
        <p:spPr>
          <a:xfrm>
            <a:off x="2042160" y="1828800"/>
            <a:ext cx="1097280" cy="1097280"/>
          </a:xfrm>
          <a:prstGeom prst="rect">
            <a:avLst/>
          </a:prstGeom>
          <a:noFill/>
          <a:ln/>
        </p:spPr>
        <p:txBody>
          <a:bodyPr wrap="square" rtlCol="0" anchor="ctr"/>
          <a:lstStyle/>
          <a:p>
            <a:pPr algn="ctr" indent="0" marL="0" rtl="1">
              <a:buNone/>
            </a:pPr>
            <a:r>
              <a:rPr lang="en-US" sz="4000" b="1" dirty="0">
                <a:solidFill>
                  <a:srgbClr val="FFFFFF"/>
                </a:solidFill>
                <a:latin typeface="Cambria" pitchFamily="34" charset="0"/>
                <a:ea typeface="Cambria" pitchFamily="34" charset="-122"/>
                <a:cs typeface="B Titr" pitchFamily="34" charset="-120"/>
              </a:rPr>
              <a:t>!</a:t>
            </a:r>
            <a:endParaRPr lang="en-US" sz="4000" dirty="0"/>
          </a:p>
        </p:txBody>
      </p:sp>
      <p:sp>
        <p:nvSpPr>
          <p:cNvPr id="8" name="Text 6"/>
          <p:cNvSpPr txBox="1"/>
          <p:nvPr/>
        </p:nvSpPr>
        <p:spPr>
          <a:xfrm>
            <a:off x="716280" y="3108960"/>
            <a:ext cx="3657600" cy="365760"/>
          </a:xfrm>
          <a:prstGeom prst="rect">
            <a:avLst/>
          </a:prstGeom>
          <a:noFill/>
          <a:ln/>
        </p:spPr>
        <p:txBody>
          <a:bodyPr wrap="square" rtlCol="0" anchor="ctr"/>
          <a:lstStyle/>
          <a:p>
            <a:pPr algn="ctr" indent="0" marL="0" rtl="1">
              <a:buNone/>
            </a:pPr>
            <a:r>
              <a:rPr lang="en-US" sz="1800" b="1" dirty="0">
                <a:solidFill>
                  <a:srgbClr val="8C1515"/>
                </a:solidFill>
                <a:latin typeface="Cambria" pitchFamily="34" charset="0"/>
                <a:ea typeface="Cambria" pitchFamily="34" charset="-122"/>
                <a:cs typeface="B Titr" pitchFamily="34" charset="-120"/>
              </a:rPr>
              <a:t>پیام کلیدی</a:t>
            </a:r>
            <a:endParaRPr lang="en-US" sz="1800" dirty="0"/>
          </a:p>
        </p:txBody>
      </p:sp>
      <p:sp>
        <p:nvSpPr>
          <p:cNvPr id="9" name="Text 7"/>
          <p:cNvSpPr txBox="1"/>
          <p:nvPr/>
        </p:nvSpPr>
        <p:spPr>
          <a:xfrm>
            <a:off x="716280" y="3520440"/>
            <a:ext cx="3657600" cy="1828800"/>
          </a:xfrm>
          <a:prstGeom prst="rect">
            <a:avLst/>
          </a:prstGeom>
          <a:noFill/>
          <a:ln/>
        </p:spPr>
        <p:txBody>
          <a:bodyPr wrap="square" rtlCol="0" anchor="ctr"/>
          <a:lstStyle/>
          <a:p>
            <a:pPr algn="ctr" indent="0" marL="0" rtl="1">
              <a:lnSpc>
                <a:spcPct val="130000"/>
              </a:lnSpc>
              <a:buNone/>
            </a:pPr>
            <a:r>
              <a:rPr lang="en-US" sz="1300" dirty="0">
                <a:solidFill>
                  <a:srgbClr val="716E69"/>
                </a:solidFill>
                <a:latin typeface="Calibri" pitchFamily="34" charset="0"/>
                <a:ea typeface="Calibri" pitchFamily="34" charset="-122"/>
                <a:cs typeface="B Nazanin" pitchFamily="34" charset="-120"/>
              </a:rPr>
              <a:t>این اطلاعات به‌کلی از تصویر حذف نشده، اما هیچ‌یک از روش‌های این پروژه نتوانست در این سطح کنتراست به آن دست یابد.</a:t>
            </a:r>
            <a:endParaRPr lang="en-US" sz="1300" dirty="0"/>
          </a:p>
        </p:txBody>
      </p:sp>
      <p:sp>
        <p:nvSpPr>
          <p:cNvPr id="10" name="Text 8"/>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یافته اصلی</a:t>
            </a:r>
            <a:endParaRPr lang="en-US" sz="900" dirty="0"/>
          </a:p>
        </p:txBody>
      </p:sp>
      <p:sp>
        <p:nvSpPr>
          <p:cNvPr id="11" name="Text 9"/>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۱۸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3048000" y="6803000"/>
            <a:ext cx="9144000" cy="55000"/>
          </a:xfrm>
          <a:prstGeom prst="rect">
            <a:avLst/>
          </a:prstGeom>
          <a:solidFill>
            <a:srgbClr val="8C1515"/>
          </a:solidFill>
          <a:ln>
            <a:noFill/>
          </a:ln>
        </p:spPr>
        <p:txBody>
          <a:bodyPr/>
          <a:lstStyl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محدودیت‌ها</a:t>
            </a:r>
            <a:endParaRPr lang="en-US" sz="3000" dirty="0"/>
          </a:p>
        </p:txBody>
      </p:sp>
      <p:sp>
        <p:nvSpPr>
          <p:cNvPr id="4" name="Shape 2"/>
          <p:cNvSpPr/>
          <p:nvPr/>
        </p:nvSpPr>
        <p:spPr>
          <a:xfrm>
            <a:off x="11049000" y="1417320"/>
            <a:ext cx="594360" cy="594360"/>
          </a:xfrm>
          <a:prstGeom prst="ellipse">
            <a:avLst/>
          </a:prstGeom>
          <a:solidFill>
            <a:srgbClr val="620059"/>
          </a:solidFill>
          <a:ln/>
        </p:spPr>
      </p:sp>
      <p:sp>
        <p:nvSpPr>
          <p:cNvPr id="5" name="Text 3"/>
          <p:cNvSpPr txBox="1"/>
          <p:nvPr/>
        </p:nvSpPr>
        <p:spPr>
          <a:xfrm>
            <a:off x="11049000" y="1417320"/>
            <a:ext cx="594360" cy="59436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7025640" y="1371600"/>
            <a:ext cx="3840480" cy="45720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حجم و تنوع داده</a:t>
            </a:r>
            <a:endParaRPr lang="en-US" sz="1600" dirty="0"/>
          </a:p>
        </p:txBody>
      </p:sp>
      <p:sp>
        <p:nvSpPr>
          <p:cNvPr id="7" name="Text 5"/>
          <p:cNvSpPr txBox="1"/>
          <p:nvPr/>
        </p:nvSpPr>
        <p:spPr>
          <a:xfrm>
            <a:off x="579120" y="1371600"/>
            <a:ext cx="6309360" cy="1188720"/>
          </a:xfrm>
          <a:prstGeom prst="rect">
            <a:avLst/>
          </a:prstGeom>
          <a:noFill/>
          <a:ln/>
        </p:spPr>
        <p:txBody>
          <a:bodyPr wrap="square" rtlCol="0" anchor="t"/>
          <a:lstStyle/>
          <a:p>
            <a:pPr indent="0" marL="0" rtl="1" algn="r">
              <a:lnSpc>
                <a:spcPct val="130000"/>
              </a:lnSpc>
              <a:buNone/>
            </a:pPr>
            <a:r>
              <a:rPr lang="en-US" sz="1350" dirty="0">
                <a:solidFill>
                  <a:srgbClr val="716E69"/>
                </a:solidFill>
                <a:latin typeface="Calibri" pitchFamily="34" charset="0"/>
                <a:ea typeface="Calibri" pitchFamily="34" charset="-122"/>
                <a:cs typeface="B Nazanin" pitchFamily="34" charset="-120"/>
              </a:rPr>
              <a:t>یازده عکس و ۹۳ دیسک، همه از یک آزمایشگاه با یک دوربین. توصیف اولیه از دقت، نه اعتبارسنجی بالینی.</a:t>
            </a:r>
            <a:endParaRPr lang="en-US" sz="1350" dirty="0"/>
          </a:p>
        </p:txBody>
      </p:sp>
      <p:sp>
        <p:nvSpPr>
          <p:cNvPr id="8" name="Shape 6"/>
          <p:cNvSpPr/>
          <p:nvPr/>
        </p:nvSpPr>
        <p:spPr>
          <a:xfrm>
            <a:off x="11049000" y="2834640"/>
            <a:ext cx="594360" cy="594360"/>
          </a:xfrm>
          <a:prstGeom prst="ellipse">
            <a:avLst/>
          </a:prstGeom>
          <a:solidFill>
            <a:srgbClr val="620059"/>
          </a:solidFill>
          <a:ln/>
        </p:spPr>
      </p:sp>
      <p:sp>
        <p:nvSpPr>
          <p:cNvPr id="9" name="Text 7"/>
          <p:cNvSpPr txBox="1"/>
          <p:nvPr/>
        </p:nvSpPr>
        <p:spPr>
          <a:xfrm>
            <a:off x="11049000" y="2834640"/>
            <a:ext cx="594360" cy="59436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7025640" y="2788920"/>
            <a:ext cx="3840480" cy="45720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پروتکل تصویربرداری</a:t>
            </a:r>
            <a:endParaRPr lang="en-US" sz="1600" dirty="0"/>
          </a:p>
        </p:txBody>
      </p:sp>
      <p:sp>
        <p:nvSpPr>
          <p:cNvPr id="11" name="Text 9"/>
          <p:cNvSpPr txBox="1"/>
          <p:nvPr/>
        </p:nvSpPr>
        <p:spPr>
          <a:xfrm>
            <a:off x="579120" y="2788920"/>
            <a:ext cx="6309360" cy="1188720"/>
          </a:xfrm>
          <a:prstGeom prst="rect">
            <a:avLst/>
          </a:prstGeom>
          <a:noFill/>
          <a:ln/>
        </p:spPr>
        <p:txBody>
          <a:bodyPr wrap="square" rtlCol="0" anchor="t"/>
          <a:lstStyle/>
          <a:p>
            <a:pPr indent="0" marL="0" rtl="1" algn="r">
              <a:lnSpc>
                <a:spcPct val="130000"/>
              </a:lnSpc>
              <a:buNone/>
            </a:pPr>
            <a:r>
              <a:rPr lang="en-US" sz="1350" dirty="0">
                <a:solidFill>
                  <a:srgbClr val="716E69"/>
                </a:solidFill>
                <a:latin typeface="Calibri" pitchFamily="34" charset="0"/>
                <a:ea typeface="Calibri" pitchFamily="34" charset="-122"/>
                <a:cs typeface="B Nazanin" pitchFamily="34" charset="-120"/>
              </a:rPr>
              <a:t>عکس‌ها با تلفن همراه و در نور اتاق گرفته شده‌اند؛ استاندارد نور بازتابی و زمینه تیره را توصیه می‌کند.</a:t>
            </a:r>
            <a:endParaRPr lang="en-US" sz="1350" dirty="0"/>
          </a:p>
        </p:txBody>
      </p:sp>
      <p:sp>
        <p:nvSpPr>
          <p:cNvPr id="12" name="Shape 10"/>
          <p:cNvSpPr/>
          <p:nvPr/>
        </p:nvSpPr>
        <p:spPr>
          <a:xfrm>
            <a:off x="11049000" y="4251960"/>
            <a:ext cx="594360" cy="594360"/>
          </a:xfrm>
          <a:prstGeom prst="ellipse">
            <a:avLst/>
          </a:prstGeom>
          <a:solidFill>
            <a:srgbClr val="620059"/>
          </a:solidFill>
          <a:ln/>
        </p:spPr>
      </p:sp>
      <p:sp>
        <p:nvSpPr>
          <p:cNvPr id="13" name="Text 11"/>
          <p:cNvSpPr txBox="1"/>
          <p:nvPr/>
        </p:nvSpPr>
        <p:spPr>
          <a:xfrm>
            <a:off x="11049000" y="4251960"/>
            <a:ext cx="594360" cy="59436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7025640" y="4206240"/>
            <a:ext cx="3840480" cy="45720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مرجع و دامنه</a:t>
            </a:r>
            <a:endParaRPr lang="en-US" sz="1600" dirty="0"/>
          </a:p>
        </p:txBody>
      </p:sp>
      <p:sp>
        <p:nvSpPr>
          <p:cNvPr id="15" name="Text 13"/>
          <p:cNvSpPr txBox="1"/>
          <p:nvPr/>
        </p:nvSpPr>
        <p:spPr>
          <a:xfrm>
            <a:off x="579120" y="4206240"/>
            <a:ext cx="6309360" cy="1188720"/>
          </a:xfrm>
          <a:prstGeom prst="rect">
            <a:avLst/>
          </a:prstGeom>
          <a:noFill/>
          <a:ln/>
        </p:spPr>
        <p:txBody>
          <a:bodyPr wrap="square" rtlCol="0" anchor="t"/>
          <a:lstStyle/>
          <a:p>
            <a:pPr indent="0" marL="0" rtl="1" algn="r">
              <a:lnSpc>
                <a:spcPct val="130000"/>
              </a:lnSpc>
              <a:buNone/>
            </a:pPr>
            <a:r>
              <a:rPr lang="en-US" sz="1350" dirty="0">
                <a:solidFill>
                  <a:srgbClr val="716E69"/>
                </a:solidFill>
                <a:latin typeface="Calibri" pitchFamily="34" charset="0"/>
                <a:ea typeface="Calibri" pitchFamily="34" charset="-122"/>
                <a:cs typeface="B Nazanin" pitchFamily="34" charset="-120"/>
              </a:rPr>
              <a:t>عدد دو میلی‌متری کارشناس یک اظهار شفاهی است. نام دارو خوانده نمی‌شود. زمان اجرا یک تا سه دقیقه است.</a:t>
            </a:r>
            <a:endParaRPr lang="en-US" sz="1350" dirty="0"/>
          </a:p>
        </p:txBody>
      </p:sp>
      <p:sp>
        <p:nvSpPr>
          <p:cNvPr id="16" name="Text 14"/>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محدودیت‌ها و جمع‌بندی</a:t>
            </a:r>
            <a:endParaRPr lang="en-US" sz="900" dirty="0"/>
          </a:p>
        </p:txBody>
      </p:sp>
      <p:sp>
        <p:nvSpPr>
          <p:cNvPr id="17" name="Text 15"/>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۲۰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2032000" y="6803000"/>
            <a:ext cx="10160000" cy="55000"/>
          </a:xfrm>
          <a:prstGeom prst="rect">
            <a:avLst/>
          </a:prstGeom>
          <a:solidFill>
            <a:srgbClr val="8C1515"/>
          </a:solidFill>
          <a:ln>
            <a:noFill/>
          </a:ln>
        </p:spPr>
        <p:txBody>
          <a:bodyPr/>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نتیجه‌گیری و دستاوردها</a:t>
            </a:r>
            <a:endParaRPr lang="en-US" sz="3000" dirty="0"/>
          </a:p>
        </p:txBody>
      </p:sp>
      <p:sp>
        <p:nvSpPr>
          <p:cNvPr id="4" name="Shape 2"/>
          <p:cNvSpPr/>
          <p:nvPr/>
        </p:nvSpPr>
        <p:spPr>
          <a:xfrm>
            <a:off x="8122920" y="1371600"/>
            <a:ext cx="3520440" cy="3566160"/>
          </a:xfrm>
          <a:prstGeom prst="roundRect">
            <a:avLst>
              <a:gd name="adj" fmla="val 2078"/>
            </a:avLst>
          </a:prstGeom>
          <a:solidFill>
            <a:srgbClr val="F7F5F1"/>
          </a:solidFill>
          <a:ln/>
        </p:spPr>
      </p:sp>
      <p:sp>
        <p:nvSpPr>
          <p:cNvPr id="5" name="Text 3"/>
          <p:cNvSpPr txBox="1"/>
          <p:nvPr/>
        </p:nvSpPr>
        <p:spPr>
          <a:xfrm>
            <a:off x="8397240" y="1554480"/>
            <a:ext cx="2971800" cy="822960"/>
          </a:xfrm>
          <a:prstGeom prst="rect">
            <a:avLst/>
          </a:prstGeom>
          <a:noFill/>
          <a:ln/>
        </p:spPr>
        <p:txBody>
          <a:bodyPr wrap="square" rtlCol="0" anchor="ctr"/>
          <a:lstStyle/>
          <a:p>
            <a:pPr indent="0" marL="0" rtl="1" algn="r">
              <a:buNone/>
            </a:pPr>
            <a:r>
              <a:rPr lang="en-US" sz="4000" b="1" dirty="0">
                <a:solidFill>
                  <a:srgbClr val="8C1515"/>
                </a:solidFill>
                <a:latin typeface="Cambria" pitchFamily="34" charset="0"/>
                <a:ea typeface="Cambria" pitchFamily="34" charset="-122"/>
                <a:cs typeface="B Titr" pitchFamily="34" charset="-120"/>
              </a:rPr>
              <a:t>۰۱</a:t>
            </a:r>
            <a:endParaRPr lang="en-US" sz="4000" dirty="0"/>
          </a:p>
        </p:txBody>
      </p:sp>
      <p:sp>
        <p:nvSpPr>
          <p:cNvPr id="6" name="Text 4"/>
          <p:cNvSpPr txBox="1"/>
          <p:nvPr/>
        </p:nvSpPr>
        <p:spPr>
          <a:xfrm>
            <a:off x="8397240" y="2468880"/>
            <a:ext cx="2971800" cy="2286000"/>
          </a:xfrm>
          <a:prstGeom prst="rect">
            <a:avLst/>
          </a:prstGeom>
          <a:noFill/>
          <a:ln/>
        </p:spPr>
        <p:txBody>
          <a:bodyPr wrap="square" rtlCol="0" anchor="ctr"/>
          <a:lstStyle/>
          <a:p>
            <a:pPr indent="0" marL="0" rtl="1" algn="r">
              <a:lnSpc>
                <a:spcPct val="135000"/>
              </a:lnSpc>
              <a:buNone/>
            </a:pPr>
            <a:r>
              <a:rPr lang="en-US" sz="1400" dirty="0">
                <a:solidFill>
                  <a:srgbClr val="2E2D29"/>
                </a:solidFill>
                <a:latin typeface="Calibri" pitchFamily="34" charset="0"/>
                <a:ea typeface="Calibri" pitchFamily="34" charset="-122"/>
                <a:cs typeface="B Nazanin" pitchFamily="34" charset="-120"/>
              </a:rPr>
              <a:t>زنجیره‌ای کامل و قطعی از عکس خام تا دسته بالینی. نتیجه روی سه ماشین مستقل بازتولید شد، در یکی بیت به بیت.</a:t>
            </a:r>
            <a:endParaRPr lang="en-US" sz="1400" dirty="0"/>
          </a:p>
        </p:txBody>
      </p:sp>
      <p:sp>
        <p:nvSpPr>
          <p:cNvPr id="7" name="Shape 5"/>
          <p:cNvSpPr/>
          <p:nvPr/>
        </p:nvSpPr>
        <p:spPr>
          <a:xfrm>
            <a:off x="4282440" y="1371600"/>
            <a:ext cx="3520440" cy="3566160"/>
          </a:xfrm>
          <a:prstGeom prst="roundRect">
            <a:avLst>
              <a:gd name="adj" fmla="val 2078"/>
            </a:avLst>
          </a:prstGeom>
          <a:solidFill>
            <a:srgbClr val="F7F5F1"/>
          </a:solidFill>
          <a:ln/>
        </p:spPr>
      </p:sp>
      <p:sp>
        <p:nvSpPr>
          <p:cNvPr id="8" name="Text 6"/>
          <p:cNvSpPr txBox="1"/>
          <p:nvPr/>
        </p:nvSpPr>
        <p:spPr>
          <a:xfrm>
            <a:off x="4556760" y="1554480"/>
            <a:ext cx="2971800" cy="822960"/>
          </a:xfrm>
          <a:prstGeom prst="rect">
            <a:avLst/>
          </a:prstGeom>
          <a:noFill/>
          <a:ln/>
        </p:spPr>
        <p:txBody>
          <a:bodyPr wrap="square" rtlCol="0" anchor="ctr"/>
          <a:lstStyle/>
          <a:p>
            <a:pPr indent="0" marL="0" rtl="1" algn="r">
              <a:buNone/>
            </a:pPr>
            <a:r>
              <a:rPr lang="en-US" sz="4000" b="1" dirty="0">
                <a:solidFill>
                  <a:srgbClr val="8C1515"/>
                </a:solidFill>
                <a:latin typeface="Cambria" pitchFamily="34" charset="0"/>
                <a:ea typeface="Cambria" pitchFamily="34" charset="-122"/>
                <a:cs typeface="B Titr" pitchFamily="34" charset="-120"/>
              </a:rPr>
              <a:t>۰۲</a:t>
            </a:r>
            <a:endParaRPr lang="en-US" sz="4000" dirty="0"/>
          </a:p>
        </p:txBody>
      </p:sp>
      <p:sp>
        <p:nvSpPr>
          <p:cNvPr id="9" name="Text 7"/>
          <p:cNvSpPr txBox="1"/>
          <p:nvPr/>
        </p:nvSpPr>
        <p:spPr>
          <a:xfrm>
            <a:off x="4556760" y="2468880"/>
            <a:ext cx="2971800" cy="2286000"/>
          </a:xfrm>
          <a:prstGeom prst="rect">
            <a:avLst/>
          </a:prstGeom>
          <a:noFill/>
          <a:ln/>
        </p:spPr>
        <p:txBody>
          <a:bodyPr wrap="square" rtlCol="0" anchor="ctr"/>
          <a:lstStyle/>
          <a:p>
            <a:pPr indent="0" marL="0" rtl="1" algn="r">
              <a:lnSpc>
                <a:spcPct val="135000"/>
              </a:lnSpc>
              <a:buNone/>
            </a:pPr>
            <a:r>
              <a:rPr lang="en-US" sz="1400" dirty="0">
                <a:solidFill>
                  <a:srgbClr val="2E2D29"/>
                </a:solidFill>
                <a:latin typeface="Calibri" pitchFamily="34" charset="0"/>
                <a:ea typeface="Calibri" pitchFamily="34" charset="-122"/>
                <a:cs typeface="B Nazanin" pitchFamily="34" charset="-120"/>
              </a:rPr>
              <a:t>مرز هاله با سه روش موازی و ترکیب بر پایه نقاط قوت اندازه‌گیری‌شده. این ترکیب خطا را سی درصد کاهش داد.</a:t>
            </a:r>
            <a:endParaRPr lang="en-US" sz="1400" dirty="0"/>
          </a:p>
        </p:txBody>
      </p:sp>
      <p:sp>
        <p:nvSpPr>
          <p:cNvPr id="10" name="Shape 8"/>
          <p:cNvSpPr/>
          <p:nvPr/>
        </p:nvSpPr>
        <p:spPr>
          <a:xfrm>
            <a:off x="441960" y="1371600"/>
            <a:ext cx="3520440" cy="3566160"/>
          </a:xfrm>
          <a:prstGeom prst="roundRect">
            <a:avLst>
              <a:gd name="adj" fmla="val 2078"/>
            </a:avLst>
          </a:prstGeom>
          <a:solidFill>
            <a:srgbClr val="F7F5F1"/>
          </a:solidFill>
          <a:ln/>
        </p:spPr>
      </p:sp>
      <p:sp>
        <p:nvSpPr>
          <p:cNvPr id="11" name="Text 9"/>
          <p:cNvSpPr txBox="1"/>
          <p:nvPr/>
        </p:nvSpPr>
        <p:spPr>
          <a:xfrm>
            <a:off x="716280" y="1554480"/>
            <a:ext cx="2971800" cy="822960"/>
          </a:xfrm>
          <a:prstGeom prst="rect">
            <a:avLst/>
          </a:prstGeom>
          <a:noFill/>
          <a:ln/>
        </p:spPr>
        <p:txBody>
          <a:bodyPr wrap="square" rtlCol="0" anchor="ctr"/>
          <a:lstStyle/>
          <a:p>
            <a:pPr indent="0" marL="0" rtl="1" algn="r">
              <a:buNone/>
            </a:pPr>
            <a:r>
              <a:rPr lang="en-US" sz="4000" b="1" dirty="0">
                <a:solidFill>
                  <a:srgbClr val="8C1515"/>
                </a:solidFill>
                <a:latin typeface="Cambria" pitchFamily="34" charset="0"/>
                <a:ea typeface="Cambria" pitchFamily="34" charset="-122"/>
                <a:cs typeface="B Titr" pitchFamily="34" charset="-120"/>
              </a:rPr>
              <a:t>۰۳</a:t>
            </a:r>
            <a:endParaRPr lang="en-US" sz="4000" dirty="0"/>
          </a:p>
        </p:txBody>
      </p:sp>
      <p:sp>
        <p:nvSpPr>
          <p:cNvPr id="12" name="Text 10"/>
          <p:cNvSpPr txBox="1"/>
          <p:nvPr/>
        </p:nvSpPr>
        <p:spPr>
          <a:xfrm>
            <a:off x="716280" y="2468880"/>
            <a:ext cx="2971800" cy="2286000"/>
          </a:xfrm>
          <a:prstGeom prst="rect">
            <a:avLst/>
          </a:prstGeom>
          <a:noFill/>
          <a:ln/>
        </p:spPr>
        <p:txBody>
          <a:bodyPr wrap="square" rtlCol="0" anchor="ctr"/>
          <a:lstStyle/>
          <a:p>
            <a:pPr indent="0" marL="0" rtl="1" algn="r">
              <a:lnSpc>
                <a:spcPct val="135000"/>
              </a:lnSpc>
              <a:buNone/>
            </a:pPr>
            <a:r>
              <a:rPr lang="en-US" sz="1400" dirty="0">
                <a:solidFill>
                  <a:srgbClr val="2E2D29"/>
                </a:solidFill>
                <a:latin typeface="Calibri" pitchFamily="34" charset="0"/>
                <a:ea typeface="Calibri" pitchFamily="34" charset="-122"/>
                <a:cs typeface="B Nazanin" pitchFamily="34" charset="-120"/>
              </a:rPr>
              <a:t>هر تصمیم طراحی با اندازه‌گیری سنجیده شد، از جمله معیاری که در اعتبارسنجی متقاطع رد شد و کنار گذاشته شد.</a:t>
            </a:r>
            <a:endParaRPr lang="en-US" sz="1400" dirty="0"/>
          </a:p>
        </p:txBody>
      </p:sp>
      <p:sp>
        <p:nvSpPr>
          <p:cNvPr id="13" name="Shape 11"/>
          <p:cNvSpPr/>
          <p:nvPr/>
        </p:nvSpPr>
        <p:spPr>
          <a:xfrm>
            <a:off x="551688" y="5212080"/>
            <a:ext cx="11091672" cy="0"/>
          </a:xfrm>
          <a:prstGeom prst="line">
            <a:avLst/>
          </a:prstGeom>
          <a:noFill/>
          <a:ln w="12700">
            <a:solidFill>
              <a:srgbClr val="E8E5E0"/>
            </a:solidFill>
            <a:prstDash val="solid"/>
          </a:ln>
        </p:spPr>
      </p:sp>
      <p:sp>
        <p:nvSpPr>
          <p:cNvPr id="14" name="Text 12"/>
          <p:cNvSpPr txBox="1"/>
          <p:nvPr/>
        </p:nvSpPr>
        <p:spPr>
          <a:xfrm>
            <a:off x="551688" y="5394960"/>
            <a:ext cx="11091672" cy="640080"/>
          </a:xfrm>
          <a:prstGeom prst="rect">
            <a:avLst/>
          </a:prstGeom>
          <a:noFill/>
          <a:ln/>
        </p:spPr>
        <p:txBody>
          <a:bodyPr wrap="square" rtlCol="0" anchor="ctr"/>
          <a:lstStyle/>
          <a:p>
            <a:pPr algn="ctr" indent="0" marL="0" rtl="1">
              <a:buNone/>
            </a:pPr>
            <a:r>
              <a:rPr lang="en-US" sz="1600" b="1" i="1" dirty="0">
                <a:solidFill>
                  <a:srgbClr val="8C1515"/>
                </a:solidFill>
                <a:latin typeface="Cambria" pitchFamily="34" charset="0"/>
                <a:ea typeface="Cambria" pitchFamily="34" charset="-122"/>
                <a:cs typeface="B Titr" pitchFamily="34" charset="-120"/>
              </a:rPr>
              <a:t>یافتن دیسک حل شده است. تعیین مرز هاله تا حدی حل شده، و علت باقی‌مانده‌اش اندازه‌گیری شده است، نه حدس زده.</a:t>
            </a:r>
            <a:endParaRPr lang="en-US" sz="1600" dirty="0"/>
          </a:p>
        </p:txBody>
      </p:sp>
      <p:sp>
        <p:nvSpPr>
          <p:cNvPr id="15" name="Text 13"/>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محدودیت‌ها و جمع‌بندی</a:t>
            </a:r>
            <a:endParaRPr lang="en-US" sz="900" dirty="0"/>
          </a:p>
        </p:txBody>
      </p:sp>
      <p:sp>
        <p:nvSpPr>
          <p:cNvPr id="16" name="Text 14"/>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۲۱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1524000" y="6803000"/>
            <a:ext cx="10668000" cy="55000"/>
          </a:xfrm>
          <a:prstGeom prst="rect">
            <a:avLst/>
          </a:prstGeom>
          <a:solidFill>
            <a:srgbClr val="8C1515"/>
          </a:solidFill>
          <a:ln>
            <a:noFill/>
          </a:ln>
        </p:spPr>
        <p:txBody>
          <a:bodyPr/>
          <a:lstStyl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کار آینده</a:t>
            </a:r>
            <a:endParaRPr lang="en-US" sz="3000" dirty="0"/>
          </a:p>
        </p:txBody>
      </p:sp>
      <p:sp>
        <p:nvSpPr>
          <p:cNvPr id="4" name="Shape 2"/>
          <p:cNvSpPr/>
          <p:nvPr/>
        </p:nvSpPr>
        <p:spPr>
          <a:xfrm>
            <a:off x="8122920" y="1371600"/>
            <a:ext cx="3520440" cy="4206240"/>
          </a:xfrm>
          <a:prstGeom prst="roundRect">
            <a:avLst>
              <a:gd name="adj" fmla="val 2078"/>
            </a:avLst>
          </a:prstGeom>
          <a:solidFill>
            <a:srgbClr val="F7F5F1"/>
          </a:solidFill>
          <a:ln/>
        </p:spPr>
      </p:sp>
      <p:sp>
        <p:nvSpPr>
          <p:cNvPr id="5" name="Shape 3"/>
          <p:cNvSpPr/>
          <p:nvPr/>
        </p:nvSpPr>
        <p:spPr>
          <a:xfrm>
            <a:off x="10911840" y="1645920"/>
            <a:ext cx="457200" cy="457200"/>
          </a:xfrm>
          <a:prstGeom prst="ellipse">
            <a:avLst/>
          </a:prstGeom>
          <a:solidFill>
            <a:srgbClr val="E98300"/>
          </a:solidFill>
          <a:ln/>
        </p:spPr>
      </p:sp>
      <p:sp>
        <p:nvSpPr>
          <p:cNvPr id="6" name="Text 4"/>
          <p:cNvSpPr txBox="1"/>
          <p:nvPr/>
        </p:nvSpPr>
        <p:spPr>
          <a:xfrm>
            <a:off x="8397240" y="2286000"/>
            <a:ext cx="2971800" cy="365760"/>
          </a:xfrm>
          <a:prstGeom prst="rect">
            <a:avLst/>
          </a:prstGeom>
          <a:noFill/>
          <a:ln/>
        </p:spPr>
        <p:txBody>
          <a:bodyPr wrap="square" rtlCol="0" anchor="ctr"/>
          <a:lstStyle/>
          <a:p>
            <a:pPr indent="0" marL="0" rtl="1" algn="r">
              <a:buNone/>
            </a:pPr>
            <a:r>
              <a:rPr lang="en-US" sz="1700" b="1" dirty="0">
                <a:solidFill>
                  <a:srgbClr val="E98300"/>
                </a:solidFill>
                <a:latin typeface="Cambria" pitchFamily="34" charset="0"/>
                <a:ea typeface="Cambria" pitchFamily="34" charset="-122"/>
                <a:cs typeface="B Titr" pitchFamily="34" charset="-120"/>
              </a:rPr>
              <a:t>کوتاه‌مدت</a:t>
            </a:r>
            <a:endParaRPr lang="en-US" sz="1700" dirty="0"/>
          </a:p>
        </p:txBody>
      </p:sp>
      <p:sp>
        <p:nvSpPr>
          <p:cNvPr id="7" name="Text 5"/>
          <p:cNvSpPr txBox="1"/>
          <p:nvPr/>
        </p:nvSpPr>
        <p:spPr>
          <a:xfrm>
            <a:off x="8397240" y="2743200"/>
            <a:ext cx="2971800" cy="2651760"/>
          </a:xfrm>
          <a:prstGeom prst="rect">
            <a:avLst/>
          </a:prstGeom>
          <a:noFill/>
          <a:ln/>
        </p:spPr>
        <p:txBody>
          <a:bodyPr wrap="square" rtlCol="0" anchor="ctr"/>
          <a:lstStyle/>
          <a:p>
            <a:pPr indent="0" marL="0" rtl="1" algn="r">
              <a:lnSpc>
                <a:spcPct val="135000"/>
              </a:lnSpc>
              <a:buNone/>
            </a:pPr>
            <a:r>
              <a:rPr lang="en-US" sz="1350" dirty="0">
                <a:solidFill>
                  <a:srgbClr val="2E2D29"/>
                </a:solidFill>
                <a:latin typeface="Calibri" pitchFamily="34" charset="0"/>
                <a:ea typeface="Calibri" pitchFamily="34" charset="-122"/>
                <a:cs typeface="B Nazanin" pitchFamily="34" charset="-120"/>
              </a:rPr>
              <a:t>افزودن مدل سیگموئید گذار شعاعی. سنجش آفلاین روی ۵۷ دیسک مشترک: خطای ۲٫۷۹ و میانه ۱٫۰۳ میلی‌متر.</a:t>
            </a:r>
            <a:endParaRPr lang="en-US" sz="1350" dirty="0"/>
          </a:p>
        </p:txBody>
      </p:sp>
      <p:sp>
        <p:nvSpPr>
          <p:cNvPr id="8" name="Shape 6"/>
          <p:cNvSpPr/>
          <p:nvPr/>
        </p:nvSpPr>
        <p:spPr>
          <a:xfrm>
            <a:off x="4282440" y="1371600"/>
            <a:ext cx="3520440" cy="4206240"/>
          </a:xfrm>
          <a:prstGeom prst="roundRect">
            <a:avLst>
              <a:gd name="adj" fmla="val 2078"/>
            </a:avLst>
          </a:prstGeom>
          <a:solidFill>
            <a:srgbClr val="F7F5F1"/>
          </a:solidFill>
          <a:ln/>
        </p:spPr>
      </p:sp>
      <p:sp>
        <p:nvSpPr>
          <p:cNvPr id="9" name="Shape 7"/>
          <p:cNvSpPr/>
          <p:nvPr/>
        </p:nvSpPr>
        <p:spPr>
          <a:xfrm>
            <a:off x="7071360" y="1645920"/>
            <a:ext cx="457200" cy="457200"/>
          </a:xfrm>
          <a:prstGeom prst="ellipse">
            <a:avLst/>
          </a:prstGeom>
          <a:solidFill>
            <a:srgbClr val="007C92"/>
          </a:solidFill>
          <a:ln/>
        </p:spPr>
      </p:sp>
      <p:sp>
        <p:nvSpPr>
          <p:cNvPr id="10" name="Text 8"/>
          <p:cNvSpPr txBox="1"/>
          <p:nvPr/>
        </p:nvSpPr>
        <p:spPr>
          <a:xfrm>
            <a:off x="4556760" y="2286000"/>
            <a:ext cx="2971800" cy="365760"/>
          </a:xfrm>
          <a:prstGeom prst="rect">
            <a:avLst/>
          </a:prstGeom>
          <a:noFill/>
          <a:ln/>
        </p:spPr>
        <p:txBody>
          <a:bodyPr wrap="square" rtlCol="0" anchor="ctr"/>
          <a:lstStyle/>
          <a:p>
            <a:pPr indent="0" marL="0" rtl="1" algn="r">
              <a:buNone/>
            </a:pPr>
            <a:r>
              <a:rPr lang="en-US" sz="1700" b="1" dirty="0">
                <a:solidFill>
                  <a:srgbClr val="007C92"/>
                </a:solidFill>
                <a:latin typeface="Cambria" pitchFamily="34" charset="0"/>
                <a:ea typeface="Cambria" pitchFamily="34" charset="-122"/>
                <a:cs typeface="B Titr" pitchFamily="34" charset="-120"/>
              </a:rPr>
              <a:t>میان‌مدت</a:t>
            </a:r>
            <a:endParaRPr lang="en-US" sz="1700" dirty="0"/>
          </a:p>
        </p:txBody>
      </p:sp>
      <p:sp>
        <p:nvSpPr>
          <p:cNvPr id="11" name="Text 9"/>
          <p:cNvSpPr txBox="1"/>
          <p:nvPr/>
        </p:nvSpPr>
        <p:spPr>
          <a:xfrm>
            <a:off x="4556760" y="2743200"/>
            <a:ext cx="2971800" cy="2651760"/>
          </a:xfrm>
          <a:prstGeom prst="rect">
            <a:avLst/>
          </a:prstGeom>
          <a:noFill/>
          <a:ln/>
        </p:spPr>
        <p:txBody>
          <a:bodyPr wrap="square" rtlCol="0" anchor="ctr"/>
          <a:lstStyle/>
          <a:p>
            <a:pPr indent="0" marL="0" rtl="1" algn="r">
              <a:lnSpc>
                <a:spcPct val="135000"/>
              </a:lnSpc>
              <a:buNone/>
            </a:pPr>
            <a:r>
              <a:rPr lang="en-US" sz="1350" dirty="0">
                <a:solidFill>
                  <a:srgbClr val="2E2D29"/>
                </a:solidFill>
                <a:latin typeface="Calibri" pitchFamily="34" charset="0"/>
                <a:ea typeface="Calibri" pitchFamily="34" charset="-122"/>
                <a:cs typeface="B Nazanin" pitchFamily="34" charset="-120"/>
              </a:rPr>
              <a:t>چهار شرط تصویربرداری: نور از پشت ظرف، کارت خاکستری مرجع، عکس در چند زمان، و مربع مرجع ۱۰ میلی‌متری.</a:t>
            </a:r>
            <a:endParaRPr lang="en-US" sz="1350" dirty="0"/>
          </a:p>
        </p:txBody>
      </p:sp>
      <p:sp>
        <p:nvSpPr>
          <p:cNvPr id="12" name="Shape 10"/>
          <p:cNvSpPr/>
          <p:nvPr/>
        </p:nvSpPr>
        <p:spPr>
          <a:xfrm>
            <a:off x="441960" y="1371600"/>
            <a:ext cx="3520440" cy="4206240"/>
          </a:xfrm>
          <a:prstGeom prst="roundRect">
            <a:avLst>
              <a:gd name="adj" fmla="val 2078"/>
            </a:avLst>
          </a:prstGeom>
          <a:solidFill>
            <a:srgbClr val="F7F5F1"/>
          </a:solidFill>
          <a:ln/>
        </p:spPr>
      </p:sp>
      <p:sp>
        <p:nvSpPr>
          <p:cNvPr id="13" name="Shape 11"/>
          <p:cNvSpPr/>
          <p:nvPr/>
        </p:nvSpPr>
        <p:spPr>
          <a:xfrm>
            <a:off x="3230880" y="1645920"/>
            <a:ext cx="457200" cy="457200"/>
          </a:xfrm>
          <a:prstGeom prst="ellipse">
            <a:avLst/>
          </a:prstGeom>
          <a:solidFill>
            <a:srgbClr val="620059"/>
          </a:solidFill>
          <a:ln/>
        </p:spPr>
      </p:sp>
      <p:sp>
        <p:nvSpPr>
          <p:cNvPr id="14" name="Text 12"/>
          <p:cNvSpPr txBox="1"/>
          <p:nvPr/>
        </p:nvSpPr>
        <p:spPr>
          <a:xfrm>
            <a:off x="716280" y="2286000"/>
            <a:ext cx="2971800" cy="365760"/>
          </a:xfrm>
          <a:prstGeom prst="rect">
            <a:avLst/>
          </a:prstGeom>
          <a:noFill/>
          <a:ln/>
        </p:spPr>
        <p:txBody>
          <a:bodyPr wrap="square" rtlCol="0" anchor="ctr"/>
          <a:lstStyle/>
          <a:p>
            <a:pPr indent="0" marL="0" rtl="1" algn="r">
              <a:buNone/>
            </a:pPr>
            <a:r>
              <a:rPr lang="en-US" sz="1700" b="1" dirty="0">
                <a:solidFill>
                  <a:srgbClr val="620059"/>
                </a:solidFill>
                <a:latin typeface="Cambria" pitchFamily="34" charset="0"/>
                <a:ea typeface="Cambria" pitchFamily="34" charset="-122"/>
                <a:cs typeface="B Titr" pitchFamily="34" charset="-120"/>
              </a:rPr>
              <a:t>بلندمدت</a:t>
            </a:r>
            <a:endParaRPr lang="en-US" sz="1700" dirty="0"/>
          </a:p>
        </p:txBody>
      </p:sp>
      <p:sp>
        <p:nvSpPr>
          <p:cNvPr id="15" name="Text 13"/>
          <p:cNvSpPr txBox="1"/>
          <p:nvPr/>
        </p:nvSpPr>
        <p:spPr>
          <a:xfrm>
            <a:off x="716280" y="2743200"/>
            <a:ext cx="2971800" cy="2651760"/>
          </a:xfrm>
          <a:prstGeom prst="rect">
            <a:avLst/>
          </a:prstGeom>
          <a:noFill/>
          <a:ln/>
        </p:spPr>
        <p:txBody>
          <a:bodyPr wrap="square" rtlCol="0" anchor="ctr"/>
          <a:lstStyle/>
          <a:p>
            <a:pPr indent="0" marL="0" rtl="1" algn="r">
              <a:lnSpc>
                <a:spcPct val="135000"/>
              </a:lnSpc>
              <a:buNone/>
            </a:pPr>
            <a:r>
              <a:rPr lang="en-US" sz="1350" dirty="0">
                <a:solidFill>
                  <a:srgbClr val="2E2D29"/>
                </a:solidFill>
                <a:latin typeface="Calibri" pitchFamily="34" charset="0"/>
                <a:ea typeface="Calibri" pitchFamily="34" charset="-122"/>
                <a:cs typeface="B Nazanin" pitchFamily="34" charset="-120"/>
              </a:rPr>
              <a:t>مجموعه مرجع بزرگ‌تر با چند آزمایشگاه و چند دوربین، و دور دوم اندازه‌گیری کارشناسی.</a:t>
            </a:r>
            <a:endParaRPr lang="en-US" sz="1350" dirty="0"/>
          </a:p>
        </p:txBody>
      </p:sp>
      <p:sp>
        <p:nvSpPr>
          <p:cNvPr id="16" name="Text 14"/>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محدودیت‌ها و جمع‌بندی</a:t>
            </a:r>
            <a:endParaRPr lang="en-US" sz="900" dirty="0"/>
          </a:p>
        </p:txBody>
      </p:sp>
      <p:sp>
        <p:nvSpPr>
          <p:cNvPr id="17" name="Text 15"/>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۲۲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1016000" y="6803000"/>
            <a:ext cx="11176000" cy="55000"/>
          </a:xfrm>
          <a:prstGeom prst="rect">
            <a:avLst/>
          </a:prstGeom>
          <a:solidFill>
            <a:srgbClr val="8C1515"/>
          </a:solidFill>
          <a:ln>
            <a:noFill/>
          </a:ln>
        </p:spPr>
        <p:txBody>
          <a:bodyPr/>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5361432" y="822960"/>
            <a:ext cx="1463040" cy="1463040"/>
          </a:xfrm>
          <a:prstGeom prst="ellipse">
            <a:avLst/>
          </a:prstGeom>
          <a:solidFill>
            <a:srgbClr val="8C1515"/>
          </a:solidFill>
          <a:ln/>
        </p:spPr>
      </p:sp>
      <p:sp>
        <p:nvSpPr>
          <p:cNvPr id="3" name="Text 1"/>
          <p:cNvSpPr txBox="1"/>
          <p:nvPr/>
        </p:nvSpPr>
        <p:spPr>
          <a:xfrm>
            <a:off x="5361432" y="822960"/>
            <a:ext cx="1463040" cy="1463040"/>
          </a:xfrm>
          <a:prstGeom prst="rect">
            <a:avLst/>
          </a:prstGeom>
          <a:noFill/>
          <a:ln/>
        </p:spPr>
        <p:txBody>
          <a:bodyPr wrap="square" rtlCol="0" anchor="ctr"/>
          <a:lstStyle/>
          <a:p>
            <a:pPr algn="ctr" indent="0" marL="0" rtl="1">
              <a:buNone/>
            </a:pPr>
            <a:r>
              <a:rPr lang="en-US" sz="3400" dirty="0">
                <a:solidFill>
                  <a:srgbClr val="FFFFFF"/>
                </a:solidFill>
                <a:latin typeface="Calibri" pitchFamily="34" charset="0"/>
                <a:ea typeface="Calibri" pitchFamily="34" charset="-122"/>
                <a:cs typeface="B Nazanin" pitchFamily="34" charset="-120"/>
              </a:rPr>
              <a:t>♥</a:t>
            </a:r>
            <a:endParaRPr lang="en-US" sz="3400" dirty="0"/>
          </a:p>
        </p:txBody>
      </p:sp>
      <p:sp>
        <p:nvSpPr>
          <p:cNvPr id="4" name="Text 2"/>
          <p:cNvSpPr txBox="1"/>
          <p:nvPr/>
        </p:nvSpPr>
        <p:spPr>
          <a:xfrm>
            <a:off x="1525524" y="2514600"/>
            <a:ext cx="9144000" cy="548640"/>
          </a:xfrm>
          <a:prstGeom prst="rect">
            <a:avLst/>
          </a:prstGeom>
          <a:noFill/>
          <a:ln/>
        </p:spPr>
        <p:txBody>
          <a:bodyPr wrap="square" rtlCol="0" anchor="ctr"/>
          <a:lstStyle/>
          <a:p>
            <a:pPr algn="ctr" indent="0" marL="0" rtl="1">
              <a:buNone/>
            </a:pPr>
            <a:r>
              <a:rPr lang="en-US" sz="3200" b="1" dirty="0">
                <a:solidFill>
                  <a:srgbClr val="8C1515"/>
                </a:solidFill>
                <a:latin typeface="Cambria" pitchFamily="34" charset="0"/>
                <a:ea typeface="Cambria" pitchFamily="34" charset="-122"/>
                <a:cs typeface="B Titr" pitchFamily="34" charset="-120"/>
              </a:rPr>
              <a:t>سپاسگزاری</a:t>
            </a:r>
            <a:endParaRPr lang="en-US" sz="3200" dirty="0"/>
          </a:p>
        </p:txBody>
      </p:sp>
      <p:sp>
        <p:nvSpPr>
          <p:cNvPr id="5" name="Text 3"/>
          <p:cNvSpPr txBox="1"/>
          <p:nvPr/>
        </p:nvSpPr>
        <p:spPr>
          <a:xfrm>
            <a:off x="1525524" y="3246120"/>
            <a:ext cx="9144000" cy="2286000"/>
          </a:xfrm>
          <a:prstGeom prst="rect">
            <a:avLst/>
          </a:prstGeom>
          <a:noFill/>
          <a:ln/>
        </p:spPr>
        <p:txBody>
          <a:bodyPr wrap="square" rtlCol="0" anchor="ctr"/>
          <a:lstStyle/>
          <a:p>
            <a:pPr algn="ctr" indent="0" marL="0" rtl="1">
              <a:lnSpc>
                <a:spcPts val="3000"/>
              </a:lnSpc>
              <a:buNone/>
            </a:pPr>
            <a:r>
              <a:rPr lang="en-US" sz="1600" dirty="0">
                <a:solidFill>
                  <a:srgbClr val="2E2D29"/>
                </a:solidFill>
                <a:latin typeface="Calibri" pitchFamily="34" charset="0"/>
                <a:ea typeface="Calibri" pitchFamily="34" charset="-122"/>
                <a:cs typeface="B Nazanin" pitchFamily="34" charset="-120"/>
              </a:rPr>
              <a:t>از استاد راهنما، جناب آقای دکتر محمدرضا یزدچی</a:t>
            </a:r>
            <a:endParaRPr lang="en-US" sz="1600" dirty="0"/>
          </a:p>
          <a:p>
            <a:pPr algn="ctr" indent="0" marL="0" rtl="1">
              <a:lnSpc>
                <a:spcPts val="3000"/>
              </a:lnSpc>
              <a:buNone/>
            </a:pPr>
            <a:r>
              <a:rPr lang="en-US" sz="1600" dirty="0">
                <a:solidFill>
                  <a:srgbClr val="2E2D29"/>
                </a:solidFill>
                <a:latin typeface="Calibri" pitchFamily="34" charset="0"/>
                <a:ea typeface="Calibri" pitchFamily="34" charset="-122"/>
                <a:cs typeface="B Nazanin" pitchFamily="34" charset="-120"/>
              </a:rPr>
              <a:t>از کارشناسان آزمایشگاه، برای اندازه‌گیری دستی ۶۴ هاله</a:t>
            </a:r>
            <a:endParaRPr lang="en-US" sz="1600" dirty="0"/>
          </a:p>
          <a:p>
            <a:pPr algn="ctr" indent="0" marL="0" rtl="1">
              <a:lnSpc>
                <a:spcPts val="3000"/>
              </a:lnSpc>
              <a:buNone/>
            </a:pPr>
            <a:r>
              <a:rPr lang="en-US" sz="1600" dirty="0">
                <a:solidFill>
                  <a:srgbClr val="2E2D29"/>
                </a:solidFill>
                <a:latin typeface="Calibri" pitchFamily="34" charset="0"/>
                <a:ea typeface="Calibri" pitchFamily="34" charset="-122"/>
                <a:cs typeface="B Nazanin" pitchFamily="34" charset="-120"/>
              </a:rPr>
              <a:t>از هیئت داوران، برای وقتی که گذاشتند</a:t>
            </a:r>
            <a:endParaRPr lang="en-US" sz="1600" dirty="0"/>
          </a:p>
          <a:p>
            <a:pPr algn="ctr" indent="0" marL="0" rtl="1">
              <a:lnSpc>
                <a:spcPts val="3000"/>
              </a:lnSpc>
              <a:buNone/>
            </a:pPr>
            <a:r>
              <a:rPr lang="en-US" sz="1600" dirty="0">
                <a:solidFill>
                  <a:srgbClr val="2E2D29"/>
                </a:solidFill>
                <a:latin typeface="Calibri" pitchFamily="34" charset="0"/>
                <a:ea typeface="Calibri" pitchFamily="34" charset="-122"/>
                <a:cs typeface="B Nazanin" pitchFamily="34" charset="-120"/>
              </a:rPr>
              <a:t>از خانواده‌ام</a:t>
            </a:r>
            <a:endParaRPr lang="en-US" sz="1600" dirty="0"/>
          </a:p>
        </p:txBody>
      </p:sp>
      <p:sp>
        <p:nvSpPr>
          <p:cNvPr id="6" name="Text 4"/>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
            </a:r>
            <a:endParaRPr lang="en-US" sz="900" dirty="0"/>
          </a:p>
        </p:txBody>
      </p:sp>
      <p:sp>
        <p:nvSpPr>
          <p:cNvPr id="7" name="Text 5"/>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۲۳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508000" y="6803000"/>
            <a:ext cx="11684000" cy="55000"/>
          </a:xfrm>
          <a:prstGeom prst="rect">
            <a:avLst/>
          </a:prstGeom>
          <a:solidFill>
            <a:srgbClr val="8C1515"/>
          </a:solidFill>
          <a:ln>
            <a:noFill/>
          </a:ln>
        </p:spPr>
        <p:txBody>
          <a:bodyPr/>
          <a:lstStyl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C1515"/>
        </a:solidFill>
      </p:bgPr>
    </p:bg>
    <p:spTree>
      <p:nvGrpSpPr>
        <p:cNvPr id="1" name=""/>
        <p:cNvGrpSpPr/>
        <p:nvPr/>
      </p:nvGrpSpPr>
      <p:grpSpPr>
        <a:xfrm>
          <a:off x="0" y="0"/>
          <a:ext cx="0" cy="0"/>
          <a:chOff x="0" y="0"/>
          <a:chExt cx="0" cy="0"/>
        </a:xfrm>
      </p:grpSpPr>
      <p:sp>
        <p:nvSpPr>
          <p:cNvPr id="2" name="Shape 0"/>
          <p:cNvSpPr/>
          <p:nvPr/>
        </p:nvSpPr>
        <p:spPr>
          <a:xfrm>
            <a:off x="9723120" y="-1645920"/>
            <a:ext cx="4114800" cy="4114800"/>
          </a:xfrm>
          <a:prstGeom prst="ellipse">
            <a:avLst/>
          </a:prstGeom>
          <a:solidFill>
            <a:srgbClr val="6E1010"/>
          </a:solidFill>
          <a:ln/>
        </p:spPr>
      </p:sp>
      <p:sp>
        <p:nvSpPr>
          <p:cNvPr id="3" name="Shape 1"/>
          <p:cNvSpPr/>
          <p:nvPr/>
        </p:nvSpPr>
        <p:spPr>
          <a:xfrm>
            <a:off x="-1706880" y="4389120"/>
            <a:ext cx="3657600" cy="3657600"/>
          </a:xfrm>
          <a:prstGeom prst="ellipse">
            <a:avLst/>
          </a:prstGeom>
          <a:solidFill>
            <a:srgbClr val="6E1010"/>
          </a:solidFill>
          <a:ln/>
        </p:spPr>
      </p:sp>
      <p:sp>
        <p:nvSpPr>
          <p:cNvPr id="4" name="Text 2"/>
          <p:cNvSpPr txBox="1"/>
          <p:nvPr/>
        </p:nvSpPr>
        <p:spPr>
          <a:xfrm>
            <a:off x="826008" y="2286000"/>
            <a:ext cx="10543032" cy="1005840"/>
          </a:xfrm>
          <a:prstGeom prst="rect">
            <a:avLst/>
          </a:prstGeom>
          <a:noFill/>
          <a:ln/>
        </p:spPr>
        <p:txBody>
          <a:bodyPr wrap="square" rtlCol="0" anchor="ctr"/>
          <a:lstStyle/>
          <a:p>
            <a:pPr algn="ctr" indent="0" marL="0" rtl="1">
              <a:buNone/>
            </a:pPr>
            <a:r>
              <a:rPr lang="en-US" sz="5400" b="1" dirty="0">
                <a:solidFill>
                  <a:srgbClr val="FFFFFF"/>
                </a:solidFill>
                <a:latin typeface="Cambria" pitchFamily="34" charset="0"/>
                <a:ea typeface="Cambria" pitchFamily="34" charset="-122"/>
                <a:cs typeface="B Titr" pitchFamily="34" charset="-120"/>
              </a:rPr>
              <a:t>سپاس از توجه شما</a:t>
            </a:r>
            <a:endParaRPr lang="en-US" sz="5400" dirty="0"/>
          </a:p>
        </p:txBody>
      </p:sp>
      <p:sp>
        <p:nvSpPr>
          <p:cNvPr id="5" name="Text 3"/>
          <p:cNvSpPr txBox="1"/>
          <p:nvPr/>
        </p:nvSpPr>
        <p:spPr>
          <a:xfrm>
            <a:off x="826008" y="3337560"/>
            <a:ext cx="10543032" cy="548640"/>
          </a:xfrm>
          <a:prstGeom prst="rect">
            <a:avLst/>
          </a:prstGeom>
          <a:noFill/>
          <a:ln/>
        </p:spPr>
        <p:txBody>
          <a:bodyPr wrap="square" rtlCol="0" anchor="ctr"/>
          <a:lstStyle/>
          <a:p>
            <a:pPr algn="ctr" indent="0" marL="0" rtl="1">
              <a:buNone/>
            </a:pPr>
            <a:r>
              <a:rPr lang="en-US" sz="2000" dirty="0">
                <a:solidFill>
                  <a:srgbClr val="E98300"/>
                </a:solidFill>
                <a:latin typeface="Calibri" pitchFamily="34" charset="0"/>
                <a:ea typeface="Calibri" pitchFamily="34" charset="-122"/>
                <a:cs typeface="B Nazanin" pitchFamily="34" charset="-120"/>
              </a:rPr>
              <a:t>پرسش و پاسخ</a:t>
            </a:r>
            <a:endParaRPr lang="en-US" sz="2000" dirty="0"/>
          </a:p>
        </p:txBody>
      </p:sp>
      <p:sp>
        <p:nvSpPr>
          <p:cNvPr id="6" name="Text 4"/>
          <p:cNvSpPr txBox="1"/>
          <p:nvPr/>
        </p:nvSpPr>
        <p:spPr>
          <a:xfrm>
            <a:off x="826008" y="5852160"/>
            <a:ext cx="10543032" cy="365760"/>
          </a:xfrm>
          <a:prstGeom prst="rect">
            <a:avLst/>
          </a:prstGeom>
          <a:noFill/>
          <a:ln/>
        </p:spPr>
        <p:txBody>
          <a:bodyPr wrap="square" rtlCol="0" anchor="ctr"/>
          <a:lstStyle/>
          <a:p>
            <a:pPr algn="ctr" indent="0" marL="0" rtl="1">
              <a:buNone/>
            </a:pPr>
            <a:r>
              <a:rPr lang="en-US" sz="1300" dirty="0">
                <a:solidFill>
                  <a:srgbClr val="F7F5F1"/>
                </a:solidFill>
                <a:latin typeface="Calibri" pitchFamily="34" charset="0"/>
                <a:ea typeface="Calibri" pitchFamily="34" charset="-122"/>
                <a:cs typeface="B Nazanin" pitchFamily="34" charset="-120"/>
              </a:rPr>
              <a:t>مهیار حدادها  •  ۴۰۱۲۰۱۳۰۵۳</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نتایج: یافتن ظرف و یافتن دیسک</a:t>
            </a:r>
            <a:endParaRPr lang="en-US" sz="3000" dirty="0"/>
          </a:p>
        </p:txBody>
      </p:sp>
      <p:sp>
        <p:nvSpPr>
          <p:cNvPr id="4" name="Shape 2"/>
          <p:cNvSpPr/>
          <p:nvPr/>
        </p:nvSpPr>
        <p:spPr>
          <a:xfrm>
            <a:off x="8122920" y="1371600"/>
            <a:ext cx="3520440" cy="4206240"/>
          </a:xfrm>
          <a:prstGeom prst="roundRect">
            <a:avLst>
              <a:gd name="adj" fmla="val 2078"/>
            </a:avLst>
          </a:prstGeom>
          <a:solidFill>
            <a:srgbClr val="F7F5F1"/>
          </a:solidFill>
          <a:ln/>
        </p:spPr>
      </p:sp>
      <p:sp>
        <p:nvSpPr>
          <p:cNvPr id="5" name="Shape 3"/>
          <p:cNvSpPr/>
          <p:nvPr/>
        </p:nvSpPr>
        <p:spPr>
          <a:xfrm>
            <a:off x="10683240" y="1737360"/>
            <a:ext cx="640080" cy="640080"/>
          </a:xfrm>
          <a:prstGeom prst="ellipse">
            <a:avLst/>
          </a:prstGeom>
          <a:solidFill>
            <a:srgbClr val="8C1515"/>
          </a:solidFill>
          <a:ln/>
        </p:spPr>
      </p:sp>
      <p:sp>
        <p:nvSpPr>
          <p:cNvPr id="6" name="Text 4"/>
          <p:cNvSpPr txBox="1"/>
          <p:nvPr/>
        </p:nvSpPr>
        <p:spPr>
          <a:xfrm>
            <a:off x="10683240" y="173736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7" name="Text 5"/>
          <p:cNvSpPr txBox="1"/>
          <p:nvPr/>
        </p:nvSpPr>
        <p:spPr>
          <a:xfrm>
            <a:off x="8397240" y="2468880"/>
            <a:ext cx="2971800" cy="320040"/>
          </a:xfrm>
          <a:prstGeom prst="rect">
            <a:avLst/>
          </a:prstGeom>
          <a:noFill/>
          <a:ln/>
        </p:spPr>
        <p:txBody>
          <a:bodyPr wrap="square" rtlCol="0" anchor="ctr"/>
          <a:lstStyle/>
          <a:p>
            <a:pPr indent="0" marL="0" rtl="1" algn="r">
              <a:buNone/>
            </a:pPr>
            <a:r>
              <a:rPr lang="en-US" sz="1200" b="1" spc="200" kern="0" dirty="0">
                <a:solidFill>
                  <a:srgbClr val="E98300"/>
                </a:solidFill>
                <a:latin typeface="Calibri" pitchFamily="34" charset="0"/>
                <a:ea typeface="Calibri" pitchFamily="34" charset="-122"/>
                <a:cs typeface="B Nazanin" pitchFamily="34" charset="-120"/>
              </a:rPr>
              <a:t>یافتن ظرف</a:t>
            </a:r>
            <a:endParaRPr lang="en-US" sz="1200" dirty="0"/>
          </a:p>
        </p:txBody>
      </p:sp>
      <p:sp>
        <p:nvSpPr>
          <p:cNvPr id="8" name="Text 6"/>
          <p:cNvSpPr txBox="1"/>
          <p:nvPr/>
        </p:nvSpPr>
        <p:spPr>
          <a:xfrm>
            <a:off x="8397240" y="2834640"/>
            <a:ext cx="2971800" cy="2468880"/>
          </a:xfrm>
          <a:prstGeom prst="rect">
            <a:avLst/>
          </a:prstGeom>
          <a:noFill/>
          <a:ln/>
        </p:spPr>
        <p:txBody>
          <a:bodyPr wrap="square" rtlCol="0" anchor="ctr"/>
          <a:lstStyle/>
          <a:p>
            <a:pPr indent="0" marL="0" rtl="1" algn="r">
              <a:lnSpc>
                <a:spcPct val="130000"/>
              </a:lnSpc>
              <a:buNone/>
            </a:pPr>
            <a:r>
              <a:rPr lang="en-US" sz="1400" dirty="0">
                <a:solidFill>
                  <a:srgbClr val="2E2D29"/>
                </a:solidFill>
                <a:latin typeface="Calibri" pitchFamily="34" charset="0"/>
                <a:ea typeface="Calibri" pitchFamily="34" charset="-122"/>
                <a:cs typeface="B Nazanin" pitchFamily="34" charset="-120"/>
              </a:rPr>
              <a:t>۱۱ از ۱۱ عکس. هر ۱۱ عکس از یک آزمایشگاه‌اند؛ این عدد را باید با احتیاط خواند.</a:t>
            </a:r>
            <a:endParaRPr lang="en-US" sz="1400" dirty="0"/>
          </a:p>
        </p:txBody>
      </p:sp>
      <p:sp>
        <p:nvSpPr>
          <p:cNvPr id="9" name="Shape 7"/>
          <p:cNvSpPr/>
          <p:nvPr/>
        </p:nvSpPr>
        <p:spPr>
          <a:xfrm>
            <a:off x="4282440" y="1371600"/>
            <a:ext cx="3520440" cy="4206240"/>
          </a:xfrm>
          <a:prstGeom prst="roundRect">
            <a:avLst>
              <a:gd name="adj" fmla="val 2078"/>
            </a:avLst>
          </a:prstGeom>
          <a:solidFill>
            <a:srgbClr val="F7F5F1"/>
          </a:solidFill>
          <a:ln/>
        </p:spPr>
      </p:sp>
      <p:sp>
        <p:nvSpPr>
          <p:cNvPr id="10" name="Shape 8"/>
          <p:cNvSpPr/>
          <p:nvPr/>
        </p:nvSpPr>
        <p:spPr>
          <a:xfrm>
            <a:off x="6842760" y="1737360"/>
            <a:ext cx="640080" cy="640080"/>
          </a:xfrm>
          <a:prstGeom prst="ellipse">
            <a:avLst/>
          </a:prstGeom>
          <a:solidFill>
            <a:srgbClr val="8C1515"/>
          </a:solidFill>
          <a:ln/>
        </p:spPr>
      </p:sp>
      <p:sp>
        <p:nvSpPr>
          <p:cNvPr id="11" name="Text 9"/>
          <p:cNvSpPr txBox="1"/>
          <p:nvPr/>
        </p:nvSpPr>
        <p:spPr>
          <a:xfrm>
            <a:off x="6842760" y="173736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2" name="Text 10"/>
          <p:cNvSpPr txBox="1"/>
          <p:nvPr/>
        </p:nvSpPr>
        <p:spPr>
          <a:xfrm>
            <a:off x="4556760" y="2468880"/>
            <a:ext cx="2971800" cy="320040"/>
          </a:xfrm>
          <a:prstGeom prst="rect">
            <a:avLst/>
          </a:prstGeom>
          <a:noFill/>
          <a:ln/>
        </p:spPr>
        <p:txBody>
          <a:bodyPr wrap="square" rtlCol="0" anchor="ctr"/>
          <a:lstStyle/>
          <a:p>
            <a:pPr indent="0" marL="0" rtl="1" algn="r">
              <a:buNone/>
            </a:pPr>
            <a:r>
              <a:rPr lang="en-US" sz="1200" b="1" spc="200" kern="0" dirty="0">
                <a:solidFill>
                  <a:srgbClr val="E98300"/>
                </a:solidFill>
                <a:latin typeface="Calibri" pitchFamily="34" charset="0"/>
                <a:ea typeface="Calibri" pitchFamily="34" charset="-122"/>
                <a:cs typeface="B Nazanin" pitchFamily="34" charset="-120"/>
              </a:rPr>
              <a:t>یافتن دیسک</a:t>
            </a:r>
            <a:endParaRPr lang="en-US" sz="1200" dirty="0"/>
          </a:p>
        </p:txBody>
      </p:sp>
      <p:sp>
        <p:nvSpPr>
          <p:cNvPr id="13" name="Text 11"/>
          <p:cNvSpPr txBox="1"/>
          <p:nvPr/>
        </p:nvSpPr>
        <p:spPr>
          <a:xfrm>
            <a:off x="4556760" y="2834640"/>
            <a:ext cx="2971800" cy="2468880"/>
          </a:xfrm>
          <a:prstGeom prst="rect">
            <a:avLst/>
          </a:prstGeom>
          <a:noFill/>
          <a:ln/>
        </p:spPr>
        <p:txBody>
          <a:bodyPr wrap="square" rtlCol="0" anchor="ctr"/>
          <a:lstStyle/>
          <a:p>
            <a:pPr indent="0" marL="0" rtl="1" algn="r">
              <a:lnSpc>
                <a:spcPct val="130000"/>
              </a:lnSpc>
              <a:buNone/>
            </a:pPr>
            <a:r>
              <a:rPr lang="en-US" sz="1400" dirty="0">
                <a:solidFill>
                  <a:srgbClr val="2E2D29"/>
                </a:solidFill>
                <a:latin typeface="Calibri" pitchFamily="34" charset="0"/>
                <a:ea typeface="Calibri" pitchFamily="34" charset="-122"/>
                <a:cs typeface="B Nazanin" pitchFamily="34" charset="-120"/>
              </a:rPr>
              <a:t>F1 برابر ۰٫۹۸۹، با صحت ۱٫۰۰۰ و بازخوانی ۰٫۹۷۸. دو دیسک از دست رفت.</a:t>
            </a:r>
            <a:endParaRPr lang="en-US" sz="1400" dirty="0"/>
          </a:p>
        </p:txBody>
      </p:sp>
      <p:sp>
        <p:nvSpPr>
          <p:cNvPr id="14" name="Shape 12"/>
          <p:cNvSpPr/>
          <p:nvPr/>
        </p:nvSpPr>
        <p:spPr>
          <a:xfrm>
            <a:off x="441960" y="1371600"/>
            <a:ext cx="3520440" cy="4206240"/>
          </a:xfrm>
          <a:prstGeom prst="roundRect">
            <a:avLst>
              <a:gd name="adj" fmla="val 2078"/>
            </a:avLst>
          </a:prstGeom>
          <a:solidFill>
            <a:srgbClr val="F7F5F1"/>
          </a:solidFill>
          <a:ln/>
        </p:spPr>
      </p:sp>
      <p:sp>
        <p:nvSpPr>
          <p:cNvPr id="15" name="Shape 13"/>
          <p:cNvSpPr/>
          <p:nvPr/>
        </p:nvSpPr>
        <p:spPr>
          <a:xfrm>
            <a:off x="3002280" y="1737360"/>
            <a:ext cx="640080" cy="640080"/>
          </a:xfrm>
          <a:prstGeom prst="ellipse">
            <a:avLst/>
          </a:prstGeom>
          <a:solidFill>
            <a:srgbClr val="8C1515"/>
          </a:solidFill>
          <a:ln/>
        </p:spPr>
      </p:sp>
      <p:sp>
        <p:nvSpPr>
          <p:cNvPr id="16" name="Text 14"/>
          <p:cNvSpPr txBox="1"/>
          <p:nvPr/>
        </p:nvSpPr>
        <p:spPr>
          <a:xfrm>
            <a:off x="3002280" y="1737360"/>
            <a:ext cx="640080" cy="64008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7" name="Text 15"/>
          <p:cNvSpPr txBox="1"/>
          <p:nvPr/>
        </p:nvSpPr>
        <p:spPr>
          <a:xfrm>
            <a:off x="716280" y="2468880"/>
            <a:ext cx="2971800" cy="320040"/>
          </a:xfrm>
          <a:prstGeom prst="rect">
            <a:avLst/>
          </a:prstGeom>
          <a:noFill/>
          <a:ln/>
        </p:spPr>
        <p:txBody>
          <a:bodyPr wrap="square" rtlCol="0" anchor="ctr"/>
          <a:lstStyle/>
          <a:p>
            <a:pPr indent="0" marL="0" rtl="1" algn="r">
              <a:buNone/>
            </a:pPr>
            <a:r>
              <a:rPr lang="en-US" sz="1200" b="1" spc="200" kern="0" dirty="0">
                <a:solidFill>
                  <a:srgbClr val="E98300"/>
                </a:solidFill>
                <a:latin typeface="Calibri" pitchFamily="34" charset="0"/>
                <a:ea typeface="Calibri" pitchFamily="34" charset="-122"/>
                <a:cs typeface="B Nazanin" pitchFamily="34" charset="-120"/>
              </a:rPr>
              <a:t>تشخیص وجود هاله</a:t>
            </a:r>
            <a:endParaRPr lang="en-US" sz="1200" dirty="0"/>
          </a:p>
        </p:txBody>
      </p:sp>
      <p:sp>
        <p:nvSpPr>
          <p:cNvPr id="18" name="Text 16"/>
          <p:cNvSpPr txBox="1"/>
          <p:nvPr/>
        </p:nvSpPr>
        <p:spPr>
          <a:xfrm>
            <a:off x="716280" y="2834640"/>
            <a:ext cx="2971800" cy="2468880"/>
          </a:xfrm>
          <a:prstGeom prst="rect">
            <a:avLst/>
          </a:prstGeom>
          <a:noFill/>
          <a:ln/>
        </p:spPr>
        <p:txBody>
          <a:bodyPr wrap="square" rtlCol="0" anchor="ctr"/>
          <a:lstStyle/>
          <a:p>
            <a:pPr indent="0" marL="0" rtl="1" algn="r">
              <a:lnSpc>
                <a:spcPct val="130000"/>
              </a:lnSpc>
              <a:buNone/>
            </a:pPr>
            <a:r>
              <a:rPr lang="en-US" sz="1400" dirty="0">
                <a:solidFill>
                  <a:srgbClr val="2E2D29"/>
                </a:solidFill>
                <a:latin typeface="Calibri" pitchFamily="34" charset="0"/>
                <a:ea typeface="Calibri" pitchFamily="34" charset="-122"/>
                <a:cs typeface="B Nazanin" pitchFamily="34" charset="-120"/>
              </a:rPr>
              <a:t>دقت ۰٫۸۲۴. هاله واقعی کم از دست می‌رود؛ گاهی هاله‌ای گزارش می‌شود که نیست.</a:t>
            </a:r>
            <a:endParaRPr lang="en-US" sz="1400" dirty="0"/>
          </a:p>
        </p:txBody>
      </p:sp>
      <p:sp>
        <p:nvSpPr>
          <p:cNvPr id="19" name="Text 17"/>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نتایج</a:t>
            </a:r>
            <a:endParaRPr lang="en-US" sz="900" dirty="0"/>
          </a:p>
        </p:txBody>
      </p:sp>
      <p:sp>
        <p:nvSpPr>
          <p:cNvPr id="20" name="Text 18"/>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۱۲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6096000" y="6803000"/>
            <a:ext cx="6096000" cy="55000"/>
          </a:xfrm>
          <a:prstGeom prst="rect">
            <a:avLst/>
          </a:prstGeom>
          <a:solidFill>
            <a:srgbClr val="8C1515"/>
          </a:solidFill>
          <a:ln>
            <a:noFill/>
          </a:ln>
        </p:spPr>
        <p:txBody>
          <a:bodyPr/>
          <a:lstStyl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سقف قابل اثبات: انسان در برابر انسان</a:t>
            </a:r>
            <a:endParaRPr lang="en-US" sz="3000" dirty="0"/>
          </a:p>
        </p:txBody>
      </p:sp>
      <p:sp>
        <p:nvSpPr>
          <p:cNvPr id="4" name="Shape 2"/>
          <p:cNvSpPr/>
          <p:nvPr/>
        </p:nvSpPr>
        <p:spPr>
          <a:xfrm>
            <a:off x="6431280" y="1325880"/>
            <a:ext cx="5212080" cy="4297680"/>
          </a:xfrm>
          <a:prstGeom prst="roundRect">
            <a:avLst>
              <a:gd name="adj" fmla="val 1702"/>
            </a:avLst>
          </a:prstGeom>
          <a:solidFill>
            <a:srgbClr val="FFFFFF"/>
          </a:solidFill>
          <a:ln w="12700">
            <a:solidFill>
              <a:srgbClr val="E8E5E0"/>
            </a:solidFill>
            <a:prstDash val="solid"/>
          </a:ln>
        </p:spPr>
      </p:sp>
      <p:sp>
        <p:nvSpPr>
          <p:cNvPr id="5" name="Shape 3"/>
          <p:cNvSpPr/>
          <p:nvPr/>
        </p:nvSpPr>
        <p:spPr>
          <a:xfrm>
            <a:off x="6431280" y="1325880"/>
            <a:ext cx="5212080" cy="594360"/>
          </a:xfrm>
          <a:prstGeom prst="rect">
            <a:avLst/>
          </a:prstGeom>
          <a:solidFill>
            <a:srgbClr val="716E69"/>
          </a:solidFill>
          <a:ln/>
        </p:spPr>
      </p:sp>
      <p:sp>
        <p:nvSpPr>
          <p:cNvPr id="6" name="Text 4"/>
          <p:cNvSpPr txBox="1"/>
          <p:nvPr/>
        </p:nvSpPr>
        <p:spPr>
          <a:xfrm>
            <a:off x="6431280" y="1325880"/>
            <a:ext cx="5212080" cy="594360"/>
          </a:xfrm>
          <a:prstGeom prst="rect">
            <a:avLst/>
          </a:prstGeom>
          <a:noFill/>
          <a:ln/>
        </p:spPr>
        <p:txBody>
          <a:bodyPr wrap="square" rtlCol="0" anchor="ctr"/>
          <a:lstStyle/>
          <a:p>
            <a:pPr algn="ctr" indent="0" marL="0" rtl="1">
              <a:buNone/>
            </a:pPr>
            <a:r>
              <a:rPr lang="en-US" sz="1600" b="1" dirty="0">
                <a:solidFill>
                  <a:srgbClr val="FFFFFF"/>
                </a:solidFill>
                <a:latin typeface="Cambria" pitchFamily="34" charset="0"/>
                <a:ea typeface="Cambria" pitchFamily="34" charset="-122"/>
                <a:cs typeface="B Titr" pitchFamily="34" charset="-120"/>
              </a:rPr>
              <a:t>کارشناس با کارشناس</a:t>
            </a:r>
            <a:endParaRPr lang="en-US" sz="1600" dirty="0"/>
          </a:p>
        </p:txBody>
      </p:sp>
      <p:sp>
        <p:nvSpPr>
          <p:cNvPr id="7" name="Text 5"/>
          <p:cNvSpPr txBox="1"/>
          <p:nvPr/>
        </p:nvSpPr>
        <p:spPr>
          <a:xfrm>
            <a:off x="6797040" y="2148840"/>
            <a:ext cx="4480560" cy="3291840"/>
          </a:xfrm>
          <a:prstGeom prst="rect">
            <a:avLst/>
          </a:prstGeom>
          <a:noFill/>
          <a:ln/>
        </p:spPr>
        <p:txBody>
          <a:bodyPr wrap="square" rtlCol="0" anchor="ctr"/>
          <a:lstStyle/>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خطای متوسط: ۱٫۳۶ میلی‌متر</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توافق دسته‌ای: ۹۵٫۱٪</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خطای بسیار عمده: ۲٫۰۷٪</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حتی دو کارشناس انسانی هم سقف ۱٫۵ درصدی را برآورده نمی‌کنند.</a:t>
            </a:r>
            <a:endParaRPr lang="en-US" sz="1400" dirty="0"/>
          </a:p>
        </p:txBody>
      </p:sp>
      <p:sp>
        <p:nvSpPr>
          <p:cNvPr id="8" name="Shape 6"/>
          <p:cNvSpPr/>
          <p:nvPr/>
        </p:nvSpPr>
        <p:spPr>
          <a:xfrm>
            <a:off x="899160" y="1325880"/>
            <a:ext cx="5212080" cy="4297680"/>
          </a:xfrm>
          <a:prstGeom prst="roundRect">
            <a:avLst>
              <a:gd name="adj" fmla="val 1702"/>
            </a:avLst>
          </a:prstGeom>
          <a:solidFill>
            <a:srgbClr val="F7F5F1"/>
          </a:solidFill>
          <a:ln w="12700">
            <a:solidFill>
              <a:srgbClr val="E8E5E0"/>
            </a:solidFill>
            <a:prstDash val="solid"/>
          </a:ln>
        </p:spPr>
      </p:sp>
      <p:sp>
        <p:nvSpPr>
          <p:cNvPr id="9" name="Shape 7"/>
          <p:cNvSpPr/>
          <p:nvPr/>
        </p:nvSpPr>
        <p:spPr>
          <a:xfrm>
            <a:off x="899160" y="1325880"/>
            <a:ext cx="5212080" cy="594360"/>
          </a:xfrm>
          <a:prstGeom prst="rect">
            <a:avLst/>
          </a:prstGeom>
          <a:solidFill>
            <a:srgbClr val="8C1515"/>
          </a:solidFill>
          <a:ln/>
        </p:spPr>
      </p:sp>
      <p:sp>
        <p:nvSpPr>
          <p:cNvPr id="10" name="Text 8"/>
          <p:cNvSpPr txBox="1"/>
          <p:nvPr/>
        </p:nvSpPr>
        <p:spPr>
          <a:xfrm>
            <a:off x="899160" y="1325880"/>
            <a:ext cx="5212080" cy="594360"/>
          </a:xfrm>
          <a:prstGeom prst="rect">
            <a:avLst/>
          </a:prstGeom>
          <a:noFill/>
          <a:ln/>
        </p:spPr>
        <p:txBody>
          <a:bodyPr wrap="square" rtlCol="0" anchor="ctr"/>
          <a:lstStyle/>
          <a:p>
            <a:pPr algn="ctr" indent="0" marL="0" rtl="1">
              <a:buNone/>
            </a:pPr>
            <a:r>
              <a:rPr lang="en-US" sz="1600" b="1" dirty="0">
                <a:solidFill>
                  <a:srgbClr val="FFFFFF"/>
                </a:solidFill>
                <a:latin typeface="Cambria" pitchFamily="34" charset="0"/>
                <a:ea typeface="Cambria" pitchFamily="34" charset="-122"/>
                <a:cs typeface="B Titr" pitchFamily="34" charset="-120"/>
              </a:rPr>
              <a:t>سامانه با کارشناس</a:t>
            </a:r>
            <a:endParaRPr lang="en-US" sz="1600" dirty="0"/>
          </a:p>
        </p:txBody>
      </p:sp>
      <p:sp>
        <p:nvSpPr>
          <p:cNvPr id="11" name="Text 9"/>
          <p:cNvSpPr txBox="1"/>
          <p:nvPr/>
        </p:nvSpPr>
        <p:spPr>
          <a:xfrm>
            <a:off x="1264920" y="2148840"/>
            <a:ext cx="4480560" cy="3291840"/>
          </a:xfrm>
          <a:prstGeom prst="rect">
            <a:avLst/>
          </a:prstGeom>
          <a:noFill/>
          <a:ln/>
        </p:spPr>
        <p:txBody>
          <a:bodyPr wrap="square" rtlCol="0" anchor="ctr"/>
          <a:lstStyle/>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خطای متوسط: ۳٫۸۵ میلی‌متر</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توافق دسته‌ای: ۸۳٫۲٪</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خطای بسیار عمده: ۶٫۱۹٪</a:t>
            </a:r>
            <a:endParaRPr lang="en-US" sz="1400" dirty="0"/>
          </a:p>
          <a:p>
            <a:pPr marL="342900" indent="-342900" rtl="1" algn="r">
              <a:lnSpc>
                <a:spcPct val="140000"/>
              </a:lnSpc>
              <a:spcAft>
                <a:spcPts val="1000"/>
              </a:spcAft>
              <a:buSzPct val="100000"/>
              <a:buChar char="•"/>
            </a:pPr>
            <a:r>
              <a:rPr lang="en-US" sz="1400" dirty="0">
                <a:solidFill>
                  <a:srgbClr val="2E2D29"/>
                </a:solidFill>
                <a:latin typeface="Calibri" pitchFamily="34" charset="0"/>
                <a:ea typeface="Calibri" pitchFamily="34" charset="-122"/>
                <a:cs typeface="B Nazanin" pitchFamily="34" charset="-120"/>
              </a:rPr>
              <a:t>سقف واقعی حدود ۹۲ تا ۹۶ درصد است؛ فاصله سامانه ده واحد است، نه هجده.</a:t>
            </a:r>
            <a:endParaRPr lang="en-US" sz="1400" dirty="0"/>
          </a:p>
        </p:txBody>
      </p:sp>
      <p:sp>
        <p:nvSpPr>
          <p:cNvPr id="12" name="Text 1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تفسیر بالینی</a:t>
            </a:r>
            <a:endParaRPr lang="en-US" sz="900" dirty="0"/>
          </a:p>
        </p:txBody>
      </p:sp>
      <p:sp>
        <p:nvSpPr>
          <p:cNvPr id="13" name="Text 1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۱۶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4064000" y="6803000"/>
            <a:ext cx="8128000" cy="55000"/>
          </a:xfrm>
          <a:prstGeom prst="rect">
            <a:avLst/>
          </a:prstGeom>
          <a:solidFill>
            <a:srgbClr val="8C1515"/>
          </a:solidFill>
          <a:ln>
            <a:noFill/>
          </a:ln>
        </p:spPr>
        <p:txBody>
          <a:bodyPr/>
          <a:lstStyl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مرحله سوم: سه روش موازی برای مرز هاله</a:t>
            </a:r>
            <a:endParaRPr lang="en-US" sz="3000" dirty="0"/>
          </a:p>
        </p:txBody>
      </p:sp>
      <p:sp>
        <p:nvSpPr>
          <p:cNvPr id="4" name="Shape 2"/>
          <p:cNvSpPr/>
          <p:nvPr/>
        </p:nvSpPr>
        <p:spPr>
          <a:xfrm>
            <a:off x="8122920" y="1371600"/>
            <a:ext cx="3520440" cy="4206240"/>
          </a:xfrm>
          <a:prstGeom prst="roundRect">
            <a:avLst>
              <a:gd name="adj" fmla="val 2078"/>
            </a:avLst>
          </a:prstGeom>
          <a:solidFill>
            <a:srgbClr val="F7F5F1"/>
          </a:solidFill>
          <a:ln/>
        </p:spPr>
      </p:sp>
      <p:sp>
        <p:nvSpPr>
          <p:cNvPr id="5" name="Shape 3"/>
          <p:cNvSpPr/>
          <p:nvPr/>
        </p:nvSpPr>
        <p:spPr>
          <a:xfrm>
            <a:off x="10911840" y="1645920"/>
            <a:ext cx="457200" cy="457200"/>
          </a:xfrm>
          <a:prstGeom prst="ellipse">
            <a:avLst/>
          </a:prstGeom>
          <a:solidFill>
            <a:srgbClr val="E98300"/>
          </a:solidFill>
          <a:ln/>
        </p:spPr>
      </p:sp>
      <p:sp>
        <p:nvSpPr>
          <p:cNvPr id="6" name="Text 4"/>
          <p:cNvSpPr txBox="1"/>
          <p:nvPr/>
        </p:nvSpPr>
        <p:spPr>
          <a:xfrm>
            <a:off x="8397240" y="2286000"/>
            <a:ext cx="2971800" cy="365760"/>
          </a:xfrm>
          <a:prstGeom prst="rect">
            <a:avLst/>
          </a:prstGeom>
          <a:noFill/>
          <a:ln/>
        </p:spPr>
        <p:txBody>
          <a:bodyPr wrap="square" rtlCol="0" anchor="ctr"/>
          <a:lstStyle/>
          <a:p>
            <a:pPr indent="0" marL="0" rtl="1" algn="r">
              <a:buNone/>
            </a:pPr>
            <a:r>
              <a:rPr lang="en-US" sz="1700" b="1" dirty="0">
                <a:solidFill>
                  <a:srgbClr val="E98300"/>
                </a:solidFill>
                <a:latin typeface="Cambria" pitchFamily="34" charset="0"/>
                <a:ea typeface="Cambria" pitchFamily="34" charset="-122"/>
                <a:cs typeface="B Titr" pitchFamily="34" charset="-120"/>
              </a:rPr>
              <a:t>پروفایل شعاعی</a:t>
            </a:r>
            <a:endParaRPr lang="en-US" sz="1700" dirty="0"/>
          </a:p>
        </p:txBody>
      </p:sp>
      <p:sp>
        <p:nvSpPr>
          <p:cNvPr id="7" name="Text 5"/>
          <p:cNvSpPr txBox="1"/>
          <p:nvPr/>
        </p:nvSpPr>
        <p:spPr>
          <a:xfrm>
            <a:off x="8397240" y="2743200"/>
            <a:ext cx="2971800" cy="2651760"/>
          </a:xfrm>
          <a:prstGeom prst="rect">
            <a:avLst/>
          </a:prstGeom>
          <a:noFill/>
          <a:ln/>
        </p:spPr>
        <p:txBody>
          <a:bodyPr wrap="square" rtlCol="0" anchor="ctr"/>
          <a:lstStyle/>
          <a:p>
            <a:pPr indent="0" marL="0" rtl="1" algn="r">
              <a:lnSpc>
                <a:spcPct val="135000"/>
              </a:lnSpc>
              <a:buNone/>
            </a:pPr>
            <a:r>
              <a:rPr lang="en-US" sz="1350" dirty="0">
                <a:solidFill>
                  <a:srgbClr val="2E2D29"/>
                </a:solidFill>
                <a:latin typeface="Calibri" pitchFamily="34" charset="0"/>
                <a:ea typeface="Calibri" pitchFamily="34" charset="-122"/>
                <a:cs typeface="B Nazanin" pitchFamily="34" charset="-120"/>
              </a:rPr>
              <a:t>پوشش: ۵۷ هاله از ۶۳ — خطای متوسط: ۵٫۴۹ میلی‌متر</a:t>
            </a:r>
            <a:endParaRPr lang="en-US" sz="1350" dirty="0"/>
          </a:p>
        </p:txBody>
      </p:sp>
      <p:sp>
        <p:nvSpPr>
          <p:cNvPr id="8" name="Shape 6"/>
          <p:cNvSpPr/>
          <p:nvPr/>
        </p:nvSpPr>
        <p:spPr>
          <a:xfrm>
            <a:off x="4282440" y="1371600"/>
            <a:ext cx="3520440" cy="4206240"/>
          </a:xfrm>
          <a:prstGeom prst="roundRect">
            <a:avLst>
              <a:gd name="adj" fmla="val 2078"/>
            </a:avLst>
          </a:prstGeom>
          <a:solidFill>
            <a:srgbClr val="F7F5F1"/>
          </a:solidFill>
          <a:ln/>
        </p:spPr>
      </p:sp>
      <p:sp>
        <p:nvSpPr>
          <p:cNvPr id="9" name="Shape 7"/>
          <p:cNvSpPr/>
          <p:nvPr/>
        </p:nvSpPr>
        <p:spPr>
          <a:xfrm>
            <a:off x="7071360" y="1645920"/>
            <a:ext cx="457200" cy="457200"/>
          </a:xfrm>
          <a:prstGeom prst="ellipse">
            <a:avLst/>
          </a:prstGeom>
          <a:solidFill>
            <a:srgbClr val="007C92"/>
          </a:solidFill>
          <a:ln/>
        </p:spPr>
      </p:sp>
      <p:sp>
        <p:nvSpPr>
          <p:cNvPr id="10" name="Text 8"/>
          <p:cNvSpPr txBox="1"/>
          <p:nvPr/>
        </p:nvSpPr>
        <p:spPr>
          <a:xfrm>
            <a:off x="4556760" y="2286000"/>
            <a:ext cx="2971800" cy="365760"/>
          </a:xfrm>
          <a:prstGeom prst="rect">
            <a:avLst/>
          </a:prstGeom>
          <a:noFill/>
          <a:ln/>
        </p:spPr>
        <p:txBody>
          <a:bodyPr wrap="square" rtlCol="0" anchor="ctr"/>
          <a:lstStyle/>
          <a:p>
            <a:pPr indent="0" marL="0" rtl="1" algn="r">
              <a:buNone/>
            </a:pPr>
            <a:r>
              <a:rPr lang="en-US" sz="1700" b="1" dirty="0">
                <a:solidFill>
                  <a:srgbClr val="007C92"/>
                </a:solidFill>
                <a:latin typeface="Cambria" pitchFamily="34" charset="0"/>
                <a:ea typeface="Cambria" pitchFamily="34" charset="-122"/>
                <a:cs typeface="B Titr" pitchFamily="34" charset="-120"/>
              </a:rPr>
              <a:t>آستانه‌گذاری ناحیه‌ای</a:t>
            </a:r>
            <a:endParaRPr lang="en-US" sz="1700" dirty="0"/>
          </a:p>
        </p:txBody>
      </p:sp>
      <p:sp>
        <p:nvSpPr>
          <p:cNvPr id="11" name="Text 9"/>
          <p:cNvSpPr txBox="1"/>
          <p:nvPr/>
        </p:nvSpPr>
        <p:spPr>
          <a:xfrm>
            <a:off x="4556760" y="2743200"/>
            <a:ext cx="2971800" cy="2651760"/>
          </a:xfrm>
          <a:prstGeom prst="rect">
            <a:avLst/>
          </a:prstGeom>
          <a:noFill/>
          <a:ln/>
        </p:spPr>
        <p:txBody>
          <a:bodyPr wrap="square" rtlCol="0" anchor="ctr"/>
          <a:lstStyle/>
          <a:p>
            <a:pPr indent="0" marL="0" rtl="1" algn="r">
              <a:lnSpc>
                <a:spcPct val="135000"/>
              </a:lnSpc>
              <a:buNone/>
            </a:pPr>
            <a:r>
              <a:rPr lang="en-US" sz="1350" dirty="0">
                <a:solidFill>
                  <a:srgbClr val="2E2D29"/>
                </a:solidFill>
                <a:latin typeface="Calibri" pitchFamily="34" charset="0"/>
                <a:ea typeface="Calibri" pitchFamily="34" charset="-122"/>
                <a:cs typeface="B Nazanin" pitchFamily="34" charset="-120"/>
              </a:rPr>
              <a:t>پوشش: ۲۶ دیسک — خطای متوسط: ۳٫۶۶ میلی‌متر</a:t>
            </a:r>
            <a:endParaRPr lang="en-US" sz="1350" dirty="0"/>
          </a:p>
        </p:txBody>
      </p:sp>
      <p:sp>
        <p:nvSpPr>
          <p:cNvPr id="12" name="Shape 10"/>
          <p:cNvSpPr/>
          <p:nvPr/>
        </p:nvSpPr>
        <p:spPr>
          <a:xfrm>
            <a:off x="441960" y="1371600"/>
            <a:ext cx="3520440" cy="4206240"/>
          </a:xfrm>
          <a:prstGeom prst="roundRect">
            <a:avLst>
              <a:gd name="adj" fmla="val 2078"/>
            </a:avLst>
          </a:prstGeom>
          <a:solidFill>
            <a:srgbClr val="F7F5F1"/>
          </a:solidFill>
          <a:ln/>
        </p:spPr>
      </p:sp>
      <p:sp>
        <p:nvSpPr>
          <p:cNvPr id="13" name="Shape 11"/>
          <p:cNvSpPr/>
          <p:nvPr/>
        </p:nvSpPr>
        <p:spPr>
          <a:xfrm>
            <a:off x="3230880" y="1645920"/>
            <a:ext cx="457200" cy="457200"/>
          </a:xfrm>
          <a:prstGeom prst="ellipse">
            <a:avLst/>
          </a:prstGeom>
          <a:solidFill>
            <a:srgbClr val="620059"/>
          </a:solidFill>
          <a:ln/>
        </p:spPr>
      </p:sp>
      <p:sp>
        <p:nvSpPr>
          <p:cNvPr id="14" name="Text 12"/>
          <p:cNvSpPr txBox="1"/>
          <p:nvPr/>
        </p:nvSpPr>
        <p:spPr>
          <a:xfrm>
            <a:off x="716280" y="2286000"/>
            <a:ext cx="2971800" cy="365760"/>
          </a:xfrm>
          <a:prstGeom prst="rect">
            <a:avLst/>
          </a:prstGeom>
          <a:noFill/>
          <a:ln/>
        </p:spPr>
        <p:txBody>
          <a:bodyPr wrap="square" rtlCol="0" anchor="ctr"/>
          <a:lstStyle/>
          <a:p>
            <a:pPr indent="0" marL="0" rtl="1" algn="r">
              <a:buNone/>
            </a:pPr>
            <a:r>
              <a:rPr lang="en-US" sz="1700" b="1" dirty="0">
                <a:solidFill>
                  <a:srgbClr val="620059"/>
                </a:solidFill>
                <a:latin typeface="Cambria" pitchFamily="34" charset="0"/>
                <a:ea typeface="Cambria" pitchFamily="34" charset="-122"/>
                <a:cs typeface="B Titr" pitchFamily="34" charset="-120"/>
              </a:rPr>
              <a:t>رشد کنترل‌شده</a:t>
            </a:r>
            <a:endParaRPr lang="en-US" sz="1700" dirty="0"/>
          </a:p>
        </p:txBody>
      </p:sp>
      <p:sp>
        <p:nvSpPr>
          <p:cNvPr id="15" name="Text 13"/>
          <p:cNvSpPr txBox="1"/>
          <p:nvPr/>
        </p:nvSpPr>
        <p:spPr>
          <a:xfrm>
            <a:off x="716280" y="2743200"/>
            <a:ext cx="2971800" cy="2651760"/>
          </a:xfrm>
          <a:prstGeom prst="rect">
            <a:avLst/>
          </a:prstGeom>
          <a:noFill/>
          <a:ln/>
        </p:spPr>
        <p:txBody>
          <a:bodyPr wrap="square" rtlCol="0" anchor="ctr"/>
          <a:lstStyle/>
          <a:p>
            <a:pPr indent="0" marL="0" rtl="1" algn="r">
              <a:lnSpc>
                <a:spcPct val="135000"/>
              </a:lnSpc>
              <a:buNone/>
            </a:pPr>
            <a:r>
              <a:rPr lang="en-US" sz="1350" dirty="0">
                <a:solidFill>
                  <a:srgbClr val="2E2D29"/>
                </a:solidFill>
                <a:latin typeface="Calibri" pitchFamily="34" charset="0"/>
                <a:ea typeface="Calibri" pitchFamily="34" charset="-122"/>
                <a:cs typeface="B Nazanin" pitchFamily="34" charset="-120"/>
              </a:rPr>
              <a:t>پوشش: ۱۱ دیسک — خطای متوسط: ۱٫۰۸ میلی‌متر</a:t>
            </a:r>
            <a:endParaRPr lang="en-US" sz="1350" dirty="0"/>
          </a:p>
        </p:txBody>
      </p:sp>
      <p:sp>
        <p:nvSpPr>
          <p:cNvPr id="16" name="Text 14"/>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روش پیشنهادی</a:t>
            </a:r>
            <a:endParaRPr lang="en-US" sz="900" dirty="0"/>
          </a:p>
        </p:txBody>
      </p:sp>
      <p:sp>
        <p:nvSpPr>
          <p:cNvPr id="17" name="Text 15"/>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۱۰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7112000" y="6803000"/>
            <a:ext cx="5080000" cy="55000"/>
          </a:xfrm>
          <a:prstGeom prst="rect">
            <a:avLst/>
          </a:prstGeom>
          <a:solidFill>
            <a:srgbClr val="8C1515"/>
          </a:solidFill>
          <a:ln>
            <a:noFill/>
          </a:ln>
        </p:spPr>
        <p:txBody>
          <a:bodyPr/>
          <a:lstStyl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۱ از ۷ — حدود ۱۹ دقیقه تا پایان</a:t>
            </a:r>
            <a:endParaRPr lang="en-US" sz="3000" dirty="0"/>
          </a:p>
        </p:txBody>
      </p:sp>
      <p:sp>
        <p:nvSpPr>
          <p:cNvPr id="4" name="Shape 2"/>
          <p:cNvSpPr/>
          <p:nvPr/>
        </p:nvSpPr>
        <p:spPr>
          <a:xfrm>
            <a:off x="11140440" y="1234440"/>
            <a:ext cx="502920" cy="502920"/>
          </a:xfrm>
          <a:prstGeom prst="ellipse">
            <a:avLst/>
          </a:prstGeom>
          <a:solidFill>
            <a:srgbClr val="8C1515"/>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DCD8D4"/>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DCD8D4"/>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DCD8D4"/>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DCD8D4"/>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DCD8D4"/>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DCD8D4"/>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مسئله و انگیزه</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۳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10668000" y="6803000"/>
            <a:ext cx="1524000" cy="55000"/>
          </a:xfrm>
          <a:prstGeom prst="rect">
            <a:avLst/>
          </a:prstGeom>
          <a:solidFill>
            <a:srgbClr val="8C1515"/>
          </a:solidFill>
          <a:ln>
            <a:noFill/>
          </a:ln>
        </p:spPr>
        <p:txBody>
          <a:bodyPr/>
          <a:lstStyl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۲ از ۷ — حدود ۱۷ دقیقه تا پایان</a:t>
            </a:r>
            <a:endParaRPr lang="en-US" sz="3000" dirty="0"/>
          </a:p>
        </p:txBody>
      </p:sp>
      <p:sp>
        <p:nvSpPr>
          <p:cNvPr id="4" name="Shape 2"/>
          <p:cNvSpPr/>
          <p:nvPr/>
        </p:nvSpPr>
        <p:spPr>
          <a:xfrm>
            <a:off x="11140440" y="1234440"/>
            <a:ext cx="502920" cy="502920"/>
          </a:xfrm>
          <a:prstGeom prst="ellipse">
            <a:avLst/>
          </a:prstGeom>
          <a:solidFill>
            <a:srgbClr val="DCD8D4"/>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E98300"/>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DCD8D4"/>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DCD8D4"/>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DCD8D4"/>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DCD8D4"/>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DCD8D4"/>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هدف و کارهای پیشین</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۵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9652000" y="6803000"/>
            <a:ext cx="2540000" cy="55000"/>
          </a:xfrm>
          <a:prstGeom prst="rect">
            <a:avLst/>
          </a:prstGeom>
          <a:solidFill>
            <a:srgbClr val="8C1515"/>
          </a:solidFill>
          <a:ln>
            <a:noFill/>
          </a:ln>
        </p:spPr>
        <p:txBody>
          <a:bodyPr/>
          <a:lstStyl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۳ از ۷ — حدود ۱۵ دقیقه تا پایان</a:t>
            </a:r>
            <a:endParaRPr lang="en-US" sz="3000" dirty="0"/>
          </a:p>
        </p:txBody>
      </p:sp>
      <p:sp>
        <p:nvSpPr>
          <p:cNvPr id="4" name="Shape 2"/>
          <p:cNvSpPr/>
          <p:nvPr/>
        </p:nvSpPr>
        <p:spPr>
          <a:xfrm>
            <a:off x="11140440" y="1234440"/>
            <a:ext cx="502920" cy="502920"/>
          </a:xfrm>
          <a:prstGeom prst="ellipse">
            <a:avLst/>
          </a:prstGeom>
          <a:solidFill>
            <a:srgbClr val="DCD8D4"/>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DCD8D4"/>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8C1515"/>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DCD8D4"/>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DCD8D4"/>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DCD8D4"/>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DCD8D4"/>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روش پیشنهادی</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۸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8128000" y="6803000"/>
            <a:ext cx="4064000" cy="55000"/>
          </a:xfrm>
          <a:prstGeom prst="rect">
            <a:avLst/>
          </a:prstGeom>
          <a:solidFill>
            <a:srgbClr val="8C1515"/>
          </a:solidFill>
          <a:ln>
            <a:noFill/>
          </a:ln>
        </p:spPr>
        <p:txBody>
          <a:bodyPr/>
          <a:lstStyl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۴ از ۷ — حدود ۱۱ دقیقه و ۳۰ ثانیه تا پایان</a:t>
            </a:r>
            <a:endParaRPr lang="en-US" sz="3000" dirty="0"/>
          </a:p>
        </p:txBody>
      </p:sp>
      <p:sp>
        <p:nvSpPr>
          <p:cNvPr id="4" name="Shape 2"/>
          <p:cNvSpPr/>
          <p:nvPr/>
        </p:nvSpPr>
        <p:spPr>
          <a:xfrm>
            <a:off x="11140440" y="1234440"/>
            <a:ext cx="502920" cy="502920"/>
          </a:xfrm>
          <a:prstGeom prst="ellipse">
            <a:avLst/>
          </a:prstGeom>
          <a:solidFill>
            <a:srgbClr val="DCD8D4"/>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DCD8D4"/>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DCD8D4"/>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E98300"/>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DCD8D4"/>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DCD8D4"/>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DCD8D4"/>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نتایج</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۱۱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6604000" y="6803000"/>
            <a:ext cx="5588000" cy="55000"/>
          </a:xfrm>
          <a:prstGeom prst="rect">
            <a:avLst/>
          </a:prstGeom>
          <a:solidFill>
            <a:srgbClr val="8C1515"/>
          </a:solidFill>
          <a:ln>
            <a:noFill/>
          </a:ln>
        </p:spPr>
        <p:txBody>
          <a:bodyPr/>
          <a:lstStyl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۵ از ۷ — حدود ۹ دقیقه تا پایان</a:t>
            </a:r>
            <a:endParaRPr lang="en-US" sz="3000" dirty="0"/>
          </a:p>
        </p:txBody>
      </p:sp>
      <p:sp>
        <p:nvSpPr>
          <p:cNvPr id="4" name="Shape 2"/>
          <p:cNvSpPr/>
          <p:nvPr/>
        </p:nvSpPr>
        <p:spPr>
          <a:xfrm>
            <a:off x="11140440" y="1234440"/>
            <a:ext cx="502920" cy="502920"/>
          </a:xfrm>
          <a:prstGeom prst="ellipse">
            <a:avLst/>
          </a:prstGeom>
          <a:solidFill>
            <a:srgbClr val="DCD8D4"/>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DCD8D4"/>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DCD8D4"/>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DCD8D4"/>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8C1515"/>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DCD8D4"/>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DCD8D4"/>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تفسیر بالینی</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۱۴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5080000" y="6803000"/>
            <a:ext cx="7112000" cy="55000"/>
          </a:xfrm>
          <a:prstGeom prst="rect">
            <a:avLst/>
          </a:prstGeom>
          <a:solidFill>
            <a:srgbClr val="8C1515"/>
          </a:solidFill>
          <a:ln>
            <a:noFill/>
          </a:ln>
        </p:spPr>
        <p:txBody>
          <a:bodyPr/>
          <a:lstStyl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۶ از ۷ — حدود ۵ دقیقه و ۳۰ ثانیه تا پایان</a:t>
            </a:r>
            <a:endParaRPr lang="en-US" sz="3000" dirty="0"/>
          </a:p>
        </p:txBody>
      </p:sp>
      <p:sp>
        <p:nvSpPr>
          <p:cNvPr id="4" name="Shape 2"/>
          <p:cNvSpPr/>
          <p:nvPr/>
        </p:nvSpPr>
        <p:spPr>
          <a:xfrm>
            <a:off x="11140440" y="1234440"/>
            <a:ext cx="502920" cy="502920"/>
          </a:xfrm>
          <a:prstGeom prst="ellipse">
            <a:avLst/>
          </a:prstGeom>
          <a:solidFill>
            <a:srgbClr val="DCD8D4"/>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DCD8D4"/>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DCD8D4"/>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DCD8D4"/>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DCD8D4"/>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E98300"/>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DCD8D4"/>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یافته اصلی</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۱۷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3556000" y="6803000"/>
            <a:ext cx="8636000" cy="55000"/>
          </a:xfrm>
          <a:prstGeom prst="rect">
            <a:avLst/>
          </a:prstGeom>
          <a:solidFill>
            <a:srgbClr val="8C1515"/>
          </a:solidFill>
          <a:ln>
            <a:noFill/>
          </a:ln>
        </p:spPr>
        <p:txBody>
          <a:bodyPr/>
          <a:lstStyl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442192" y="475488"/>
            <a:ext cx="201168" cy="201168"/>
          </a:xfrm>
          <a:prstGeom prst="ellipse">
            <a:avLst/>
          </a:prstGeom>
          <a:solidFill>
            <a:srgbClr val="E98300"/>
          </a:solidFill>
          <a:ln/>
        </p:spPr>
      </p:sp>
      <p:sp>
        <p:nvSpPr>
          <p:cNvPr id="3" name="Text 1"/>
          <p:cNvSpPr txBox="1"/>
          <p:nvPr/>
        </p:nvSpPr>
        <p:spPr>
          <a:xfrm>
            <a:off x="1694688" y="347472"/>
            <a:ext cx="9601200" cy="502920"/>
          </a:xfrm>
          <a:prstGeom prst="rect">
            <a:avLst/>
          </a:prstGeom>
          <a:noFill/>
          <a:ln/>
        </p:spPr>
        <p:txBody>
          <a:bodyPr wrap="square" rtlCol="0" anchor="ctr"/>
          <a:lstStyle/>
          <a:p>
            <a:pPr indent="0" marL="0" rtl="1" algn="r">
              <a:buNone/>
            </a:pPr>
            <a:r>
              <a:rPr lang="en-US" sz="3000" b="1" dirty="0">
                <a:solidFill>
                  <a:srgbClr val="8C1515"/>
                </a:solidFill>
                <a:latin typeface="Cambria" pitchFamily="34" charset="0"/>
                <a:ea typeface="Cambria" pitchFamily="34" charset="-122"/>
                <a:cs typeface="B Titr" pitchFamily="34" charset="-120"/>
              </a:rPr>
              <a:t>بخش ۷ از ۷ — حدود ۳ دقیقه تا پایان</a:t>
            </a:r>
            <a:endParaRPr lang="en-US" sz="3000" dirty="0"/>
          </a:p>
        </p:txBody>
      </p:sp>
      <p:sp>
        <p:nvSpPr>
          <p:cNvPr id="4" name="Shape 2"/>
          <p:cNvSpPr/>
          <p:nvPr/>
        </p:nvSpPr>
        <p:spPr>
          <a:xfrm>
            <a:off x="11140440" y="1234440"/>
            <a:ext cx="502920" cy="502920"/>
          </a:xfrm>
          <a:prstGeom prst="ellipse">
            <a:avLst/>
          </a:prstGeom>
          <a:solidFill>
            <a:srgbClr val="DCD8D4"/>
          </a:solidFill>
          <a:ln/>
        </p:spPr>
      </p:sp>
      <p:sp>
        <p:nvSpPr>
          <p:cNvPr id="5" name="Text 3"/>
          <p:cNvSpPr txBox="1"/>
          <p:nvPr/>
        </p:nvSpPr>
        <p:spPr>
          <a:xfrm>
            <a:off x="1114044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۱</a:t>
            </a:r>
            <a:endParaRPr lang="en-US" sz="2000" dirty="0"/>
          </a:p>
        </p:txBody>
      </p:sp>
      <p:sp>
        <p:nvSpPr>
          <p:cNvPr id="6" name="Text 4"/>
          <p:cNvSpPr txBox="1"/>
          <p:nvPr/>
        </p:nvSpPr>
        <p:spPr>
          <a:xfrm>
            <a:off x="656844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مسئله و انگیزه</a:t>
            </a:r>
            <a:endParaRPr lang="en-US" sz="1600" dirty="0"/>
          </a:p>
        </p:txBody>
      </p:sp>
      <p:sp>
        <p:nvSpPr>
          <p:cNvPr id="7" name="Text 5"/>
          <p:cNvSpPr txBox="1"/>
          <p:nvPr/>
        </p:nvSpPr>
        <p:spPr>
          <a:xfrm>
            <a:off x="656844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خودکار کردن این اندازه‌گیری ارزش دارد</a:t>
            </a:r>
            <a:endParaRPr lang="en-US" sz="1200" dirty="0"/>
          </a:p>
        </p:txBody>
      </p:sp>
      <p:sp>
        <p:nvSpPr>
          <p:cNvPr id="8" name="Shape 6"/>
          <p:cNvSpPr/>
          <p:nvPr/>
        </p:nvSpPr>
        <p:spPr>
          <a:xfrm>
            <a:off x="11140440" y="2404872"/>
            <a:ext cx="502920" cy="502920"/>
          </a:xfrm>
          <a:prstGeom prst="ellipse">
            <a:avLst/>
          </a:prstGeom>
          <a:solidFill>
            <a:srgbClr val="DCD8D4"/>
          </a:solidFill>
          <a:ln/>
        </p:spPr>
      </p:sp>
      <p:sp>
        <p:nvSpPr>
          <p:cNvPr id="9" name="Text 7"/>
          <p:cNvSpPr txBox="1"/>
          <p:nvPr/>
        </p:nvSpPr>
        <p:spPr>
          <a:xfrm>
            <a:off x="1114044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۲</a:t>
            </a:r>
            <a:endParaRPr lang="en-US" sz="2000" dirty="0"/>
          </a:p>
        </p:txBody>
      </p:sp>
      <p:sp>
        <p:nvSpPr>
          <p:cNvPr id="10" name="Text 8"/>
          <p:cNvSpPr txBox="1"/>
          <p:nvPr/>
        </p:nvSpPr>
        <p:spPr>
          <a:xfrm>
            <a:off x="656844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هدف و کارهای پیشین</a:t>
            </a:r>
            <a:endParaRPr lang="en-US" sz="1600" dirty="0"/>
          </a:p>
        </p:txBody>
      </p:sp>
      <p:sp>
        <p:nvSpPr>
          <p:cNvPr id="11" name="Text 9"/>
          <p:cNvSpPr txBox="1"/>
          <p:nvPr/>
        </p:nvSpPr>
        <p:spPr>
          <a:xfrm>
            <a:off x="656844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پژوهش دنبال چیست</a:t>
            </a:r>
            <a:endParaRPr lang="en-US" sz="1200" dirty="0"/>
          </a:p>
        </p:txBody>
      </p:sp>
      <p:sp>
        <p:nvSpPr>
          <p:cNvPr id="12" name="Shape 10"/>
          <p:cNvSpPr/>
          <p:nvPr/>
        </p:nvSpPr>
        <p:spPr>
          <a:xfrm>
            <a:off x="11140440" y="3575304"/>
            <a:ext cx="502920" cy="502920"/>
          </a:xfrm>
          <a:prstGeom prst="ellipse">
            <a:avLst/>
          </a:prstGeom>
          <a:solidFill>
            <a:srgbClr val="DCD8D4"/>
          </a:solidFill>
          <a:ln/>
        </p:spPr>
      </p:sp>
      <p:sp>
        <p:nvSpPr>
          <p:cNvPr id="13" name="Text 11"/>
          <p:cNvSpPr txBox="1"/>
          <p:nvPr/>
        </p:nvSpPr>
        <p:spPr>
          <a:xfrm>
            <a:off x="1114044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۳</a:t>
            </a:r>
            <a:endParaRPr lang="en-US" sz="2000" dirty="0"/>
          </a:p>
        </p:txBody>
      </p:sp>
      <p:sp>
        <p:nvSpPr>
          <p:cNvPr id="14" name="Text 12"/>
          <p:cNvSpPr txBox="1"/>
          <p:nvPr/>
        </p:nvSpPr>
        <p:spPr>
          <a:xfrm>
            <a:off x="6568440" y="3529584"/>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روش پیشنهادی</a:t>
            </a:r>
            <a:endParaRPr lang="en-US" sz="1600" dirty="0"/>
          </a:p>
        </p:txBody>
      </p:sp>
      <p:sp>
        <p:nvSpPr>
          <p:cNvPr id="15" name="Text 13"/>
          <p:cNvSpPr txBox="1"/>
          <p:nvPr/>
        </p:nvSpPr>
        <p:spPr>
          <a:xfrm>
            <a:off x="6568440" y="3867912"/>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سامانه چگونه کار می‌کند</a:t>
            </a:r>
            <a:endParaRPr lang="en-US" sz="1200" dirty="0"/>
          </a:p>
        </p:txBody>
      </p:sp>
      <p:sp>
        <p:nvSpPr>
          <p:cNvPr id="16" name="Shape 14"/>
          <p:cNvSpPr/>
          <p:nvPr/>
        </p:nvSpPr>
        <p:spPr>
          <a:xfrm>
            <a:off x="11140440" y="4745736"/>
            <a:ext cx="502920" cy="502920"/>
          </a:xfrm>
          <a:prstGeom prst="ellipse">
            <a:avLst/>
          </a:prstGeom>
          <a:solidFill>
            <a:srgbClr val="DCD8D4"/>
          </a:solidFill>
          <a:ln/>
        </p:spPr>
      </p:sp>
      <p:sp>
        <p:nvSpPr>
          <p:cNvPr id="17" name="Text 15"/>
          <p:cNvSpPr txBox="1"/>
          <p:nvPr/>
        </p:nvSpPr>
        <p:spPr>
          <a:xfrm>
            <a:off x="11140440" y="4745736"/>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۴</a:t>
            </a:r>
            <a:endParaRPr lang="en-US" sz="2000" dirty="0"/>
          </a:p>
        </p:txBody>
      </p:sp>
      <p:sp>
        <p:nvSpPr>
          <p:cNvPr id="18" name="Text 16"/>
          <p:cNvSpPr txBox="1"/>
          <p:nvPr/>
        </p:nvSpPr>
        <p:spPr>
          <a:xfrm>
            <a:off x="6568440" y="4700016"/>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نتایج</a:t>
            </a:r>
            <a:endParaRPr lang="en-US" sz="1600" dirty="0"/>
          </a:p>
        </p:txBody>
      </p:sp>
      <p:sp>
        <p:nvSpPr>
          <p:cNvPr id="19" name="Text 17"/>
          <p:cNvSpPr txBox="1"/>
          <p:nvPr/>
        </p:nvSpPr>
        <p:spPr>
          <a:xfrm>
            <a:off x="6568440" y="5038344"/>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چقدر دقیق است</a:t>
            </a:r>
            <a:endParaRPr lang="en-US" sz="1200" dirty="0"/>
          </a:p>
        </p:txBody>
      </p:sp>
      <p:sp>
        <p:nvSpPr>
          <p:cNvPr id="20" name="Shape 18"/>
          <p:cNvSpPr/>
          <p:nvPr/>
        </p:nvSpPr>
        <p:spPr>
          <a:xfrm>
            <a:off x="5516880" y="1234440"/>
            <a:ext cx="502920" cy="502920"/>
          </a:xfrm>
          <a:prstGeom prst="ellipse">
            <a:avLst/>
          </a:prstGeom>
          <a:solidFill>
            <a:srgbClr val="DCD8D4"/>
          </a:solidFill>
          <a:ln/>
        </p:spPr>
      </p:sp>
      <p:sp>
        <p:nvSpPr>
          <p:cNvPr id="21" name="Text 19"/>
          <p:cNvSpPr txBox="1"/>
          <p:nvPr/>
        </p:nvSpPr>
        <p:spPr>
          <a:xfrm>
            <a:off x="5516880" y="1234440"/>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۵</a:t>
            </a:r>
            <a:endParaRPr lang="en-US" sz="2000" dirty="0"/>
          </a:p>
        </p:txBody>
      </p:sp>
      <p:sp>
        <p:nvSpPr>
          <p:cNvPr id="22" name="Text 20"/>
          <p:cNvSpPr txBox="1"/>
          <p:nvPr/>
        </p:nvSpPr>
        <p:spPr>
          <a:xfrm>
            <a:off x="944880" y="1188720"/>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تفسیر بالینی</a:t>
            </a:r>
            <a:endParaRPr lang="en-US" sz="1600" dirty="0"/>
          </a:p>
        </p:txBody>
      </p:sp>
      <p:sp>
        <p:nvSpPr>
          <p:cNvPr id="23" name="Text 21"/>
          <p:cNvSpPr txBox="1"/>
          <p:nvPr/>
        </p:nvSpPr>
        <p:spPr>
          <a:xfrm>
            <a:off x="944880" y="1527048"/>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این دقت یعنی چه</a:t>
            </a:r>
            <a:endParaRPr lang="en-US" sz="1200" dirty="0"/>
          </a:p>
        </p:txBody>
      </p:sp>
      <p:sp>
        <p:nvSpPr>
          <p:cNvPr id="24" name="Shape 22"/>
          <p:cNvSpPr/>
          <p:nvPr/>
        </p:nvSpPr>
        <p:spPr>
          <a:xfrm>
            <a:off x="5516880" y="2404872"/>
            <a:ext cx="502920" cy="502920"/>
          </a:xfrm>
          <a:prstGeom prst="ellipse">
            <a:avLst/>
          </a:prstGeom>
          <a:solidFill>
            <a:srgbClr val="DCD8D4"/>
          </a:solidFill>
          <a:ln/>
        </p:spPr>
      </p:sp>
      <p:sp>
        <p:nvSpPr>
          <p:cNvPr id="25" name="Text 23"/>
          <p:cNvSpPr txBox="1"/>
          <p:nvPr/>
        </p:nvSpPr>
        <p:spPr>
          <a:xfrm>
            <a:off x="5516880" y="2404872"/>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۶</a:t>
            </a:r>
            <a:endParaRPr lang="en-US" sz="2000" dirty="0"/>
          </a:p>
        </p:txBody>
      </p:sp>
      <p:sp>
        <p:nvSpPr>
          <p:cNvPr id="26" name="Text 24"/>
          <p:cNvSpPr txBox="1"/>
          <p:nvPr/>
        </p:nvSpPr>
        <p:spPr>
          <a:xfrm>
            <a:off x="944880" y="2359152"/>
            <a:ext cx="4389120" cy="365760"/>
          </a:xfrm>
          <a:prstGeom prst="rect">
            <a:avLst/>
          </a:prstGeom>
          <a:noFill/>
          <a:ln/>
        </p:spPr>
        <p:txBody>
          <a:bodyPr wrap="square" rtlCol="0" anchor="ctr"/>
          <a:lstStyle/>
          <a:p>
            <a:pPr indent="0" marL="0" rtl="1" algn="r">
              <a:buNone/>
            </a:pPr>
            <a:r>
              <a:rPr lang="en-US" sz="1600" b="1" dirty="0">
                <a:solidFill>
                  <a:srgbClr val="C3C0BC"/>
                </a:solidFill>
                <a:latin typeface="Cambria" pitchFamily="34" charset="0"/>
                <a:ea typeface="Cambria" pitchFamily="34" charset="-122"/>
                <a:cs typeface="B Titr" pitchFamily="34" charset="-120"/>
              </a:rPr>
              <a:t>یافته اصلی</a:t>
            </a:r>
            <a:endParaRPr lang="en-US" sz="1600" dirty="0"/>
          </a:p>
        </p:txBody>
      </p:sp>
      <p:sp>
        <p:nvSpPr>
          <p:cNvPr id="27" name="Text 25"/>
          <p:cNvSpPr txBox="1"/>
          <p:nvPr/>
        </p:nvSpPr>
        <p:spPr>
          <a:xfrm>
            <a:off x="944880" y="2697480"/>
            <a:ext cx="4389120" cy="457200"/>
          </a:xfrm>
          <a:prstGeom prst="rect">
            <a:avLst/>
          </a:prstGeom>
          <a:noFill/>
          <a:ln/>
        </p:spPr>
        <p:txBody>
          <a:bodyPr wrap="square" rtlCol="0" anchor="ctr"/>
          <a:lstStyle/>
          <a:p>
            <a:pPr indent="0" marL="0" rtl="1" algn="r">
              <a:buNone/>
            </a:pPr>
            <a:r>
              <a:rPr lang="en-US" sz="1200" dirty="0">
                <a:solidFill>
                  <a:srgbClr val="CFCCC8"/>
                </a:solidFill>
                <a:latin typeface="Calibri" pitchFamily="34" charset="0"/>
                <a:ea typeface="Calibri" pitchFamily="34" charset="-122"/>
                <a:cs typeface="B Nazanin" pitchFamily="34" charset="-120"/>
              </a:rPr>
              <a:t>چرا خطا همان‌جاست</a:t>
            </a:r>
            <a:endParaRPr lang="en-US" sz="1200" dirty="0"/>
          </a:p>
        </p:txBody>
      </p:sp>
      <p:sp>
        <p:nvSpPr>
          <p:cNvPr id="28" name="Shape 26"/>
          <p:cNvSpPr/>
          <p:nvPr/>
        </p:nvSpPr>
        <p:spPr>
          <a:xfrm>
            <a:off x="5516880" y="3575304"/>
            <a:ext cx="502920" cy="502920"/>
          </a:xfrm>
          <a:prstGeom prst="ellipse">
            <a:avLst/>
          </a:prstGeom>
          <a:solidFill>
            <a:srgbClr val="8C1515"/>
          </a:solidFill>
          <a:ln/>
        </p:spPr>
      </p:sp>
      <p:sp>
        <p:nvSpPr>
          <p:cNvPr id="29" name="Text 27"/>
          <p:cNvSpPr txBox="1"/>
          <p:nvPr/>
        </p:nvSpPr>
        <p:spPr>
          <a:xfrm>
            <a:off x="5516880" y="3575304"/>
            <a:ext cx="502920" cy="502920"/>
          </a:xfrm>
          <a:prstGeom prst="rect">
            <a:avLst/>
          </a:prstGeom>
          <a:noFill/>
          <a:ln/>
        </p:spPr>
        <p:txBody>
          <a:bodyPr wrap="square" rtlCol="0" anchor="ctr"/>
          <a:lstStyle/>
          <a:p>
            <a:pPr algn="ctr" indent="0" marL="0" rtl="1">
              <a:buNone/>
            </a:pPr>
            <a:r>
              <a:rPr lang="en-US" sz="2000" b="1" dirty="0">
                <a:solidFill>
                  <a:srgbClr val="FFFFFF"/>
                </a:solidFill>
                <a:latin typeface="Cambria" pitchFamily="34" charset="0"/>
                <a:ea typeface="Cambria" pitchFamily="34" charset="-122"/>
                <a:cs typeface="B Titr" pitchFamily="34" charset="-120"/>
              </a:rPr>
              <a:t>۷</a:t>
            </a:r>
            <a:endParaRPr lang="en-US" sz="2000" dirty="0"/>
          </a:p>
        </p:txBody>
      </p:sp>
      <p:sp>
        <p:nvSpPr>
          <p:cNvPr id="30" name="Text 28"/>
          <p:cNvSpPr txBox="1"/>
          <p:nvPr/>
        </p:nvSpPr>
        <p:spPr>
          <a:xfrm>
            <a:off x="944880" y="3529584"/>
            <a:ext cx="4389120" cy="365760"/>
          </a:xfrm>
          <a:prstGeom prst="rect">
            <a:avLst/>
          </a:prstGeom>
          <a:noFill/>
          <a:ln/>
        </p:spPr>
        <p:txBody>
          <a:bodyPr wrap="square" rtlCol="0" anchor="ctr"/>
          <a:lstStyle/>
          <a:p>
            <a:pPr indent="0" marL="0" rtl="1" algn="r">
              <a:buNone/>
            </a:pPr>
            <a:r>
              <a:rPr lang="en-US" sz="1600" b="1" dirty="0">
                <a:solidFill>
                  <a:srgbClr val="2E2D29"/>
                </a:solidFill>
                <a:latin typeface="Cambria" pitchFamily="34" charset="0"/>
                <a:ea typeface="Cambria" pitchFamily="34" charset="-122"/>
                <a:cs typeface="B Titr" pitchFamily="34" charset="-120"/>
              </a:rPr>
              <a:t>محدودیت‌ها و جمع‌بندی</a:t>
            </a:r>
            <a:endParaRPr lang="en-US" sz="1600" dirty="0"/>
          </a:p>
        </p:txBody>
      </p:sp>
      <p:sp>
        <p:nvSpPr>
          <p:cNvPr id="31" name="Text 29"/>
          <p:cNvSpPr txBox="1"/>
          <p:nvPr/>
        </p:nvSpPr>
        <p:spPr>
          <a:xfrm>
            <a:off x="944880" y="3867912"/>
            <a:ext cx="4389120" cy="457200"/>
          </a:xfrm>
          <a:prstGeom prst="rect">
            <a:avLst/>
          </a:prstGeom>
          <a:noFill/>
          <a:ln/>
        </p:spPr>
        <p:txBody>
          <a:bodyPr wrap="square" rtlCol="0" anchor="ctr"/>
          <a:lstStyle/>
          <a:p>
            <a:pPr indent="0" marL="0" rtl="1" algn="r">
              <a:buNone/>
            </a:pPr>
            <a:r>
              <a:rPr lang="en-US" sz="1200" dirty="0">
                <a:solidFill>
                  <a:srgbClr val="716E69"/>
                </a:solidFill>
                <a:latin typeface="Calibri" pitchFamily="34" charset="0"/>
                <a:ea typeface="Calibri" pitchFamily="34" charset="-122"/>
                <a:cs typeface="B Nazanin" pitchFamily="34" charset="-120"/>
              </a:rPr>
              <a:t>دستاوردها و قدم بعد</a:t>
            </a:r>
            <a:endParaRPr lang="en-US" sz="1200" dirty="0"/>
          </a:p>
        </p:txBody>
      </p:sp>
      <p:sp>
        <p:nvSpPr>
          <p:cNvPr id="32" name="Text 30"/>
          <p:cNvSpPr txBox="1"/>
          <p:nvPr/>
        </p:nvSpPr>
        <p:spPr>
          <a:xfrm>
            <a:off x="4328160" y="6473952"/>
            <a:ext cx="7315200" cy="274320"/>
          </a:xfrm>
          <a:prstGeom prst="rect">
            <a:avLst/>
          </a:prstGeom>
          <a:noFill/>
          <a:ln/>
        </p:spPr>
        <p:txBody>
          <a:bodyPr wrap="square" rtlCol="0" anchor="ctr"/>
          <a:lstStyle/>
          <a:p>
            <a:pPr indent="0" marL="0" rtl="1" algn="r">
              <a:buNone/>
            </a:pPr>
            <a:r>
              <a:rPr lang="en-US" sz="900" spc="200" kern="0" dirty="0">
                <a:solidFill>
                  <a:srgbClr val="716E69"/>
                </a:solidFill>
                <a:latin typeface="Calibri" pitchFamily="34" charset="0"/>
                <a:ea typeface="Calibri" pitchFamily="34" charset="-122"/>
                <a:cs typeface="B Nazanin" pitchFamily="34" charset="-120"/>
              </a:rPr>
              <a:t>محدودیت‌ها و جمع‌بندی</a:t>
            </a:r>
            <a:endParaRPr lang="en-US" sz="900" dirty="0"/>
          </a:p>
        </p:txBody>
      </p:sp>
      <p:sp>
        <p:nvSpPr>
          <p:cNvPr id="33" name="Text 31"/>
          <p:cNvSpPr txBox="1"/>
          <p:nvPr/>
        </p:nvSpPr>
        <p:spPr>
          <a:xfrm>
            <a:off x="185928" y="6473952"/>
            <a:ext cx="457200" cy="274320"/>
          </a:xfrm>
          <a:prstGeom prst="rect">
            <a:avLst/>
          </a:prstGeom>
          <a:noFill/>
          <a:ln/>
        </p:spPr>
        <p:txBody>
          <a:bodyPr wrap="square" rtlCol="0" anchor="ctr"/>
          <a:lstStyle/>
          <a:p>
            <a:pPr algn="r" indent="0" marL="0" rtl="1">
              <a:buNone/>
            </a:pPr>
            <a:r>
              <a:rPr lang="en-US" sz="900" dirty="0">
                <a:solidFill>
                  <a:srgbClr val="716E69"/>
                </a:solidFill>
                <a:latin typeface="Calibri" pitchFamily="34" charset="0"/>
                <a:ea typeface="Calibri" pitchFamily="34" charset="-122"/>
                <a:cs typeface="B Nazanin" pitchFamily="34" charset="-120"/>
              </a:rPr>
              <a:t>۱۹ / ۲۴</a:t>
            </a:r>
            <a:endParaRPr lang="en-US" sz="900" dirty="0"/>
          </a:p>
        </p:txBody>
      </p:sp>
      <p:sp>
        <p:nvSpPr>
          <p:cNvPr id="9001" name="progress track"/>
          <p:cNvSpPr/>
          <p:nvPr/>
        </p:nvSpPr>
        <p:spPr>
          <a:xfrm>
            <a:off x="0" y="6803000"/>
            <a:ext cx="12192000" cy="55000"/>
          </a:xfrm>
          <a:prstGeom prst="rect">
            <a:avLst/>
          </a:prstGeom>
          <a:solidFill>
            <a:srgbClr val="EDE9E5"/>
          </a:solidFill>
          <a:ln>
            <a:noFill/>
          </a:ln>
        </p:spPr>
        <p:txBody>
          <a:bodyPr/>
          <a:lstStyle/>
          <a:p/>
        </p:txBody>
      </p:sp>
      <p:sp>
        <p:nvSpPr>
          <p:cNvPr id="9002" name="progress fill"/>
          <p:cNvSpPr/>
          <p:nvPr/>
        </p:nvSpPr>
        <p:spPr>
          <a:xfrm>
            <a:off x="2540000" y="6803000"/>
            <a:ext cx="9652000" cy="55000"/>
          </a:xfrm>
          <a:prstGeom prst="rect">
            <a:avLst/>
          </a:prstGeom>
          <a:solidFill>
            <a:srgbClr val="8C1515"/>
          </a:solidFill>
          <a:ln>
            <a:noFill/>
          </a:ln>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B Titr"/>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B Nazanin"/>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2026-09-06T06:46:28Z</dcterms:created>
  <dcterms:modified xsi:type="dcterms:W3CDTF">2026-09-06T06:46:28Z</dcterms:modified>
</cp:coreProperties>
</file>